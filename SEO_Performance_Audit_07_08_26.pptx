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New users</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Sheet1!$A$2:$A$29</c:f>
              <c:multiLvlStrCache>
                <c:ptCount val="28"/>
                <c:lvl>
                  <c:pt idx="0">
                    <c:v>D0</c:v>
                  </c:pt>
                  <c:pt idx="1">
                    <c:v>D1</c:v>
                  </c:pt>
                  <c:pt idx="2">
                    <c:v>D2</c:v>
                  </c:pt>
                  <c:pt idx="3">
                    <c:v>D3</c:v>
                  </c:pt>
                  <c:pt idx="4">
                    <c:v>D4</c:v>
                  </c:pt>
                  <c:pt idx="5">
                    <c:v>D5</c:v>
                  </c:pt>
                  <c:pt idx="6">
                    <c:v>D6</c:v>
                  </c:pt>
                  <c:pt idx="7">
                    <c:v>D7</c:v>
                  </c:pt>
                  <c:pt idx="8">
                    <c:v>D8</c:v>
                  </c:pt>
                  <c:pt idx="9">
                    <c:v>D9</c:v>
                  </c:pt>
                  <c:pt idx="10">
                    <c:v>D10</c:v>
                  </c:pt>
                  <c:pt idx="11">
                    <c:v>D11</c:v>
                  </c:pt>
                  <c:pt idx="12">
                    <c:v>D12</c:v>
                  </c:pt>
                  <c:pt idx="13">
                    <c:v>D13</c:v>
                  </c:pt>
                  <c:pt idx="14">
                    <c:v>D14</c:v>
                  </c:pt>
                  <c:pt idx="15">
                    <c:v>D15</c:v>
                  </c:pt>
                  <c:pt idx="16">
                    <c:v>D16</c:v>
                  </c:pt>
                  <c:pt idx="17">
                    <c:v>D17</c:v>
                  </c:pt>
                  <c:pt idx="18">
                    <c:v>D18</c:v>
                  </c:pt>
                  <c:pt idx="19">
                    <c:v>D19</c:v>
                  </c:pt>
                  <c:pt idx="20">
                    <c:v>D20</c:v>
                  </c:pt>
                  <c:pt idx="21">
                    <c:v>D21</c:v>
                  </c:pt>
                  <c:pt idx="22">
                    <c:v>D22</c:v>
                  </c:pt>
                  <c:pt idx="23">
                    <c:v>D23</c:v>
                  </c:pt>
                  <c:pt idx="24">
                    <c:v>D24</c:v>
                  </c:pt>
                  <c:pt idx="25">
                    <c:v>D25</c:v>
                  </c:pt>
                  <c:pt idx="26">
                    <c:v>D26</c:v>
                  </c:pt>
                  <c:pt idx="27">
                    <c:v>D27</c:v>
                  </c:pt>
                </c:lvl>
              </c:multiLvlStrCache>
            </c:multiLvlStrRef>
          </c:cat>
          <c:val>
            <c:numRef>
              <c:f>Sheet1!$B$2:$B$29</c:f>
              <c:numCache>
                <c:formatCode>General</c:formatCode>
                <c:ptCount val="2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13</c:v>
                </c:pt>
                <c:pt idx="26">
                  <c:v>25</c:v>
                </c:pt>
                <c:pt idx="27">
                  <c:v>163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1D5DB"/>
            </a:solidFill>
            <a:prstDash val="solid"/>
            <a:round/>
          </a:ln>
        </c:spPr>
        <c:txPr>
          <a:bodyPr/>
          <a:lstStyle/>
          <a:p>
            <a:pPr>
              <a:defRPr sz="6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D1D5DB"/>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Sessions by channel</a:t>
            </a:r>
          </a:p>
        </c:rich>
      </c:tx>
      <c:layout/>
      <c:overlay val="0"/>
    </c:title>
    <c:autoTitleDeleted val="0"/>
    <c:plotArea>
      <c:layout/>
      <c:barChart>
        <c:barDir val="col"/>
        <c:grouping val="clustered"/>
        <c:varyColors val="0"/>
        <c:ser>
          <c:idx val="0"/>
          <c:order val="0"/>
          <c:tx>
            <c:strRef>
              <c:f>Sheet1!$B$1</c:f>
              <c:strCache>
                <c:ptCount val="1"/>
                <c:pt idx="0">
                  <c:v>Sessions</c:v>
                </c:pt>
              </c:strCache>
            </c:strRef>
          </c:tx>
          <c:spPr>
            <a:solidFill>
              <a:srgbClr val="1E2761"/>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Sheet1!$A$2:$A$6</c:f>
              <c:multiLvlStrCache>
                <c:ptCount val="5"/>
                <c:lvl>
                  <c:pt idx="0">
                    <c:v>Direct</c:v>
                  </c:pt>
                  <c:pt idx="1">
                    <c:v>Organic Search</c:v>
                  </c:pt>
                  <c:pt idx="2">
                    <c:v>AI Assistant</c:v>
                  </c:pt>
                  <c:pt idx="3">
                    <c:v>Organic Social</c:v>
                  </c:pt>
                  <c:pt idx="4">
                    <c:v>Unassigned</c:v>
                  </c:pt>
                </c:lvl>
              </c:multiLvlStrCache>
            </c:multiLvlStrRef>
          </c:cat>
          <c:val>
            <c:numRef>
              <c:f>Sheet1!$B$2:$B$6</c:f>
              <c:numCache>
                <c:formatCode>General</c:formatCode>
                <c:ptCount val="5"/>
                <c:pt idx="0">
                  <c:v>196</c:v>
                </c:pt>
                <c:pt idx="1">
                  <c:v>19</c:v>
                </c:pt>
                <c:pt idx="2">
                  <c:v>6</c:v>
                </c:pt>
                <c:pt idx="3">
                  <c:v>4</c:v>
                </c:pt>
                <c:pt idx="4">
                  <c:v>1</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Active users</c:v>
                </c:pt>
              </c:strCache>
            </c:strRef>
          </c:tx>
          <c:spPr>
            <a:solidFill>
              <a:srgbClr val="1E2761"/>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Sheet1!$A$2:$A$7</c:f>
              <c:multiLvlStrCache>
                <c:ptCount val="6"/>
                <c:lvl>
                  <c:pt idx="0">
                    <c:v>Singapore</c:v>
                  </c:pt>
                  <c:pt idx="1">
                    <c:v>Pune</c:v>
                  </c:pt>
                  <c:pt idx="2">
                    <c:v>Nagpur</c:v>
                  </c:pt>
                  <c:pt idx="3">
                    <c:v>Chennai</c:v>
                  </c:pt>
                  <c:pt idx="4">
                    <c:v>Prineville</c:v>
                  </c:pt>
                  <c:pt idx="5">
                    <c:v>Delhi/other (1 each, 22 cities)</c:v>
                  </c:pt>
                </c:lvl>
              </c:multiLvlStrCache>
            </c:multiLvlStrRef>
          </c:cat>
          <c:val>
            <c:numRef>
              <c:f>Sheet1!$B$2:$B$7</c:f>
              <c:numCache>
                <c:formatCode>General</c:formatCode>
                <c:ptCount val="6"/>
                <c:pt idx="0">
                  <c:v>150</c:v>
                </c:pt>
                <c:pt idx="1">
                  <c:v>9</c:v>
                </c:pt>
                <c:pt idx="2">
                  <c:v>3</c:v>
                </c:pt>
                <c:pt idx="3">
                  <c:v>2</c:v>
                </c:pt>
                <c:pt idx="4">
                  <c:v>2</c:v>
                </c:pt>
                <c:pt idx="5">
                  <c:v>22</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Impressions</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1E2761"/>
              </a:solidFill>
              <a:ln w="9525" cap="flat">
                <a:solidFill>
                  <a:srgbClr val="1E2761"/>
                </a:solidFill>
                <a:prstDash val="solid"/>
                <a:round/>
              </a:ln>
              <a:effectLst/>
            </c:spPr>
          </c:marker>
          <c:cat>
            <c:multiLvlStrRef>
              <c:f>Sheet1!$A$2:$A$26</c:f>
              <c:multiLvlStrCache>
                <c:ptCount val="25"/>
                <c:lvl>
                  <c:pt idx="0">
                    <c:v>7/9</c:v>
                  </c:pt>
                  <c:pt idx="1">
                    <c:v>7/10</c:v>
                  </c:pt>
                  <c:pt idx="2">
                    <c:v>7/13</c:v>
                  </c:pt>
                  <c:pt idx="3">
                    <c:v>7/14</c:v>
                  </c:pt>
                  <c:pt idx="4">
                    <c:v>7/15</c:v>
                  </c:pt>
                  <c:pt idx="5">
                    <c:v>7/16</c:v>
                  </c:pt>
                  <c:pt idx="6">
                    <c:v>7/17</c:v>
                  </c:pt>
                  <c:pt idx="7">
                    <c:v>7/18</c:v>
                  </c:pt>
                  <c:pt idx="8">
                    <c:v>7/19</c:v>
                  </c:pt>
                  <c:pt idx="9">
                    <c:v>7/20</c:v>
                  </c:pt>
                  <c:pt idx="10">
                    <c:v>7/21</c:v>
                  </c:pt>
                  <c:pt idx="11">
                    <c:v>7/23</c:v>
                  </c:pt>
                  <c:pt idx="12">
                    <c:v>7/24</c:v>
                  </c:pt>
                  <c:pt idx="13">
                    <c:v>7/25</c:v>
                  </c:pt>
                  <c:pt idx="14">
                    <c:v>7/26</c:v>
                  </c:pt>
                  <c:pt idx="15">
                    <c:v>7/27</c:v>
                  </c:pt>
                  <c:pt idx="16">
                    <c:v>7/28</c:v>
                  </c:pt>
                  <c:pt idx="17">
                    <c:v>7/29</c:v>
                  </c:pt>
                  <c:pt idx="18">
                    <c:v>7/30</c:v>
                  </c:pt>
                  <c:pt idx="19">
                    <c:v>7/31</c:v>
                  </c:pt>
                  <c:pt idx="20">
                    <c:v>8/1</c:v>
                  </c:pt>
                  <c:pt idx="21">
                    <c:v>8/2</c:v>
                  </c:pt>
                  <c:pt idx="22">
                    <c:v>8/3</c:v>
                  </c:pt>
                  <c:pt idx="23">
                    <c:v>8/4</c:v>
                  </c:pt>
                  <c:pt idx="24">
                    <c:v>8/5</c:v>
                  </c:pt>
                </c:lvl>
              </c:multiLvlStrCache>
            </c:multiLvlStrRef>
          </c:cat>
          <c:val>
            <c:numRef>
              <c:f>Sheet1!$B$2:$B$26</c:f>
              <c:numCache>
                <c:formatCode>General</c:formatCode>
                <c:ptCount val="25"/>
                <c:pt idx="0">
                  <c:v>1</c:v>
                </c:pt>
                <c:pt idx="1">
                  <c:v>1</c:v>
                </c:pt>
                <c:pt idx="2">
                  <c:v>2</c:v>
                </c:pt>
                <c:pt idx="3">
                  <c:v>3</c:v>
                </c:pt>
                <c:pt idx="4">
                  <c:v>1</c:v>
                </c:pt>
                <c:pt idx="5">
                  <c:v>3</c:v>
                </c:pt>
                <c:pt idx="6">
                  <c:v>1</c:v>
                </c:pt>
                <c:pt idx="7">
                  <c:v>1</c:v>
                </c:pt>
                <c:pt idx="8">
                  <c:v>2</c:v>
                </c:pt>
                <c:pt idx="9">
                  <c:v>1</c:v>
                </c:pt>
                <c:pt idx="10">
                  <c:v>3</c:v>
                </c:pt>
                <c:pt idx="11">
                  <c:v>1</c:v>
                </c:pt>
                <c:pt idx="12">
                  <c:v>2</c:v>
                </c:pt>
                <c:pt idx="13">
                  <c:v>4</c:v>
                </c:pt>
                <c:pt idx="14">
                  <c:v>1</c:v>
                </c:pt>
                <c:pt idx="15">
                  <c:v>2</c:v>
                </c:pt>
                <c:pt idx="16">
                  <c:v>3</c:v>
                </c:pt>
                <c:pt idx="17">
                  <c:v>1</c:v>
                </c:pt>
                <c:pt idx="18">
                  <c:v>1</c:v>
                </c:pt>
                <c:pt idx="19">
                  <c:v>1</c:v>
                </c:pt>
                <c:pt idx="20">
                  <c:v>1</c:v>
                </c:pt>
                <c:pt idx="21">
                  <c:v>1</c:v>
                </c:pt>
                <c:pt idx="22">
                  <c:v>1</c:v>
                </c:pt>
                <c:pt idx="23">
                  <c:v>1</c:v>
                </c:pt>
                <c:pt idx="24">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1D5DB"/>
            </a:solidFill>
            <a:prstDash val="solid"/>
            <a:round/>
          </a:ln>
        </c:spPr>
        <c:txPr>
          <a:bodyPr/>
          <a:lstStyle/>
          <a:p>
            <a:pPr>
              <a:defRPr sz="8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D1D5DB"/>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By device</a:t>
            </a:r>
          </a:p>
        </c:rich>
      </c:tx>
      <c:layout/>
      <c:overlay val="0"/>
    </c:title>
    <c:autoTitleDeleted val="0"/>
    <c:plotArea>
      <c:layout/>
      <c:barChart>
        <c:barDir val="col"/>
        <c:grouping val="clustered"/>
        <c:varyColors val="0"/>
        <c:ser>
          <c:idx val="0"/>
          <c:order val="0"/>
          <c:tx>
            <c:strRef>
              <c:f>Sheet1!$B$1</c:f>
              <c:strCache>
                <c:ptCount val="1"/>
                <c:pt idx="0">
                  <c:v>Impressions</c:v>
                </c:pt>
              </c:strCache>
            </c:strRef>
          </c:tx>
          <c:spPr>
            <a:solidFill>
              <a:srgbClr val="1E2761"/>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Sheet1!$A$2:$A$3</c:f>
              <c:multiLvlStrCache>
                <c:ptCount val="2"/>
                <c:lvl>
                  <c:pt idx="0">
                    <c:v>Desktop</c:v>
                  </c:pt>
                  <c:pt idx="1">
                    <c:v>Mobile</c:v>
                  </c:pt>
                </c:lvl>
              </c:multiLvlStrCache>
            </c:multiLvlStrRef>
          </c:cat>
          <c:val>
            <c:numRef>
              <c:f>Sheet1!$B$2:$B$3</c:f>
              <c:numCache>
                <c:formatCode>General</c:formatCode>
                <c:ptCount val="2"/>
                <c:pt idx="0">
                  <c:v>35</c:v>
                </c:pt>
                <c:pt idx="1">
                  <c:v>7</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By country</a:t>
            </a:r>
          </a:p>
        </c:rich>
      </c:tx>
      <c:layout/>
      <c:overlay val="0"/>
    </c:title>
    <c:autoTitleDeleted val="0"/>
    <c:plotArea>
      <c:layout/>
      <c:barChart>
        <c:barDir val="bar"/>
        <c:grouping val="clustered"/>
        <c:varyColors val="0"/>
        <c:ser>
          <c:idx val="0"/>
          <c:order val="0"/>
          <c:tx>
            <c:strRef>
              <c:f>Sheet1!$B$1</c:f>
              <c:strCache>
                <c:ptCount val="1"/>
                <c:pt idx="0">
                  <c:v>Impressions</c:v>
                </c:pt>
              </c:strCache>
            </c:strRef>
          </c:tx>
          <c:spPr>
            <a:solidFill>
              <a:srgbClr val="1E2761"/>
            </a:solidFill>
            <a:effectLst/>
          </c:spPr>
          <c:invertIfNegative val="0"/>
          <c:dLbls>
            <c:numFmt formatCode="#,##0" sourceLinked="0"/>
            <c:txPr>
              <a:bodyPr/>
              <a:lstStyle/>
              <a:p>
                <a:pPr>
                  <a:defRPr b="0" i="0" strike="noStrike" sz="950" u="none">
                    <a:solidFill>
                      <a:srgbClr val="1E2761"/>
                    </a:solidFill>
                    <a:latin typeface="Arial"/>
                  </a:defRPr>
                </a:pPr>
              </a:p>
            </c:txPr>
            <c:showLegendKey val="0"/>
            <c:showVal val="1"/>
            <c:showCatName val="0"/>
            <c:showSerName val="0"/>
            <c:showPercent val="0"/>
            <c:showBubbleSize val="0"/>
            <c:showLeaderLines val="0"/>
          </c:dLbls>
          <c:cat>
            <c:multiLvlStrRef>
              <c:f>Sheet1!$A$2:$A$8</c:f>
              <c:multiLvlStrCache>
                <c:ptCount val="7"/>
                <c:lvl>
                  <c:pt idx="0">
                    <c:v>India</c:v>
                  </c:pt>
                  <c:pt idx="1">
                    <c:v>United States</c:v>
                  </c:pt>
                  <c:pt idx="2">
                    <c:v>Pakistan</c:v>
                  </c:pt>
                  <c:pt idx="3">
                    <c:v>Hong Kong</c:v>
                  </c:pt>
                  <c:pt idx="4">
                    <c:v>Philippines</c:v>
                  </c:pt>
                  <c:pt idx="5">
                    <c:v>Indonesia</c:v>
                  </c:pt>
                  <c:pt idx="6">
                    <c:v>Vietnam</c:v>
                  </c:pt>
                </c:lvl>
              </c:multiLvlStrCache>
            </c:multiLvlStrRef>
          </c:cat>
          <c:val>
            <c:numRef>
              <c:f>Sheet1!$B$2:$B$8</c:f>
              <c:numCache>
                <c:formatCode>General</c:formatCode>
                <c:ptCount val="7"/>
                <c:pt idx="0">
                  <c:v>30</c:v>
                </c:pt>
                <c:pt idx="1">
                  <c:v>3</c:v>
                </c:pt>
                <c:pt idx="2">
                  <c:v>2</c:v>
                </c:pt>
                <c:pt idx="3">
                  <c:v>1</c:v>
                </c:pt>
                <c:pt idx="4">
                  <c:v>1</c:v>
                </c:pt>
                <c:pt idx="5">
                  <c:v>1</c:v>
                </c:pt>
                <c:pt idx="6">
                  <c:v>1</c:v>
                </c:pt>
              </c:numCache>
            </c:numRef>
          </c:val>
        </c:ser>
        <c:dLbls>
          <c:numFmt formatCode="#,##0" sourceLinked="0"/>
          <c:txPr>
            <a:bodyPr/>
            <a:lstStyle/>
            <a:p>
              <a:pPr>
                <a:defRPr b="0" i="0" strike="noStrike" sz="95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Pages</c:v>
                </c:pt>
              </c:strCache>
            </c:strRef>
          </c:tx>
          <c:spPr>
            <a:solidFill>
              <a:schemeClr val="accent1"/>
            </a:solidFill>
            <a:ln w="9525" cap="flat">
              <a:solidFill>
                <a:srgbClr val="F9F9F9"/>
              </a:solidFill>
              <a:prstDash val="solid"/>
              <a:round/>
            </a:ln>
            <a:effectLst/>
          </c:spPr>
          <c:dPt>
            <c:idx val="0"/>
            <c:bubble3D val="0"/>
            <c:spPr>
              <a:solidFill>
                <a:srgbClr val="02C39A"/>
              </a:solidFill>
              <a:effectLst/>
            </c:spPr>
          </c:dPt>
          <c:dPt>
            <c:idx val="1"/>
            <c:bubble3D val="0"/>
            <c:spPr>
              <a:solidFill>
                <a:srgbClr val="E4572E"/>
              </a:solidFill>
              <a:effectLst/>
            </c:spPr>
          </c:dPt>
          <c:dLbls>
            <c:dLbl>
              <c:idx val="0"/>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Indexed (672)</c:v>
                </c:pt>
                <c:pt idx="1">
                  <c:v>Not indexed (1,802)</c:v>
                </c:pt>
              </c:strCache>
            </c:strRef>
          </c:cat>
          <c:val>
            <c:numRef>
              <c:f>Sheet1!$B$2:$B$3</c:f>
              <c:numCache>
                <c:ptCount val="2"/>
                <c:pt idx="0">
                  <c:v>672</c:v>
                </c:pt>
                <c:pt idx="1">
                  <c:v>1802</c:v>
                </c:pt>
              </c:numCache>
            </c:numRef>
          </c:val>
        </c:ser>
        <c:firstSliceAng val="0"/>
        <c:holeSize val="55"/>
      </c:doughnutChart>
      <c:spPr>
        <a:noFill/>
        <a:ln>
          <a:noFill/>
        </a:ln>
        <a:effectLst/>
      </c:spPr>
    </c:plotArea>
    <c:legend>
      <c:legendPos val="b"/>
      <c:overlay val="0"/>
      <c:txPr>
        <a:bodyPr/>
        <a:lstStyle/>
        <a:p>
          <a:pPr>
            <a:defRPr sz="1100">
              <a:solidFill>
                <a:srgbClr val="1F2430"/>
              </a:solidFil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Not indexed (avg/day)</c:v>
                </c:pt>
              </c:strCache>
            </c:strRef>
          </c:tx>
          <c:spPr>
            <a:solidFill>
              <a:srgbClr val="E4572E"/>
            </a:solidFill>
            <a:effectLst/>
          </c:spPr>
          <c:invertIfNegative val="0"/>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May 2026</c:v>
                  </c:pt>
                  <c:pt idx="1">
                    <c:v>June 2026</c:v>
                  </c:pt>
                  <c:pt idx="2">
                    <c:v>July 2026</c:v>
                  </c:pt>
                </c:lvl>
              </c:multiLvlStrCache>
            </c:multiLvlStrRef>
          </c:cat>
          <c:val>
            <c:numRef>
              <c:f>Sheet1!$B$2:$B$4</c:f>
              <c:numCache>
                <c:formatCode>General</c:formatCode>
                <c:ptCount val="3"/>
                <c:pt idx="0">
                  <c:v>115.6</c:v>
                </c:pt>
                <c:pt idx="1">
                  <c:v>1135.4</c:v>
                </c:pt>
                <c:pt idx="2">
                  <c:v>1734.9</c:v>
                </c:pt>
              </c:numCache>
            </c:numRef>
          </c:val>
        </c:ser>
        <c:ser>
          <c:idx val="1"/>
          <c:order val="1"/>
          <c:tx>
            <c:strRef>
              <c:f>Sheet1!$C$1</c:f>
              <c:strCache>
                <c:ptCount val="1"/>
                <c:pt idx="0">
                  <c:v>Indexed (avg/day)</c:v>
                </c:pt>
              </c:strCache>
            </c:strRef>
          </c:tx>
          <c:spPr>
            <a:solidFill>
              <a:srgbClr val="02C39A"/>
            </a:solidFill>
            <a:effectLst/>
          </c:spPr>
          <c:invertIfNegative val="0"/>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May 2026</c:v>
                  </c:pt>
                  <c:pt idx="1">
                    <c:v>June 2026</c:v>
                  </c:pt>
                  <c:pt idx="2">
                    <c:v>July 2026</c:v>
                  </c:pt>
                </c:lvl>
              </c:multiLvlStrCache>
            </c:multiLvlStrRef>
          </c:cat>
          <c:val>
            <c:numRef>
              <c:f>Sheet1!$C$2:$C$4</c:f>
              <c:numCache>
                <c:formatCode>General</c:formatCode>
                <c:ptCount val="3"/>
                <c:pt idx="0">
                  <c:v>203.5</c:v>
                </c:pt>
                <c:pt idx="1">
                  <c:v>655.3</c:v>
                </c:pt>
                <c:pt idx="2">
                  <c:v>665.8</c:v>
                </c:pt>
              </c:numCache>
            </c:numRef>
          </c:val>
        </c:ser>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430"/>
              </a:solidFil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Affected pages</c:v>
                </c:pt>
              </c:strCache>
            </c:strRef>
          </c:tx>
          <c:spPr>
            <a:solidFill>
              <a:srgbClr val="1E2761"/>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Sheet1!$A$2:$A$9</c:f>
              <c:multiLvlStrCache>
                <c:ptCount val="8"/>
                <c:lvl>
                  <c:pt idx="0">
                    <c:v>Discovered –
not indexed</c:v>
                  </c:pt>
                  <c:pt idx="1">
                    <c:v>Not found
(404)</c:v>
                  </c:pt>
                  <c:pt idx="2">
                    <c:v>Crawled –
not indexed</c:v>
                  </c:pt>
                  <c:pt idx="3">
                    <c:v>Soft 404</c:v>
                  </c:pt>
                  <c:pt idx="4">
                    <c:v>Excluded by
noindex</c:v>
                  </c:pt>
                  <c:pt idx="5">
                    <c:v>Duplicate
canonical</c:v>
                  </c:pt>
                  <c:pt idx="6">
                    <c:v>Alt. page
canonical</c:v>
                  </c:pt>
                  <c:pt idx="7">
                    <c:v>Redirect
error</c:v>
                  </c:pt>
                </c:lvl>
              </c:multiLvlStrCache>
            </c:multiLvlStrRef>
          </c:cat>
          <c:val>
            <c:numRef>
              <c:f>Sheet1!$B$2:$B$9</c:f>
              <c:numCache>
                <c:formatCode>General</c:formatCode>
                <c:ptCount val="8"/>
                <c:pt idx="0">
                  <c:v>932</c:v>
                </c:pt>
                <c:pt idx="1">
                  <c:v>607</c:v>
                </c:pt>
                <c:pt idx="2">
                  <c:v>116</c:v>
                </c:pt>
                <c:pt idx="3">
                  <c:v>82</c:v>
                </c:pt>
                <c:pt idx="4">
                  <c:v>60</c:v>
                </c:pt>
                <c:pt idx="5">
                  <c:v>2</c:v>
                </c:pt>
                <c:pt idx="6">
                  <c:v>2</c:v>
                </c:pt>
                <c:pt idx="7">
                  <c:v>1</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961120" y="-2011680"/>
            <a:ext cx="5486400" cy="5486400"/>
          </a:xfrm>
          <a:prstGeom prst="ellipse">
            <a:avLst/>
          </a:prstGeom>
          <a:solidFill>
            <a:srgbClr val="141B49"/>
          </a:solidFill>
          <a:ln/>
        </p:spPr>
      </p:sp>
      <p:sp>
        <p:nvSpPr>
          <p:cNvPr id="4" name="Shape 2"/>
          <p:cNvSpPr/>
          <p:nvPr/>
        </p:nvSpPr>
        <p:spPr>
          <a:xfrm>
            <a:off x="10241280" y="4206240"/>
            <a:ext cx="3657600" cy="3657600"/>
          </a:xfrm>
          <a:prstGeom prst="ellipse">
            <a:avLst/>
          </a:prstGeom>
          <a:solidFill>
            <a:srgbClr val="141B49"/>
          </a:solidFill>
          <a:ln/>
        </p:spPr>
      </p:sp>
      <p:sp>
        <p:nvSpPr>
          <p:cNvPr id="5" name="Text 3"/>
          <p:cNvSpPr/>
          <p:nvPr/>
        </p:nvSpPr>
        <p:spPr>
          <a:xfrm>
            <a:off x="731520" y="2331720"/>
            <a:ext cx="7315200" cy="457200"/>
          </a:xfrm>
          <a:prstGeom prst="rect">
            <a:avLst/>
          </a:prstGeom>
          <a:noFill/>
          <a:ln/>
        </p:spPr>
        <p:txBody>
          <a:bodyPr wrap="square"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SEO &amp; PERFORMANCE AUDIT</a:t>
            </a:r>
            <a:endParaRPr lang="en-US" sz="1600" dirty="0"/>
          </a:p>
        </p:txBody>
      </p:sp>
      <p:sp>
        <p:nvSpPr>
          <p:cNvPr id="6" name="Text 4"/>
          <p:cNvSpPr/>
          <p:nvPr/>
        </p:nvSpPr>
        <p:spPr>
          <a:xfrm>
            <a:off x="731520" y="2743200"/>
            <a:ext cx="105156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SearchSarkariNaukri.com</a:t>
            </a:r>
            <a:endParaRPr lang="en-US" sz="4200" dirty="0"/>
          </a:p>
        </p:txBody>
      </p:sp>
      <p:sp>
        <p:nvSpPr>
          <p:cNvPr id="7" name="Text 5"/>
          <p:cNvSpPr/>
          <p:nvPr/>
        </p:nvSpPr>
        <p:spPr>
          <a:xfrm>
            <a:off x="731520" y="3611880"/>
            <a:ext cx="10515600" cy="45720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Search Console Performance  •  Indexing &amp; Coverage  •  GA4 Traffic Analytics</a:t>
            </a:r>
            <a:endParaRPr lang="en-US" sz="1500" dirty="0"/>
          </a:p>
        </p:txBody>
      </p:sp>
      <p:sp>
        <p:nvSpPr>
          <p:cNvPr id="8" name="Text 6"/>
          <p:cNvSpPr/>
          <p:nvPr/>
        </p:nvSpPr>
        <p:spPr>
          <a:xfrm>
            <a:off x="731520" y="5989320"/>
            <a:ext cx="105156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Reporting window: 10 Jul 2026 – 06 Aug 2026 (28 days)  |  Coverage data: 17 May – 24 Jul 2026</a:t>
            </a:r>
            <a:endParaRPr lang="en-US" sz="1200" dirty="0"/>
          </a:p>
        </p:txBody>
      </p:sp>
      <p:sp>
        <p:nvSpPr>
          <p:cNvPr id="9" name="Text 7"/>
          <p:cNvSpPr/>
          <p:nvPr/>
        </p:nvSpPr>
        <p:spPr>
          <a:xfrm>
            <a:off x="731520" y="6355080"/>
            <a:ext cx="10515600" cy="274320"/>
          </a:xfrm>
          <a:prstGeom prst="rect">
            <a:avLst/>
          </a:prstGeom>
          <a:noFill/>
          <a:ln/>
        </p:spPr>
        <p:txBody>
          <a:bodyPr wrap="square" rtlCol="0" anchor="ctr"/>
          <a:lstStyle/>
          <a:p>
            <a:pPr indent="0" marL="0">
              <a:buNone/>
            </a:pPr>
            <a:r>
              <a:rPr lang="en-US" sz="1100" dirty="0">
                <a:solidFill>
                  <a:srgbClr val="8FA3D4"/>
                </a:solidFill>
                <a:latin typeface="Calibri" pitchFamily="34" charset="0"/>
                <a:ea typeface="Calibri" pitchFamily="34" charset="-122"/>
                <a:cs typeface="Calibri" pitchFamily="34" charset="-120"/>
              </a:rPr>
              <a:t>Prepared 07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headline: the site is publishing pages far faster than Google can index or reward them.</a:t>
            </a:r>
            <a:endParaRPr lang="en-US" sz="1300" dirty="0"/>
          </a:p>
        </p:txBody>
      </p:sp>
      <p:sp>
        <p:nvSpPr>
          <p:cNvPr id="4" name="Shape 2"/>
          <p:cNvSpPr/>
          <p:nvPr/>
        </p:nvSpPr>
        <p:spPr>
          <a:xfrm>
            <a:off x="548640" y="1417320"/>
            <a:ext cx="3611880" cy="1371600"/>
          </a:xfrm>
          <a:prstGeom prst="roundRect">
            <a:avLst>
              <a:gd name="adj" fmla="val 5333"/>
            </a:avLst>
          </a:prstGeom>
          <a:solidFill>
            <a:srgbClr val="F5F7FC"/>
          </a:solidFill>
          <a:ln w="12700">
            <a:solidFill>
              <a:srgbClr val="CADCFC"/>
            </a:solidFill>
            <a:prstDash val="solid"/>
          </a:ln>
        </p:spPr>
      </p:sp>
      <p:sp>
        <p:nvSpPr>
          <p:cNvPr id="5" name="Text 3"/>
          <p:cNvSpPr/>
          <p:nvPr/>
        </p:nvSpPr>
        <p:spPr>
          <a:xfrm>
            <a:off x="640080" y="1527048"/>
            <a:ext cx="342900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0</a:t>
            </a:r>
            <a:endParaRPr lang="en-US" sz="3000" dirty="0"/>
          </a:p>
        </p:txBody>
      </p:sp>
      <p:sp>
        <p:nvSpPr>
          <p:cNvPr id="6" name="Text 4"/>
          <p:cNvSpPr/>
          <p:nvPr/>
        </p:nvSpPr>
        <p:spPr>
          <a:xfrm>
            <a:off x="640080" y="22677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Google Search clicks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(last 28 days)</a:t>
            </a:r>
            <a:endParaRPr lang="en-US" sz="1100" dirty="0"/>
          </a:p>
        </p:txBody>
      </p:sp>
      <p:sp>
        <p:nvSpPr>
          <p:cNvPr id="7" name="Shape 5"/>
          <p:cNvSpPr/>
          <p:nvPr/>
        </p:nvSpPr>
        <p:spPr>
          <a:xfrm>
            <a:off x="4389120" y="1417320"/>
            <a:ext cx="3611880" cy="1371600"/>
          </a:xfrm>
          <a:prstGeom prst="roundRect">
            <a:avLst>
              <a:gd name="adj" fmla="val 5333"/>
            </a:avLst>
          </a:prstGeom>
          <a:solidFill>
            <a:srgbClr val="F5F7FC"/>
          </a:solidFill>
          <a:ln w="12700">
            <a:solidFill>
              <a:srgbClr val="CADCFC"/>
            </a:solidFill>
            <a:prstDash val="solid"/>
          </a:ln>
        </p:spPr>
      </p:sp>
      <p:sp>
        <p:nvSpPr>
          <p:cNvPr id="8" name="Text 6"/>
          <p:cNvSpPr/>
          <p:nvPr/>
        </p:nvSpPr>
        <p:spPr>
          <a:xfrm>
            <a:off x="4480560" y="1527048"/>
            <a:ext cx="3429000" cy="754380"/>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42</a:t>
            </a:r>
            <a:endParaRPr lang="en-US" sz="3000" dirty="0"/>
          </a:p>
        </p:txBody>
      </p:sp>
      <p:sp>
        <p:nvSpPr>
          <p:cNvPr id="9" name="Text 7"/>
          <p:cNvSpPr/>
          <p:nvPr/>
        </p:nvSpPr>
        <p:spPr>
          <a:xfrm>
            <a:off x="4480560" y="22677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Google impressions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(last 28 days)</a:t>
            </a:r>
            <a:endParaRPr lang="en-US" sz="1100" dirty="0"/>
          </a:p>
        </p:txBody>
      </p:sp>
      <p:sp>
        <p:nvSpPr>
          <p:cNvPr id="10" name="Shape 8"/>
          <p:cNvSpPr/>
          <p:nvPr/>
        </p:nvSpPr>
        <p:spPr>
          <a:xfrm>
            <a:off x="8229600" y="1417320"/>
            <a:ext cx="3611880" cy="1371600"/>
          </a:xfrm>
          <a:prstGeom prst="roundRect">
            <a:avLst>
              <a:gd name="adj" fmla="val 5333"/>
            </a:avLst>
          </a:prstGeom>
          <a:solidFill>
            <a:srgbClr val="F5F7FC"/>
          </a:solidFill>
          <a:ln w="12700">
            <a:solidFill>
              <a:srgbClr val="CADCFC"/>
            </a:solidFill>
            <a:prstDash val="solid"/>
          </a:ln>
        </p:spPr>
      </p:sp>
      <p:sp>
        <p:nvSpPr>
          <p:cNvPr id="11" name="Text 9"/>
          <p:cNvSpPr/>
          <p:nvPr/>
        </p:nvSpPr>
        <p:spPr>
          <a:xfrm>
            <a:off x="8321040" y="1527048"/>
            <a:ext cx="342900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#52.2</a:t>
            </a:r>
            <a:endParaRPr lang="en-US" sz="3000" dirty="0"/>
          </a:p>
        </p:txBody>
      </p:sp>
      <p:sp>
        <p:nvSpPr>
          <p:cNvPr id="12" name="Text 10"/>
          <p:cNvSpPr/>
          <p:nvPr/>
        </p:nvSpPr>
        <p:spPr>
          <a:xfrm>
            <a:off x="8321040" y="22677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Average search position</a:t>
            </a:r>
            <a:endParaRPr lang="en-US" sz="1100" dirty="0"/>
          </a:p>
        </p:txBody>
      </p:sp>
      <p:sp>
        <p:nvSpPr>
          <p:cNvPr id="13" name="Shape 11"/>
          <p:cNvSpPr/>
          <p:nvPr/>
        </p:nvSpPr>
        <p:spPr>
          <a:xfrm>
            <a:off x="548640" y="3017520"/>
            <a:ext cx="3611880" cy="1371600"/>
          </a:xfrm>
          <a:prstGeom prst="roundRect">
            <a:avLst>
              <a:gd name="adj" fmla="val 5333"/>
            </a:avLst>
          </a:prstGeom>
          <a:solidFill>
            <a:srgbClr val="F5F7FC"/>
          </a:solidFill>
          <a:ln w="12700">
            <a:solidFill>
              <a:srgbClr val="CADCFC"/>
            </a:solidFill>
            <a:prstDash val="solid"/>
          </a:ln>
        </p:spPr>
      </p:sp>
      <p:sp>
        <p:nvSpPr>
          <p:cNvPr id="14" name="Text 12"/>
          <p:cNvSpPr/>
          <p:nvPr/>
        </p:nvSpPr>
        <p:spPr>
          <a:xfrm>
            <a:off x="640080" y="3127248"/>
            <a:ext cx="342900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1,802</a:t>
            </a:r>
            <a:endParaRPr lang="en-US" sz="3000" dirty="0"/>
          </a:p>
        </p:txBody>
      </p:sp>
      <p:sp>
        <p:nvSpPr>
          <p:cNvPr id="15" name="Text 13"/>
          <p:cNvSpPr/>
          <p:nvPr/>
        </p:nvSpPr>
        <p:spPr>
          <a:xfrm>
            <a:off x="640080" y="38679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Pages NOT indexed</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(as of 24 Jul)</a:t>
            </a:r>
            <a:endParaRPr lang="en-US" sz="1100" dirty="0"/>
          </a:p>
        </p:txBody>
      </p:sp>
      <p:sp>
        <p:nvSpPr>
          <p:cNvPr id="16" name="Shape 14"/>
          <p:cNvSpPr/>
          <p:nvPr/>
        </p:nvSpPr>
        <p:spPr>
          <a:xfrm>
            <a:off x="4389120" y="3017520"/>
            <a:ext cx="3611880" cy="1371600"/>
          </a:xfrm>
          <a:prstGeom prst="roundRect">
            <a:avLst>
              <a:gd name="adj" fmla="val 5333"/>
            </a:avLst>
          </a:prstGeom>
          <a:solidFill>
            <a:srgbClr val="F5F7FC"/>
          </a:solidFill>
          <a:ln w="12700">
            <a:solidFill>
              <a:srgbClr val="CADCFC"/>
            </a:solidFill>
            <a:prstDash val="solid"/>
          </a:ln>
        </p:spPr>
      </p:sp>
      <p:sp>
        <p:nvSpPr>
          <p:cNvPr id="17" name="Text 15"/>
          <p:cNvSpPr/>
          <p:nvPr/>
        </p:nvSpPr>
        <p:spPr>
          <a:xfrm>
            <a:off x="4480560" y="3127248"/>
            <a:ext cx="3429000" cy="754380"/>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672</a:t>
            </a:r>
            <a:endParaRPr lang="en-US" sz="3000" dirty="0"/>
          </a:p>
        </p:txBody>
      </p:sp>
      <p:sp>
        <p:nvSpPr>
          <p:cNvPr id="18" name="Text 16"/>
          <p:cNvSpPr/>
          <p:nvPr/>
        </p:nvSpPr>
        <p:spPr>
          <a:xfrm>
            <a:off x="4480560" y="38679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Pages indexed</a:t>
            </a:r>
            <a:endParaRPr lang="en-US" sz="1100" dirty="0"/>
          </a:p>
        </p:txBody>
      </p:sp>
      <p:sp>
        <p:nvSpPr>
          <p:cNvPr id="19" name="Shape 17"/>
          <p:cNvSpPr/>
          <p:nvPr/>
        </p:nvSpPr>
        <p:spPr>
          <a:xfrm>
            <a:off x="8229600" y="3017520"/>
            <a:ext cx="3611880" cy="1371600"/>
          </a:xfrm>
          <a:prstGeom prst="roundRect">
            <a:avLst>
              <a:gd name="adj" fmla="val 5333"/>
            </a:avLst>
          </a:prstGeom>
          <a:solidFill>
            <a:srgbClr val="F5F7FC"/>
          </a:solidFill>
          <a:ln w="12700">
            <a:solidFill>
              <a:srgbClr val="CADCFC"/>
            </a:solidFill>
            <a:prstDash val="solid"/>
          </a:ln>
        </p:spPr>
      </p:sp>
      <p:sp>
        <p:nvSpPr>
          <p:cNvPr id="20" name="Text 18"/>
          <p:cNvSpPr/>
          <p:nvPr/>
        </p:nvSpPr>
        <p:spPr>
          <a:xfrm>
            <a:off x="8321040" y="3127248"/>
            <a:ext cx="3429000" cy="754380"/>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201</a:t>
            </a:r>
            <a:endParaRPr lang="en-US" sz="3000" dirty="0"/>
          </a:p>
        </p:txBody>
      </p:sp>
      <p:sp>
        <p:nvSpPr>
          <p:cNvPr id="21" name="Text 19"/>
          <p:cNvSpPr/>
          <p:nvPr/>
        </p:nvSpPr>
        <p:spPr>
          <a:xfrm>
            <a:off x="8321040" y="3867912"/>
            <a:ext cx="342900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GA4 active users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(28 days)</a:t>
            </a:r>
            <a:endParaRPr lang="en-US" sz="1100" dirty="0"/>
          </a:p>
        </p:txBody>
      </p:sp>
      <p:sp>
        <p:nvSpPr>
          <p:cNvPr id="22" name="Shape 20"/>
          <p:cNvSpPr/>
          <p:nvPr/>
        </p:nvSpPr>
        <p:spPr>
          <a:xfrm>
            <a:off x="548640" y="4526280"/>
            <a:ext cx="11109960" cy="1691640"/>
          </a:xfrm>
          <a:prstGeom prst="roundRect">
            <a:avLst>
              <a:gd name="adj" fmla="val 4324"/>
            </a:avLst>
          </a:prstGeom>
          <a:solidFill>
            <a:srgbClr val="FDEDEA"/>
          </a:solidFill>
          <a:ln w="12700">
            <a:solidFill>
              <a:srgbClr val="E4572E"/>
            </a:solidFill>
            <a:prstDash val="solid"/>
          </a:ln>
        </p:spPr>
      </p:sp>
      <p:sp>
        <p:nvSpPr>
          <p:cNvPr id="23" name="Text 21"/>
          <p:cNvSpPr/>
          <p:nvPr/>
        </p:nvSpPr>
        <p:spPr>
          <a:xfrm>
            <a:off x="822960" y="4663440"/>
            <a:ext cx="5486400" cy="320040"/>
          </a:xfrm>
          <a:prstGeom prst="rect">
            <a:avLst/>
          </a:prstGeom>
          <a:noFill/>
          <a:ln/>
        </p:spPr>
        <p:txBody>
          <a:bodyPr wrap="square" rtlCol="0" anchor="ctr"/>
          <a:lstStyle/>
          <a:p>
            <a:pPr indent="0" marL="0">
              <a:buNone/>
            </a:pPr>
            <a:r>
              <a:rPr lang="en-US" sz="1400" b="1" dirty="0">
                <a:solidFill>
                  <a:srgbClr val="E4572E"/>
                </a:solidFill>
                <a:latin typeface="Calibri" pitchFamily="34" charset="0"/>
                <a:ea typeface="Calibri" pitchFamily="34" charset="-122"/>
                <a:cs typeface="Calibri" pitchFamily="34" charset="-120"/>
              </a:rPr>
              <a:t>Critical finding</a:t>
            </a:r>
            <a:endParaRPr lang="en-US" sz="1400" dirty="0"/>
          </a:p>
        </p:txBody>
      </p:sp>
      <p:sp>
        <p:nvSpPr>
          <p:cNvPr id="24" name="Text 22"/>
          <p:cNvSpPr/>
          <p:nvPr/>
        </p:nvSpPr>
        <p:spPr>
          <a:xfrm>
            <a:off x="822960" y="4983480"/>
            <a:ext cx="10607040" cy="1188720"/>
          </a:xfrm>
          <a:prstGeom prst="rect">
            <a:avLst/>
          </a:prstGeom>
          <a:noFill/>
          <a:ln/>
        </p:spPr>
        <p:txBody>
          <a:bodyPr wrap="square" rtlCol="0" anchor="t"/>
          <a:lstStyle/>
          <a:p>
            <a:pPr indent="0" marL="0">
              <a:lnSpc>
                <a:spcPct val="115000"/>
              </a:lnSpc>
              <a:buNone/>
            </a:pPr>
            <a:r>
              <a:rPr lang="en-US" sz="1250" dirty="0">
                <a:solidFill>
                  <a:srgbClr val="1F2430"/>
                </a:solidFill>
                <a:latin typeface="Calibri" pitchFamily="34" charset="0"/>
                <a:ea typeface="Calibri" pitchFamily="34" charset="-122"/>
                <a:cs typeface="Calibri" pitchFamily="34" charset="-120"/>
              </a:rPr>
              <a:t>The site now carries roughly 2,470+ crawled URLs, but 1,802 (73%) are excluded from Google's index — and organic search delivered zero clicks in the last 28 days. Not-indexed pages grew 15x from May (116 avg) to July (1,735 avg), while indexed pages plateaued (~666) and monthly impressions actually fell from 83 to 28. Programmatic page growth (district/job/category URLs) is outpacing content quality and crawl budget — this is the priority to fix before any "more pages" push continues.</a:t>
            </a:r>
            <a:endParaRPr lang="en-US" sz="1250" dirty="0"/>
          </a:p>
        </p:txBody>
      </p:sp>
      <p:sp>
        <p:nvSpPr>
          <p:cNvPr id="25" name="Text 2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26" name="Text 2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Analytics Overview (GA4)</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10 Jul – 06 Aug 2026  •  Property: searchsarkarinaukri</a:t>
            </a:r>
            <a:endParaRPr lang="en-US" sz="1300" dirty="0"/>
          </a:p>
        </p:txBody>
      </p:sp>
      <p:sp>
        <p:nvSpPr>
          <p:cNvPr id="4" name="Shape 2"/>
          <p:cNvSpPr/>
          <p:nvPr/>
        </p:nvSpPr>
        <p:spPr>
          <a:xfrm>
            <a:off x="548640" y="1463040"/>
            <a:ext cx="2651760" cy="1463040"/>
          </a:xfrm>
          <a:prstGeom prst="roundRect">
            <a:avLst>
              <a:gd name="adj" fmla="val 5000"/>
            </a:avLst>
          </a:prstGeom>
          <a:solidFill>
            <a:srgbClr val="F5F7FC"/>
          </a:solidFill>
          <a:ln w="12700">
            <a:solidFill>
              <a:srgbClr val="CADCFC"/>
            </a:solidFill>
            <a:prstDash val="solid"/>
          </a:ln>
        </p:spPr>
      </p:sp>
      <p:sp>
        <p:nvSpPr>
          <p:cNvPr id="5" name="Text 3"/>
          <p:cNvSpPr/>
          <p:nvPr/>
        </p:nvSpPr>
        <p:spPr>
          <a:xfrm>
            <a:off x="640080" y="1572768"/>
            <a:ext cx="2468880" cy="804672"/>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201</a:t>
            </a:r>
            <a:endParaRPr lang="en-US" sz="3000" dirty="0"/>
          </a:p>
        </p:txBody>
      </p:sp>
      <p:sp>
        <p:nvSpPr>
          <p:cNvPr id="6" name="Text 4"/>
          <p:cNvSpPr/>
          <p:nvPr/>
        </p:nvSpPr>
        <p:spPr>
          <a:xfrm>
            <a:off x="640080" y="2370125"/>
            <a:ext cx="2468880" cy="512064"/>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Active users</a:t>
            </a:r>
            <a:endParaRPr lang="en-US" sz="1100" dirty="0"/>
          </a:p>
        </p:txBody>
      </p:sp>
      <p:sp>
        <p:nvSpPr>
          <p:cNvPr id="7" name="Shape 5"/>
          <p:cNvSpPr/>
          <p:nvPr/>
        </p:nvSpPr>
        <p:spPr>
          <a:xfrm>
            <a:off x="3383280" y="1463040"/>
            <a:ext cx="2651760" cy="1463040"/>
          </a:xfrm>
          <a:prstGeom prst="roundRect">
            <a:avLst>
              <a:gd name="adj" fmla="val 5000"/>
            </a:avLst>
          </a:prstGeom>
          <a:solidFill>
            <a:srgbClr val="F5F7FC"/>
          </a:solidFill>
          <a:ln w="12700">
            <a:solidFill>
              <a:srgbClr val="CADCFC"/>
            </a:solidFill>
            <a:prstDash val="solid"/>
          </a:ln>
        </p:spPr>
      </p:sp>
      <p:sp>
        <p:nvSpPr>
          <p:cNvPr id="8" name="Text 6"/>
          <p:cNvSpPr/>
          <p:nvPr/>
        </p:nvSpPr>
        <p:spPr>
          <a:xfrm>
            <a:off x="3474720" y="1572768"/>
            <a:ext cx="2468880" cy="804672"/>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201</a:t>
            </a:r>
            <a:endParaRPr lang="en-US" sz="3000" dirty="0"/>
          </a:p>
        </p:txBody>
      </p:sp>
      <p:sp>
        <p:nvSpPr>
          <p:cNvPr id="9" name="Text 7"/>
          <p:cNvSpPr/>
          <p:nvPr/>
        </p:nvSpPr>
        <p:spPr>
          <a:xfrm>
            <a:off x="3474720" y="2370125"/>
            <a:ext cx="2468880" cy="512064"/>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New users (100% new)</a:t>
            </a:r>
            <a:endParaRPr lang="en-US" sz="1100" dirty="0"/>
          </a:p>
        </p:txBody>
      </p:sp>
      <p:sp>
        <p:nvSpPr>
          <p:cNvPr id="10" name="Shape 8"/>
          <p:cNvSpPr/>
          <p:nvPr/>
        </p:nvSpPr>
        <p:spPr>
          <a:xfrm>
            <a:off x="6217920" y="1463040"/>
            <a:ext cx="2651760" cy="1463040"/>
          </a:xfrm>
          <a:prstGeom prst="roundRect">
            <a:avLst>
              <a:gd name="adj" fmla="val 5000"/>
            </a:avLst>
          </a:prstGeom>
          <a:solidFill>
            <a:srgbClr val="F5F7FC"/>
          </a:solidFill>
          <a:ln w="12700">
            <a:solidFill>
              <a:srgbClr val="CADCFC"/>
            </a:solidFill>
            <a:prstDash val="solid"/>
          </a:ln>
        </p:spPr>
      </p:sp>
      <p:sp>
        <p:nvSpPr>
          <p:cNvPr id="11" name="Text 9"/>
          <p:cNvSpPr/>
          <p:nvPr/>
        </p:nvSpPr>
        <p:spPr>
          <a:xfrm>
            <a:off x="6309360" y="1572768"/>
            <a:ext cx="2468880" cy="804672"/>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42.8s</a:t>
            </a:r>
            <a:endParaRPr lang="en-US" sz="3000" dirty="0"/>
          </a:p>
        </p:txBody>
      </p:sp>
      <p:sp>
        <p:nvSpPr>
          <p:cNvPr id="12" name="Text 10"/>
          <p:cNvSpPr/>
          <p:nvPr/>
        </p:nvSpPr>
        <p:spPr>
          <a:xfrm>
            <a:off x="6309360" y="2370125"/>
            <a:ext cx="2468880" cy="512064"/>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Avg. engagement time / user</a:t>
            </a:r>
            <a:endParaRPr lang="en-US" sz="1100" dirty="0"/>
          </a:p>
        </p:txBody>
      </p:sp>
      <p:sp>
        <p:nvSpPr>
          <p:cNvPr id="13" name="Shape 11"/>
          <p:cNvSpPr/>
          <p:nvPr/>
        </p:nvSpPr>
        <p:spPr>
          <a:xfrm>
            <a:off x="9052560" y="1463040"/>
            <a:ext cx="2651760" cy="1463040"/>
          </a:xfrm>
          <a:prstGeom prst="roundRect">
            <a:avLst>
              <a:gd name="adj" fmla="val 5000"/>
            </a:avLst>
          </a:prstGeom>
          <a:solidFill>
            <a:srgbClr val="F5F7FC"/>
          </a:solidFill>
          <a:ln w="12700">
            <a:solidFill>
              <a:srgbClr val="CADCFC"/>
            </a:solidFill>
            <a:prstDash val="solid"/>
          </a:ln>
        </p:spPr>
      </p:sp>
      <p:sp>
        <p:nvSpPr>
          <p:cNvPr id="14" name="Text 12"/>
          <p:cNvSpPr/>
          <p:nvPr/>
        </p:nvSpPr>
        <p:spPr>
          <a:xfrm>
            <a:off x="9144000" y="1572768"/>
            <a:ext cx="2468880" cy="804672"/>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1,326</a:t>
            </a:r>
            <a:endParaRPr lang="en-US" sz="3000" dirty="0"/>
          </a:p>
        </p:txBody>
      </p:sp>
      <p:sp>
        <p:nvSpPr>
          <p:cNvPr id="15" name="Text 13"/>
          <p:cNvSpPr/>
          <p:nvPr/>
        </p:nvSpPr>
        <p:spPr>
          <a:xfrm>
            <a:off x="9144000" y="2370125"/>
            <a:ext cx="2468880" cy="512064"/>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Total events</a:t>
            </a:r>
            <a:endParaRPr lang="en-US" sz="1100" dirty="0"/>
          </a:p>
        </p:txBody>
      </p:sp>
      <p:sp>
        <p:nvSpPr>
          <p:cNvPr id="16" name="Text 14"/>
          <p:cNvSpPr/>
          <p:nvPr/>
        </p:nvSpPr>
        <p:spPr>
          <a:xfrm>
            <a:off x="548640" y="3246120"/>
            <a:ext cx="11109960" cy="685800"/>
          </a:xfrm>
          <a:prstGeom prst="rect">
            <a:avLst/>
          </a:prstGeom>
          <a:noFill/>
          <a:ln/>
        </p:spPr>
        <p:txBody>
          <a:bodyPr wrap="square" rtlCol="0" anchor="t"/>
          <a:lstStyle/>
          <a:p>
            <a:pPr indent="0" marL="0">
              <a:buNone/>
            </a:pPr>
            <a:r>
              <a:rPr lang="en-US" sz="1250" dirty="0">
                <a:solidFill>
                  <a:srgbClr val="1F2430"/>
                </a:solidFill>
                <a:latin typeface="Calibri" pitchFamily="34" charset="0"/>
                <a:ea typeface="Calibri" pitchFamily="34" charset="-122"/>
                <a:cs typeface="Calibri" pitchFamily="34" charset="-120"/>
              </a:rPr>
              <a:t>Users are essentially all new — GA4 shows 0 returning users across the 28-day window and no meaningful day-25+ activity until the last 3 days, when a spike of 191 new users appeared. This looks like a very recent traffic event rather than organic growth.</a:t>
            </a:r>
            <a:endParaRPr lang="en-US" sz="1250" dirty="0"/>
          </a:p>
        </p:txBody>
      </p:sp>
      <p:sp>
        <p:nvSpPr>
          <p:cNvPr id="17" name="Text 15"/>
          <p:cNvSpPr/>
          <p:nvPr/>
        </p:nvSpPr>
        <p:spPr>
          <a:xfrm>
            <a:off x="548640" y="3977640"/>
            <a:ext cx="54864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New users by day (last 28 days)</a:t>
            </a:r>
            <a:endParaRPr lang="en-US" sz="1400" dirty="0"/>
          </a:p>
        </p:txBody>
      </p:sp>
      <p:graphicFrame>
        <p:nvGraphicFramePr>
          <p:cNvPr id="18" name="Chart 0" descr=""/>
          <p:cNvGraphicFramePr/>
          <p:nvPr/>
        </p:nvGraphicFramePr>
        <p:xfrm>
          <a:off x="548640" y="4343400"/>
          <a:ext cx="11109960" cy="21488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20" name="Text 1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Traffic Channels &amp; Sources</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Session primary channel group  •  28 days</a:t>
            </a:r>
            <a:endParaRPr lang="en-US" sz="1300" dirty="0"/>
          </a:p>
        </p:txBody>
      </p:sp>
      <p:graphicFrame>
        <p:nvGraphicFramePr>
          <p:cNvPr id="4" name="Chart 0" descr=""/>
          <p:cNvGraphicFramePr/>
          <p:nvPr/>
        </p:nvGraphicFramePr>
        <p:xfrm>
          <a:off x="548640" y="137160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29400" y="1371600"/>
            <a:ext cx="5029200" cy="3291840"/>
          </a:xfrm>
          <a:prstGeom prst="roundRect">
            <a:avLst>
              <a:gd name="adj" fmla="val 2222"/>
            </a:avLst>
          </a:prstGeom>
          <a:solidFill>
            <a:srgbClr val="F5F7FC"/>
          </a:solidFill>
          <a:ln w="12700">
            <a:solidFill>
              <a:srgbClr val="CADCFC"/>
            </a:solidFill>
            <a:prstDash val="solid"/>
          </a:ln>
        </p:spPr>
      </p:sp>
      <p:sp>
        <p:nvSpPr>
          <p:cNvPr id="6" name="Text 3"/>
          <p:cNvSpPr/>
          <p:nvPr/>
        </p:nvSpPr>
        <p:spPr>
          <a:xfrm>
            <a:off x="6903720" y="1508760"/>
            <a:ext cx="45720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Reading the mix</a:t>
            </a:r>
            <a:endParaRPr lang="en-US" sz="1400" dirty="0"/>
          </a:p>
        </p:txBody>
      </p:sp>
      <p:sp>
        <p:nvSpPr>
          <p:cNvPr id="7" name="Text 4"/>
          <p:cNvSpPr/>
          <p:nvPr/>
        </p:nvSpPr>
        <p:spPr>
          <a:xfrm>
            <a:off x="6903720" y="1874520"/>
            <a:ext cx="4572000" cy="2697480"/>
          </a:xfrm>
          <a:prstGeom prst="rect">
            <a:avLst/>
          </a:prstGeom>
          <a:noFill/>
          <a:ln/>
        </p:spPr>
        <p:txBody>
          <a:bodyPr wrap="square" rtlCol="0" anchor="t"/>
          <a:lstStyle/>
          <a:p>
            <a:pPr marL="342900" indent="-342900">
              <a:spcAft>
                <a:spcPts val="1000"/>
              </a:spcAft>
              <a:buSzPct val="100000"/>
              <a:buChar char="•"/>
            </a:pPr>
            <a:r>
              <a:rPr lang="en-US" sz="1150" dirty="0">
                <a:solidFill>
                  <a:srgbClr val="1F2430"/>
                </a:solidFill>
                <a:latin typeface="Calibri" pitchFamily="34" charset="0"/>
                <a:ea typeface="Calibri" pitchFamily="34" charset="-122"/>
                <a:cs typeface="Calibri" pitchFamily="34" charset="-120"/>
              </a:rPr>
              <a:t>Direct = 87% of sessions (196 of 226) but only 12.8% engagement rate — typical of bookmark-less, low-intent, or bot-influenced traffic, not brand recall.</a:t>
            </a:r>
            <a:endParaRPr lang="en-US" sz="1150" dirty="0"/>
          </a:p>
          <a:p>
            <a:pPr marL="342900" indent="-342900">
              <a:spcAft>
                <a:spcPts val="1000"/>
              </a:spcAft>
              <a:buSzPct val="100000"/>
              <a:buChar char="•"/>
            </a:pPr>
            <a:r>
              <a:rPr lang="en-US" sz="1150" dirty="0">
                <a:solidFill>
                  <a:srgbClr val="1F2430"/>
                </a:solidFill>
                <a:latin typeface="Calibri" pitchFamily="34" charset="0"/>
                <a:ea typeface="Calibri" pitchFamily="34" charset="-122"/>
                <a:cs typeface="Calibri" pitchFamily="34" charset="-120"/>
              </a:rPr>
              <a:t>Organic Search is only 19 sessions (8%) yet has the healthiest engagement rate at 68.4% — small, but genuinely interested visitors.</a:t>
            </a:r>
            <a:endParaRPr lang="en-US" sz="1150" dirty="0"/>
          </a:p>
          <a:p>
            <a:pPr marL="342900" indent="-342900">
              <a:spcAft>
                <a:spcPts val="1000"/>
              </a:spcAft>
              <a:buSzPct val="100000"/>
              <a:buChar char="•"/>
            </a:pPr>
            <a:r>
              <a:rPr lang="en-US" sz="1150" dirty="0">
                <a:solidFill>
                  <a:srgbClr val="1F2430"/>
                </a:solidFill>
                <a:latin typeface="Calibri" pitchFamily="34" charset="0"/>
                <a:ea typeface="Calibri" pitchFamily="34" charset="-122"/>
                <a:cs typeface="Calibri" pitchFamily="34" charset="-120"/>
              </a:rPr>
              <a:t>AI Assistant referrals (ChatGPT, Copilot) already outnumber Organic Social — an emerging channel worth tracking separately going forward.</a:t>
            </a:r>
            <a:endParaRPr lang="en-US" sz="1150" dirty="0"/>
          </a:p>
          <a:p>
            <a:pPr marL="342900" indent="-342900">
              <a:buSzPct val="100000"/>
              <a:buChar char="•"/>
            </a:pPr>
            <a:r>
              <a:rPr lang="en-US" sz="1150" dirty="0">
                <a:solidFill>
                  <a:srgbClr val="1F2430"/>
                </a:solidFill>
                <a:latin typeface="Calibri" pitchFamily="34" charset="0"/>
                <a:ea typeface="Calibri" pitchFamily="34" charset="-122"/>
                <a:cs typeface="Calibri" pitchFamily="34" charset="-120"/>
              </a:rPr>
              <a:t>Manual campaign tagging shows 181 users under "(not set)" — UTM tagging is not consistently implemented on any paid/owned promotion.</a:t>
            </a:r>
            <a:endParaRPr lang="en-US" sz="1150" dirty="0"/>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9"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Audience Geography</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Active users by city  •  28 days  •  Total: 201 users</a:t>
            </a:r>
            <a:endParaRPr lang="en-US" sz="1300" dirty="0"/>
          </a:p>
        </p:txBody>
      </p:sp>
      <p:graphicFrame>
        <p:nvGraphicFramePr>
          <p:cNvPr id="4" name="Chart 0" descr=""/>
          <p:cNvGraphicFramePr/>
          <p:nvPr/>
        </p:nvGraphicFramePr>
        <p:xfrm>
          <a:off x="548640" y="137160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371600"/>
            <a:ext cx="4206240" cy="3566160"/>
          </a:xfrm>
          <a:prstGeom prst="roundRect">
            <a:avLst>
              <a:gd name="adj" fmla="val 2051"/>
            </a:avLst>
          </a:prstGeom>
          <a:solidFill>
            <a:srgbClr val="FDEDEA"/>
          </a:solidFill>
          <a:ln w="12700">
            <a:solidFill>
              <a:srgbClr val="E4572E"/>
            </a:solidFill>
            <a:prstDash val="solid"/>
          </a:ln>
        </p:spPr>
      </p:sp>
      <p:sp>
        <p:nvSpPr>
          <p:cNvPr id="6" name="Text 3"/>
          <p:cNvSpPr/>
          <p:nvPr/>
        </p:nvSpPr>
        <p:spPr>
          <a:xfrm>
            <a:off x="7726680" y="1508760"/>
            <a:ext cx="3657600" cy="320040"/>
          </a:xfrm>
          <a:prstGeom prst="rect">
            <a:avLst/>
          </a:prstGeom>
          <a:noFill/>
          <a:ln/>
        </p:spPr>
        <p:txBody>
          <a:bodyPr wrap="square" rtlCol="0" anchor="ctr"/>
          <a:lstStyle/>
          <a:p>
            <a:pPr indent="0" marL="0">
              <a:buNone/>
            </a:pPr>
            <a:r>
              <a:rPr lang="en-US" sz="1400" b="1" dirty="0">
                <a:solidFill>
                  <a:srgbClr val="E4572E"/>
                </a:solidFill>
                <a:latin typeface="Calibri" pitchFamily="34" charset="0"/>
                <a:ea typeface="Calibri" pitchFamily="34" charset="-122"/>
                <a:cs typeface="Calibri" pitchFamily="34" charset="-120"/>
              </a:rPr>
              <a:t>Anomaly flag</a:t>
            </a:r>
            <a:endParaRPr lang="en-US" sz="1400" dirty="0"/>
          </a:p>
        </p:txBody>
      </p:sp>
      <p:sp>
        <p:nvSpPr>
          <p:cNvPr id="7" name="Text 4"/>
          <p:cNvSpPr/>
          <p:nvPr/>
        </p:nvSpPr>
        <p:spPr>
          <a:xfrm>
            <a:off x="7726680" y="1874520"/>
            <a:ext cx="3657600" cy="2926080"/>
          </a:xfrm>
          <a:prstGeom prst="rect">
            <a:avLst/>
          </a:prstGeom>
          <a:noFill/>
          <a:ln/>
        </p:spPr>
        <p:txBody>
          <a:bodyPr wrap="square" rtlCol="0" anchor="t"/>
          <a:lstStyle/>
          <a:p>
            <a:pPr indent="0" marL="0">
              <a:lnSpc>
                <a:spcPct val="115000"/>
              </a:lnSpc>
              <a:buNone/>
            </a:pPr>
            <a:r>
              <a:rPr lang="en-US" sz="1150" dirty="0">
                <a:solidFill>
                  <a:srgbClr val="1F2430"/>
                </a:solidFill>
                <a:latin typeface="Calibri" pitchFamily="34" charset="0"/>
                <a:ea typeface="Calibri" pitchFamily="34" charset="-122"/>
                <a:cs typeface="Calibri" pitchFamily="34" charset="-120"/>
              </a:rPr>
              <a:t>74.6% of all active users (150 of 201) are geolocated to Singapore, for a site targeting Indian government-job seekers across Maharashtra, Telangana, and other states. Only 9 users came from Pune and single-digit counts from other Indian cities. This pattern is consistent with data-center/proxy IPs, bot crawlers, or a misconfigured analytics/testing environment rather than real audience growth, and should be investigated before it's used to justify content decisions.</a:t>
            </a:r>
            <a:endParaRPr lang="en-US" sz="1150" dirty="0"/>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9"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Top Page Performance (GA4)</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Page title / screen class  •  28 days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377440"/>
        </p:xfrm>
        <a:graphic>
          <a:graphicData uri="http://schemas.openxmlformats.org/drawingml/2006/table">
            <a:tbl>
              <a:tblPr/>
              <a:tblGrid>
                <a:gridCol w="6035040"/>
                <a:gridCol w="1280160"/>
                <a:gridCol w="1280160"/>
                <a:gridCol w="1280160"/>
                <a:gridCol w="123444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Page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Views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Events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Bounce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Homepage — SearchSarkariNaukri</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450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1,122</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82.8%</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Sarkari Naukri 2026 (hub page)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Government Jobs 2026 (search hub)</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Sarkari Naukri Blog</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Page Not Found (404)</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IOCL Trade Apprentice listing</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371600"/>
            <a:ext cx="11109960" cy="365760"/>
          </a:xfrm>
          <a:prstGeom prst="rect">
            <a:avLst/>
          </a:prstGeom>
          <a:solidFill>
            <a:srgbClr val="1E2761"/>
          </a:solidFill>
          <a:ln/>
        </p:spPr>
      </p:sp>
      <p:sp>
        <p:nvSpPr>
          <p:cNvPr id="6" name="Text 3"/>
          <p:cNvSpPr/>
          <p:nvPr/>
        </p:nvSpPr>
        <p:spPr>
          <a:xfrm>
            <a:off x="594360" y="1371600"/>
            <a:ext cx="594360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Page</a:t>
            </a:r>
            <a:endParaRPr lang="en-US" sz="1100" dirty="0"/>
          </a:p>
        </p:txBody>
      </p:sp>
      <p:sp>
        <p:nvSpPr>
          <p:cNvPr id="7" name="Text 4"/>
          <p:cNvSpPr/>
          <p:nvPr/>
        </p:nvSpPr>
        <p:spPr>
          <a:xfrm>
            <a:off x="6583680" y="1371600"/>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Views</a:t>
            </a:r>
            <a:endParaRPr lang="en-US" sz="1100" dirty="0"/>
          </a:p>
        </p:txBody>
      </p:sp>
      <p:sp>
        <p:nvSpPr>
          <p:cNvPr id="8" name="Text 5"/>
          <p:cNvSpPr/>
          <p:nvPr/>
        </p:nvSpPr>
        <p:spPr>
          <a:xfrm>
            <a:off x="7863840" y="1371600"/>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Users</a:t>
            </a:r>
            <a:endParaRPr lang="en-US" sz="1100" dirty="0"/>
          </a:p>
        </p:txBody>
      </p:sp>
      <p:sp>
        <p:nvSpPr>
          <p:cNvPr id="9" name="Text 6"/>
          <p:cNvSpPr/>
          <p:nvPr/>
        </p:nvSpPr>
        <p:spPr>
          <a:xfrm>
            <a:off x="9144000" y="1371600"/>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Events</a:t>
            </a:r>
            <a:endParaRPr lang="en-US" sz="1100" dirty="0"/>
          </a:p>
        </p:txBody>
      </p:sp>
      <p:sp>
        <p:nvSpPr>
          <p:cNvPr id="10" name="Text 7"/>
          <p:cNvSpPr/>
          <p:nvPr/>
        </p:nvSpPr>
        <p:spPr>
          <a:xfrm>
            <a:off x="10424160" y="1371600"/>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Bounce</a:t>
            </a:r>
            <a:endParaRPr lang="en-US" sz="1100" dirty="0"/>
          </a:p>
        </p:txBody>
      </p:sp>
      <p:sp>
        <p:nvSpPr>
          <p:cNvPr id="11" name="Shape 8"/>
          <p:cNvSpPr/>
          <p:nvPr/>
        </p:nvSpPr>
        <p:spPr>
          <a:xfrm>
            <a:off x="548640" y="3977640"/>
            <a:ext cx="11109960" cy="1737360"/>
          </a:xfrm>
          <a:prstGeom prst="roundRect">
            <a:avLst>
              <a:gd name="adj" fmla="val 4211"/>
            </a:avLst>
          </a:prstGeom>
          <a:solidFill>
            <a:srgbClr val="F5F7FC"/>
          </a:solidFill>
          <a:ln w="12700">
            <a:solidFill>
              <a:srgbClr val="CADCFC"/>
            </a:solidFill>
            <a:prstDash val="solid"/>
          </a:ln>
        </p:spPr>
      </p:sp>
      <p:sp>
        <p:nvSpPr>
          <p:cNvPr id="12" name="Text 9"/>
          <p:cNvSpPr/>
          <p:nvPr/>
        </p:nvSpPr>
        <p:spPr>
          <a:xfrm>
            <a:off x="822960" y="4114800"/>
            <a:ext cx="54864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Takeaway</a:t>
            </a:r>
            <a:endParaRPr lang="en-US" sz="1300" dirty="0"/>
          </a:p>
        </p:txBody>
      </p:sp>
      <p:sp>
        <p:nvSpPr>
          <p:cNvPr id="13" name="Text 10"/>
          <p:cNvSpPr/>
          <p:nvPr/>
        </p:nvSpPr>
        <p:spPr>
          <a:xfrm>
            <a:off x="822960" y="4434840"/>
            <a:ext cx="10607040" cy="1188720"/>
          </a:xfrm>
          <a:prstGeom prst="rect">
            <a:avLst/>
          </a:prstGeom>
          <a:noFill/>
          <a:ln/>
        </p:spPr>
        <p:txBody>
          <a:bodyPr wrap="square" rtlCol="0" anchor="t"/>
          <a:lstStyle/>
          <a:p>
            <a:pPr indent="0" marL="0">
              <a:lnSpc>
                <a:spcPct val="115000"/>
              </a:lnSpc>
              <a:buNone/>
            </a:pPr>
            <a:r>
              <a:rPr lang="en-US" sz="1200" dirty="0">
                <a:solidFill>
                  <a:srgbClr val="1F2430"/>
                </a:solidFill>
                <a:latin typeface="Calibri" pitchFamily="34" charset="0"/>
                <a:ea typeface="Calibri" pitchFamily="34" charset="-122"/>
                <a:cs typeface="Calibri" pitchFamily="34" charset="-120"/>
              </a:rPr>
              <a:t>The homepage carries 62% of all pageviews but has an 82.8% bounce rate — visitors are landing and leaving without exploring job listings. Individual job/recruitment detail pages (the pages this site is built to rank for) barely register in the top-viewed list, confirming the indexing problem seen in Search Console: most job pages simply aren't being found via search.</a:t>
            </a:r>
            <a:endParaRPr lang="en-US" sz="1200" dirty="0"/>
          </a:p>
        </p:txBody>
      </p:sp>
      <p:sp>
        <p:nvSpPr>
          <p:cNvPr id="14" name="Text 1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5" name="Text 12"/>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Search Console — Performance on Search</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Web search  •  Last 28 days (09 Jul – 05 Aug 2026)</a:t>
            </a:r>
            <a:endParaRPr lang="en-US" sz="1300" dirty="0"/>
          </a:p>
        </p:txBody>
      </p:sp>
      <p:sp>
        <p:nvSpPr>
          <p:cNvPr id="4" name="Shape 2"/>
          <p:cNvSpPr/>
          <p:nvPr/>
        </p:nvSpPr>
        <p:spPr>
          <a:xfrm>
            <a:off x="548640" y="1417320"/>
            <a:ext cx="2651760" cy="1371600"/>
          </a:xfrm>
          <a:prstGeom prst="roundRect">
            <a:avLst>
              <a:gd name="adj" fmla="val 5333"/>
            </a:avLst>
          </a:prstGeom>
          <a:solidFill>
            <a:srgbClr val="F5F7FC"/>
          </a:solidFill>
          <a:ln w="12700">
            <a:solidFill>
              <a:srgbClr val="CADCFC"/>
            </a:solidFill>
            <a:prstDash val="solid"/>
          </a:ln>
        </p:spPr>
      </p:sp>
      <p:sp>
        <p:nvSpPr>
          <p:cNvPr id="5" name="Text 3"/>
          <p:cNvSpPr/>
          <p:nvPr/>
        </p:nvSpPr>
        <p:spPr>
          <a:xfrm>
            <a:off x="640080" y="1527048"/>
            <a:ext cx="246888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0</a:t>
            </a:r>
            <a:endParaRPr lang="en-US" sz="3000" dirty="0"/>
          </a:p>
        </p:txBody>
      </p:sp>
      <p:sp>
        <p:nvSpPr>
          <p:cNvPr id="6" name="Text 4"/>
          <p:cNvSpPr/>
          <p:nvPr/>
        </p:nvSpPr>
        <p:spPr>
          <a:xfrm>
            <a:off x="640080" y="2267712"/>
            <a:ext cx="246888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Total clicks</a:t>
            </a:r>
            <a:endParaRPr lang="en-US" sz="1100" dirty="0"/>
          </a:p>
        </p:txBody>
      </p:sp>
      <p:sp>
        <p:nvSpPr>
          <p:cNvPr id="7" name="Shape 5"/>
          <p:cNvSpPr/>
          <p:nvPr/>
        </p:nvSpPr>
        <p:spPr>
          <a:xfrm>
            <a:off x="3383280" y="1417320"/>
            <a:ext cx="2651760" cy="1371600"/>
          </a:xfrm>
          <a:prstGeom prst="roundRect">
            <a:avLst>
              <a:gd name="adj" fmla="val 5333"/>
            </a:avLst>
          </a:prstGeom>
          <a:solidFill>
            <a:srgbClr val="F5F7FC"/>
          </a:solidFill>
          <a:ln w="12700">
            <a:solidFill>
              <a:srgbClr val="CADCFC"/>
            </a:solidFill>
            <a:prstDash val="solid"/>
          </a:ln>
        </p:spPr>
      </p:sp>
      <p:sp>
        <p:nvSpPr>
          <p:cNvPr id="8" name="Text 6"/>
          <p:cNvSpPr/>
          <p:nvPr/>
        </p:nvSpPr>
        <p:spPr>
          <a:xfrm>
            <a:off x="3474720" y="1527048"/>
            <a:ext cx="2468880" cy="754380"/>
          </a:xfrm>
          <a:prstGeom prst="rect">
            <a:avLst/>
          </a:prstGeom>
          <a:noFill/>
          <a:ln/>
        </p:spPr>
        <p:txBody>
          <a:bodyPr wrap="square"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42</a:t>
            </a:r>
            <a:endParaRPr lang="en-US" sz="3000" dirty="0"/>
          </a:p>
        </p:txBody>
      </p:sp>
      <p:sp>
        <p:nvSpPr>
          <p:cNvPr id="9" name="Text 7"/>
          <p:cNvSpPr/>
          <p:nvPr/>
        </p:nvSpPr>
        <p:spPr>
          <a:xfrm>
            <a:off x="3474720" y="2267712"/>
            <a:ext cx="246888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Total impressions</a:t>
            </a:r>
            <a:endParaRPr lang="en-US" sz="1100" dirty="0"/>
          </a:p>
        </p:txBody>
      </p:sp>
      <p:sp>
        <p:nvSpPr>
          <p:cNvPr id="10" name="Shape 8"/>
          <p:cNvSpPr/>
          <p:nvPr/>
        </p:nvSpPr>
        <p:spPr>
          <a:xfrm>
            <a:off x="6217920" y="1417320"/>
            <a:ext cx="2651760" cy="1371600"/>
          </a:xfrm>
          <a:prstGeom prst="roundRect">
            <a:avLst>
              <a:gd name="adj" fmla="val 5333"/>
            </a:avLst>
          </a:prstGeom>
          <a:solidFill>
            <a:srgbClr val="F5F7FC"/>
          </a:solidFill>
          <a:ln w="12700">
            <a:solidFill>
              <a:srgbClr val="CADCFC"/>
            </a:solidFill>
            <a:prstDash val="solid"/>
          </a:ln>
        </p:spPr>
      </p:sp>
      <p:sp>
        <p:nvSpPr>
          <p:cNvPr id="11" name="Text 9"/>
          <p:cNvSpPr/>
          <p:nvPr/>
        </p:nvSpPr>
        <p:spPr>
          <a:xfrm>
            <a:off x="6309360" y="1527048"/>
            <a:ext cx="246888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0.00%</a:t>
            </a:r>
            <a:endParaRPr lang="en-US" sz="3000" dirty="0"/>
          </a:p>
        </p:txBody>
      </p:sp>
      <p:sp>
        <p:nvSpPr>
          <p:cNvPr id="12" name="Text 10"/>
          <p:cNvSpPr/>
          <p:nvPr/>
        </p:nvSpPr>
        <p:spPr>
          <a:xfrm>
            <a:off x="6309360" y="2267712"/>
            <a:ext cx="246888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Average CTR</a:t>
            </a:r>
            <a:endParaRPr lang="en-US" sz="1100" dirty="0"/>
          </a:p>
        </p:txBody>
      </p:sp>
      <p:sp>
        <p:nvSpPr>
          <p:cNvPr id="13" name="Shape 11"/>
          <p:cNvSpPr/>
          <p:nvPr/>
        </p:nvSpPr>
        <p:spPr>
          <a:xfrm>
            <a:off x="9052560" y="1417320"/>
            <a:ext cx="2651760" cy="1371600"/>
          </a:xfrm>
          <a:prstGeom prst="roundRect">
            <a:avLst>
              <a:gd name="adj" fmla="val 5333"/>
            </a:avLst>
          </a:prstGeom>
          <a:solidFill>
            <a:srgbClr val="F5F7FC"/>
          </a:solidFill>
          <a:ln w="12700">
            <a:solidFill>
              <a:srgbClr val="CADCFC"/>
            </a:solidFill>
            <a:prstDash val="solid"/>
          </a:ln>
        </p:spPr>
      </p:sp>
      <p:sp>
        <p:nvSpPr>
          <p:cNvPr id="14" name="Text 12"/>
          <p:cNvSpPr/>
          <p:nvPr/>
        </p:nvSpPr>
        <p:spPr>
          <a:xfrm>
            <a:off x="9144000" y="1527048"/>
            <a:ext cx="2468880" cy="754380"/>
          </a:xfrm>
          <a:prstGeom prst="rect">
            <a:avLst/>
          </a:prstGeom>
          <a:noFill/>
          <a:ln/>
        </p:spPr>
        <p:txBody>
          <a:bodyPr wrap="square" rtlCol="0" anchor="b"/>
          <a:lstStyle/>
          <a:p>
            <a:pPr algn="ctr" indent="0" marL="0">
              <a:buNone/>
            </a:pPr>
            <a:r>
              <a:rPr lang="en-US" sz="3000" b="1" dirty="0">
                <a:solidFill>
                  <a:srgbClr val="E4572E"/>
                </a:solidFill>
                <a:latin typeface="Cambria" pitchFamily="34" charset="0"/>
                <a:ea typeface="Cambria" pitchFamily="34" charset="-122"/>
                <a:cs typeface="Cambria" pitchFamily="34" charset="-120"/>
              </a:rPr>
              <a:t>52.2</a:t>
            </a:r>
            <a:endParaRPr lang="en-US" sz="3000" dirty="0"/>
          </a:p>
        </p:txBody>
      </p:sp>
      <p:sp>
        <p:nvSpPr>
          <p:cNvPr id="15" name="Text 13"/>
          <p:cNvSpPr/>
          <p:nvPr/>
        </p:nvSpPr>
        <p:spPr>
          <a:xfrm>
            <a:off x="9144000" y="2267712"/>
            <a:ext cx="2468880" cy="480060"/>
          </a:xfrm>
          <a:prstGeom prst="rect">
            <a:avLst/>
          </a:prstGeom>
          <a:noFill/>
          <a:ln/>
        </p:spPr>
        <p:txBody>
          <a:bodyPr wrap="square"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Average position</a:t>
            </a:r>
            <a:endParaRPr lang="en-US" sz="1100" dirty="0"/>
          </a:p>
        </p:txBody>
      </p:sp>
      <p:sp>
        <p:nvSpPr>
          <p:cNvPr id="16" name="Text 14"/>
          <p:cNvSpPr/>
          <p:nvPr/>
        </p:nvSpPr>
        <p:spPr>
          <a:xfrm>
            <a:off x="548640" y="3063240"/>
            <a:ext cx="54864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Daily impressions trend</a:t>
            </a:r>
            <a:endParaRPr lang="en-US" sz="1400" dirty="0"/>
          </a:p>
        </p:txBody>
      </p:sp>
      <p:graphicFrame>
        <p:nvGraphicFramePr>
          <p:cNvPr id="17" name="Chart 0" descr=""/>
          <p:cNvGraphicFramePr/>
          <p:nvPr/>
        </p:nvGraphicFramePr>
        <p:xfrm>
          <a:off x="548640" y="3429000"/>
          <a:ext cx="11109960" cy="278892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9" name="Text 1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Top Queries &amp; Landing Pages (Search)</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Impressions only — 0 clicks recorded on every query and page in the period</a:t>
            </a:r>
            <a:endParaRPr lang="en-US" sz="1300" dirty="0"/>
          </a:p>
        </p:txBody>
      </p:sp>
      <p:sp>
        <p:nvSpPr>
          <p:cNvPr id="4" name="Shape 2"/>
          <p:cNvSpPr/>
          <p:nvPr/>
        </p:nvSpPr>
        <p:spPr>
          <a:xfrm>
            <a:off x="548640" y="1371600"/>
            <a:ext cx="5349240" cy="320040"/>
          </a:xfrm>
          <a:prstGeom prst="rect">
            <a:avLst/>
          </a:prstGeom>
          <a:solidFill>
            <a:srgbClr val="1E2761"/>
          </a:solidFill>
          <a:ln/>
        </p:spPr>
      </p:sp>
      <p:sp>
        <p:nvSpPr>
          <p:cNvPr id="5" name="Text 3"/>
          <p:cNvSpPr/>
          <p:nvPr/>
        </p:nvSpPr>
        <p:spPr>
          <a:xfrm>
            <a:off x="640080" y="1371600"/>
            <a:ext cx="51206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Top queries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49240" cy="2651760"/>
        </p:xfrm>
        <a:graphic>
          <a:graphicData uri="http://schemas.openxmlformats.org/drawingml/2006/table">
            <a:tbl>
              <a:tblPr/>
              <a:tblGrid>
                <a:gridCol w="3520440"/>
                <a:gridCol w="914400"/>
                <a:gridCol w="91440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Query</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Impr.</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 pass jobs in odisha</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69.2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kalyana hall</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sarkari naukri nashik</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nashik zp recruitment</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73.5</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government jobs in nashik</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74.0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nashik government job</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76.5</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mpsc recruitment</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73.0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6172200" y="1371600"/>
            <a:ext cx="5486400" cy="320040"/>
          </a:xfrm>
          <a:prstGeom prst="rect">
            <a:avLst/>
          </a:prstGeom>
          <a:solidFill>
            <a:srgbClr val="1E2761"/>
          </a:solidFill>
          <a:ln/>
        </p:spPr>
      </p:sp>
      <p:sp>
        <p:nvSpPr>
          <p:cNvPr id="8" name="Text 5"/>
          <p:cNvSpPr/>
          <p:nvPr/>
        </p:nvSpPr>
        <p:spPr>
          <a:xfrm>
            <a:off x="6263640" y="1371600"/>
            <a:ext cx="530352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Top pages by impressions</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172200" y="1371600"/>
          <a:ext cx="5486400" cy="2651760"/>
        </p:xfrm>
        <a:graphic>
          <a:graphicData uri="http://schemas.openxmlformats.org/drawingml/2006/table">
            <a:tbl>
              <a:tblPr/>
              <a:tblGrid>
                <a:gridCol w="3657600"/>
                <a:gridCol w="914400"/>
                <a:gridCol w="91440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Page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Impr.</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Pos.</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/districts/nashik</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67.2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/12th-pass-jobs-in-odisha</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69.2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 (homepage)</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/privacy</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/jobs</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39.5</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/department/mpsc</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/jobs-in-mumbai</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97.0</a:t>
                      </a:r>
                      <a:endParaRPr lang="en-US" sz="10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0" name="Shape 6"/>
          <p:cNvSpPr/>
          <p:nvPr/>
        </p:nvSpPr>
        <p:spPr>
          <a:xfrm>
            <a:off x="548640" y="4251960"/>
            <a:ext cx="11109960" cy="1554480"/>
          </a:xfrm>
          <a:prstGeom prst="roundRect">
            <a:avLst>
              <a:gd name="adj" fmla="val 4706"/>
            </a:avLst>
          </a:prstGeom>
          <a:solidFill>
            <a:srgbClr val="F5F7FC"/>
          </a:solidFill>
          <a:ln w="12700">
            <a:solidFill>
              <a:srgbClr val="CADCFC"/>
            </a:solidFill>
            <a:prstDash val="solid"/>
          </a:ln>
        </p:spPr>
      </p:sp>
      <p:sp>
        <p:nvSpPr>
          <p:cNvPr id="11" name="Text 7"/>
          <p:cNvSpPr/>
          <p:nvPr/>
        </p:nvSpPr>
        <p:spPr>
          <a:xfrm>
            <a:off x="822960" y="4389120"/>
            <a:ext cx="10607040" cy="1280160"/>
          </a:xfrm>
          <a:prstGeom prst="rect">
            <a:avLst/>
          </a:prstGeom>
          <a:noFill/>
          <a:ln/>
        </p:spPr>
        <p:txBody>
          <a:bodyPr wrap="square" rtlCol="0" anchor="t"/>
          <a:lstStyle/>
          <a:p>
            <a:pPr indent="0" marL="0">
              <a:lnSpc>
                <a:spcPct val="115000"/>
              </a:lnSpc>
              <a:buNone/>
            </a:pPr>
            <a:r>
              <a:rPr lang="en-US" sz="1200" dirty="0">
                <a:solidFill>
                  <a:srgbClr val="1F2430"/>
                </a:solidFill>
                <a:latin typeface="Calibri" pitchFamily="34" charset="0"/>
                <a:ea typeface="Calibri" pitchFamily="34" charset="-122"/>
                <a:cs typeface="Calibri" pitchFamily="34" charset="-120"/>
              </a:rPr>
              <a:t>Two things stand out: (1) queries getting impressions are almost all hyper-local Nashik/MPSC terms and average position 50-90 — page 5-9 of Google, well below where clicks start. (2) The homepage's best position (4.3) barely earns impressions, meaning even reasonably-ranked pages aren't matched to enough real search demand yet. Content depth and internal linking around high-intent "[exam/dept] recruitment 2026" terms is the fastest lever to move position 50-90 pages toward page 1.</a:t>
            </a:r>
            <a:endParaRPr lang="en-US" sz="1200" dirty="0"/>
          </a:p>
        </p:txBody>
      </p:sp>
      <p:sp>
        <p:nvSpPr>
          <p:cNvPr id="12"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3" name="Text 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Devices &amp; Countries (Search)</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Impression share  •  Last 28 days</a:t>
            </a:r>
            <a:endParaRPr lang="en-US" sz="1300" dirty="0"/>
          </a:p>
        </p:txBody>
      </p:sp>
      <p:graphicFrame>
        <p:nvGraphicFramePr>
          <p:cNvPr id="4" name="Chart 0" descr=""/>
          <p:cNvGraphicFramePr/>
          <p:nvPr/>
        </p:nvGraphicFramePr>
        <p:xfrm>
          <a:off x="548640" y="1463040"/>
          <a:ext cx="521208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4434840"/>
            <a:ext cx="5212080" cy="64008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Desktop position avg: 56.4  |  Mobile position avg: 39.1 — mobile pages rank noticeably better; worth auditing why desktop lags.</a:t>
            </a:r>
            <a:endParaRPr lang="en-US" sz="1050" dirty="0"/>
          </a:p>
        </p:txBody>
      </p:sp>
      <p:graphicFrame>
        <p:nvGraphicFramePr>
          <p:cNvPr id="6" name="Chart 1" descr=""/>
          <p:cNvGraphicFramePr/>
          <p:nvPr/>
        </p:nvGraphicFramePr>
        <p:xfrm>
          <a:off x="6035040" y="1463040"/>
          <a:ext cx="5623560" cy="36576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8"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Indexing &amp; Coverage Snapshot</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All known pages (sitemap)  •  As of 24 Jul 2026</a:t>
            </a:r>
            <a:endParaRPr lang="en-US" sz="1300" dirty="0"/>
          </a:p>
        </p:txBody>
      </p:sp>
      <p:graphicFrame>
        <p:nvGraphicFramePr>
          <p:cNvPr id="4" name="Chart 0" descr=""/>
          <p:cNvGraphicFramePr/>
          <p:nvPr/>
        </p:nvGraphicFramePr>
        <p:xfrm>
          <a:off x="548640" y="1371600"/>
          <a:ext cx="512064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2788920"/>
            <a:ext cx="5120640" cy="548640"/>
          </a:xfrm>
          <a:prstGeom prst="rect">
            <a:avLst/>
          </a:prstGeom>
          <a:noFill/>
          <a:ln/>
        </p:spPr>
        <p:txBody>
          <a:bodyPr wrap="square" rtlCol="0" anchor="ctr"/>
          <a:lstStyle/>
          <a:p>
            <a:pPr algn="ctr" indent="0" marL="0">
              <a:buNone/>
            </a:pPr>
            <a:r>
              <a:rPr lang="en-US" sz="2600" b="1" dirty="0">
                <a:solidFill>
                  <a:srgbClr val="02C39A"/>
                </a:solidFill>
                <a:latin typeface="Cambria" pitchFamily="34" charset="0"/>
                <a:ea typeface="Cambria" pitchFamily="34" charset="-122"/>
                <a:cs typeface="Cambria" pitchFamily="34" charset="-120"/>
              </a:rPr>
              <a:t>27%</a:t>
            </a:r>
            <a:endParaRPr lang="en-US" sz="2600" dirty="0"/>
          </a:p>
        </p:txBody>
      </p:sp>
      <p:sp>
        <p:nvSpPr>
          <p:cNvPr id="6" name="Text 3"/>
          <p:cNvSpPr/>
          <p:nvPr/>
        </p:nvSpPr>
        <p:spPr>
          <a:xfrm>
            <a:off x="548640" y="3291840"/>
            <a:ext cx="5120640" cy="27432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of crawled pages are indexed</a:t>
            </a:r>
            <a:endParaRPr lang="en-US" sz="1050" dirty="0"/>
          </a:p>
        </p:txBody>
      </p:sp>
      <p:sp>
        <p:nvSpPr>
          <p:cNvPr id="7" name="Shape 4"/>
          <p:cNvSpPr/>
          <p:nvPr/>
        </p:nvSpPr>
        <p:spPr>
          <a:xfrm>
            <a:off x="6035040" y="1371600"/>
            <a:ext cx="5623560" cy="3840480"/>
          </a:xfrm>
          <a:prstGeom prst="roundRect">
            <a:avLst>
              <a:gd name="adj" fmla="val 1905"/>
            </a:avLst>
          </a:prstGeom>
          <a:solidFill>
            <a:srgbClr val="F5F7FC"/>
          </a:solidFill>
          <a:ln w="12700">
            <a:solidFill>
              <a:srgbClr val="CADCFC"/>
            </a:solidFill>
            <a:prstDash val="solid"/>
          </a:ln>
        </p:spPr>
      </p:sp>
      <p:sp>
        <p:nvSpPr>
          <p:cNvPr id="8" name="Text 5"/>
          <p:cNvSpPr/>
          <p:nvPr/>
        </p:nvSpPr>
        <p:spPr>
          <a:xfrm>
            <a:off x="6309360" y="1508760"/>
            <a:ext cx="512064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pages are excluded</a:t>
            </a:r>
            <a:endParaRPr lang="en-US" sz="1400" dirty="0"/>
          </a:p>
        </p:txBody>
      </p:sp>
      <p:sp>
        <p:nvSpPr>
          <p:cNvPr id="9" name="Text 6"/>
          <p:cNvSpPr/>
          <p:nvPr/>
        </p:nvSpPr>
        <p:spPr>
          <a:xfrm>
            <a:off x="6309360" y="1874520"/>
            <a:ext cx="640080" cy="457200"/>
          </a:xfrm>
          <a:prstGeom prst="rect">
            <a:avLst/>
          </a:prstGeom>
          <a:noFill/>
          <a:ln/>
        </p:spPr>
        <p:txBody>
          <a:bodyPr wrap="square"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932</a:t>
            </a:r>
            <a:endParaRPr lang="en-US" sz="1500" dirty="0"/>
          </a:p>
        </p:txBody>
      </p:sp>
      <p:sp>
        <p:nvSpPr>
          <p:cNvPr id="10" name="Text 7"/>
          <p:cNvSpPr/>
          <p:nvPr/>
        </p:nvSpPr>
        <p:spPr>
          <a:xfrm>
            <a:off x="6995160" y="1874520"/>
            <a:ext cx="4572000" cy="228600"/>
          </a:xfrm>
          <a:prstGeom prst="rect">
            <a:avLst/>
          </a:prstGeom>
          <a:noFill/>
          <a:ln/>
        </p:spPr>
        <p:txBody>
          <a:bodyPr wrap="square" rtlCol="0" anchor="ctr"/>
          <a:lstStyle/>
          <a:p>
            <a:pPr indent="0" marL="0">
              <a:buNone/>
            </a:pPr>
            <a:r>
              <a:rPr lang="en-US" sz="1100" b="1" dirty="0">
                <a:solidFill>
                  <a:srgbClr val="1F2430"/>
                </a:solidFill>
                <a:latin typeface="Calibri" pitchFamily="34" charset="0"/>
                <a:ea typeface="Calibri" pitchFamily="34" charset="-122"/>
                <a:cs typeface="Calibri" pitchFamily="34" charset="-120"/>
              </a:rPr>
              <a:t>Discovered, currently not indexed</a:t>
            </a:r>
            <a:endParaRPr lang="en-US" sz="1100" dirty="0"/>
          </a:p>
        </p:txBody>
      </p:sp>
      <p:sp>
        <p:nvSpPr>
          <p:cNvPr id="11" name="Text 8"/>
          <p:cNvSpPr/>
          <p:nvPr/>
        </p:nvSpPr>
        <p:spPr>
          <a:xfrm>
            <a:off x="6995160" y="2093976"/>
            <a:ext cx="4572000" cy="36576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Google knows the URL but hasn't crawled/indexed it — crawl budget or low perceived value</a:t>
            </a:r>
            <a:endParaRPr lang="en-US" sz="900" dirty="0"/>
          </a:p>
        </p:txBody>
      </p:sp>
      <p:sp>
        <p:nvSpPr>
          <p:cNvPr id="12" name="Text 9"/>
          <p:cNvSpPr/>
          <p:nvPr/>
        </p:nvSpPr>
        <p:spPr>
          <a:xfrm>
            <a:off x="6309360" y="2478024"/>
            <a:ext cx="640080" cy="457200"/>
          </a:xfrm>
          <a:prstGeom prst="rect">
            <a:avLst/>
          </a:prstGeom>
          <a:noFill/>
          <a:ln/>
        </p:spPr>
        <p:txBody>
          <a:bodyPr wrap="square"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607</a:t>
            </a:r>
            <a:endParaRPr lang="en-US" sz="1500" dirty="0"/>
          </a:p>
        </p:txBody>
      </p:sp>
      <p:sp>
        <p:nvSpPr>
          <p:cNvPr id="13" name="Text 10"/>
          <p:cNvSpPr/>
          <p:nvPr/>
        </p:nvSpPr>
        <p:spPr>
          <a:xfrm>
            <a:off x="6995160" y="2478024"/>
            <a:ext cx="4572000" cy="228600"/>
          </a:xfrm>
          <a:prstGeom prst="rect">
            <a:avLst/>
          </a:prstGeom>
          <a:noFill/>
          <a:ln/>
        </p:spPr>
        <p:txBody>
          <a:bodyPr wrap="square" rtlCol="0" anchor="ctr"/>
          <a:lstStyle/>
          <a:p>
            <a:pPr indent="0" marL="0">
              <a:buNone/>
            </a:pPr>
            <a:r>
              <a:rPr lang="en-US" sz="1100" b="1" dirty="0">
                <a:solidFill>
                  <a:srgbClr val="1F2430"/>
                </a:solidFill>
                <a:latin typeface="Calibri" pitchFamily="34" charset="0"/>
                <a:ea typeface="Calibri" pitchFamily="34" charset="-122"/>
                <a:cs typeface="Calibri" pitchFamily="34" charset="-120"/>
              </a:rPr>
              <a:t>Not found (404)</a:t>
            </a:r>
            <a:endParaRPr lang="en-US" sz="1100" dirty="0"/>
          </a:p>
        </p:txBody>
      </p:sp>
      <p:sp>
        <p:nvSpPr>
          <p:cNvPr id="14" name="Text 11"/>
          <p:cNvSpPr/>
          <p:nvPr/>
        </p:nvSpPr>
        <p:spPr>
          <a:xfrm>
            <a:off x="6995160" y="2697480"/>
            <a:ext cx="4572000" cy="36576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Broken/removed URLs still being requested</a:t>
            </a:r>
            <a:endParaRPr lang="en-US" sz="900" dirty="0"/>
          </a:p>
        </p:txBody>
      </p:sp>
      <p:sp>
        <p:nvSpPr>
          <p:cNvPr id="15" name="Text 12"/>
          <p:cNvSpPr/>
          <p:nvPr/>
        </p:nvSpPr>
        <p:spPr>
          <a:xfrm>
            <a:off x="6309360" y="3081528"/>
            <a:ext cx="640080" cy="457200"/>
          </a:xfrm>
          <a:prstGeom prst="rect">
            <a:avLst/>
          </a:prstGeom>
          <a:noFill/>
          <a:ln/>
        </p:spPr>
        <p:txBody>
          <a:bodyPr wrap="square"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116</a:t>
            </a:r>
            <a:endParaRPr lang="en-US" sz="1500" dirty="0"/>
          </a:p>
        </p:txBody>
      </p:sp>
      <p:sp>
        <p:nvSpPr>
          <p:cNvPr id="16" name="Text 13"/>
          <p:cNvSpPr/>
          <p:nvPr/>
        </p:nvSpPr>
        <p:spPr>
          <a:xfrm>
            <a:off x="6995160" y="3081528"/>
            <a:ext cx="4572000" cy="228600"/>
          </a:xfrm>
          <a:prstGeom prst="rect">
            <a:avLst/>
          </a:prstGeom>
          <a:noFill/>
          <a:ln/>
        </p:spPr>
        <p:txBody>
          <a:bodyPr wrap="square" rtlCol="0" anchor="ctr"/>
          <a:lstStyle/>
          <a:p>
            <a:pPr indent="0" marL="0">
              <a:buNone/>
            </a:pPr>
            <a:r>
              <a:rPr lang="en-US" sz="1100" b="1" dirty="0">
                <a:solidFill>
                  <a:srgbClr val="1F2430"/>
                </a:solidFill>
                <a:latin typeface="Calibri" pitchFamily="34" charset="0"/>
                <a:ea typeface="Calibri" pitchFamily="34" charset="-122"/>
                <a:cs typeface="Calibri" pitchFamily="34" charset="-120"/>
              </a:rPr>
              <a:t>Crawled – currently not indexed</a:t>
            </a:r>
            <a:endParaRPr lang="en-US" sz="1100" dirty="0"/>
          </a:p>
        </p:txBody>
      </p:sp>
      <p:sp>
        <p:nvSpPr>
          <p:cNvPr id="17" name="Text 14"/>
          <p:cNvSpPr/>
          <p:nvPr/>
        </p:nvSpPr>
        <p:spPr>
          <a:xfrm>
            <a:off x="6995160" y="3300984"/>
            <a:ext cx="4572000" cy="36576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Crawled but judged not worth indexing — content quality signal</a:t>
            </a:r>
            <a:endParaRPr lang="en-US" sz="900" dirty="0"/>
          </a:p>
        </p:txBody>
      </p:sp>
      <p:sp>
        <p:nvSpPr>
          <p:cNvPr id="18" name="Text 15"/>
          <p:cNvSpPr/>
          <p:nvPr/>
        </p:nvSpPr>
        <p:spPr>
          <a:xfrm>
            <a:off x="6309360" y="3685032"/>
            <a:ext cx="640080" cy="457200"/>
          </a:xfrm>
          <a:prstGeom prst="rect">
            <a:avLst/>
          </a:prstGeom>
          <a:noFill/>
          <a:ln/>
        </p:spPr>
        <p:txBody>
          <a:bodyPr wrap="square"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82</a:t>
            </a:r>
            <a:endParaRPr lang="en-US" sz="1500" dirty="0"/>
          </a:p>
        </p:txBody>
      </p:sp>
      <p:sp>
        <p:nvSpPr>
          <p:cNvPr id="19" name="Text 16"/>
          <p:cNvSpPr/>
          <p:nvPr/>
        </p:nvSpPr>
        <p:spPr>
          <a:xfrm>
            <a:off x="6995160" y="3685032"/>
            <a:ext cx="4572000" cy="228600"/>
          </a:xfrm>
          <a:prstGeom prst="rect">
            <a:avLst/>
          </a:prstGeom>
          <a:noFill/>
          <a:ln/>
        </p:spPr>
        <p:txBody>
          <a:bodyPr wrap="square" rtlCol="0" anchor="ctr"/>
          <a:lstStyle/>
          <a:p>
            <a:pPr indent="0" marL="0">
              <a:buNone/>
            </a:pPr>
            <a:r>
              <a:rPr lang="en-US" sz="1100" b="1" dirty="0">
                <a:solidFill>
                  <a:srgbClr val="1F2430"/>
                </a:solidFill>
                <a:latin typeface="Calibri" pitchFamily="34" charset="0"/>
                <a:ea typeface="Calibri" pitchFamily="34" charset="-122"/>
                <a:cs typeface="Calibri" pitchFamily="34" charset="-120"/>
              </a:rPr>
              <a:t>Soft 404</a:t>
            </a:r>
            <a:endParaRPr lang="en-US" sz="1100" dirty="0"/>
          </a:p>
        </p:txBody>
      </p:sp>
      <p:sp>
        <p:nvSpPr>
          <p:cNvPr id="20" name="Text 17"/>
          <p:cNvSpPr/>
          <p:nvPr/>
        </p:nvSpPr>
        <p:spPr>
          <a:xfrm>
            <a:off x="6995160" y="3904488"/>
            <a:ext cx="4572000" cy="36576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Pages that look empty/error-like to Google</a:t>
            </a:r>
            <a:endParaRPr lang="en-US" sz="900" dirty="0"/>
          </a:p>
        </p:txBody>
      </p:sp>
      <p:sp>
        <p:nvSpPr>
          <p:cNvPr id="21" name="Text 18"/>
          <p:cNvSpPr/>
          <p:nvPr/>
        </p:nvSpPr>
        <p:spPr>
          <a:xfrm>
            <a:off x="6309360" y="4288536"/>
            <a:ext cx="640080" cy="457200"/>
          </a:xfrm>
          <a:prstGeom prst="rect">
            <a:avLst/>
          </a:prstGeom>
          <a:noFill/>
          <a:ln/>
        </p:spPr>
        <p:txBody>
          <a:bodyPr wrap="square"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60</a:t>
            </a:r>
            <a:endParaRPr lang="en-US" sz="1500" dirty="0"/>
          </a:p>
        </p:txBody>
      </p:sp>
      <p:sp>
        <p:nvSpPr>
          <p:cNvPr id="22" name="Text 19"/>
          <p:cNvSpPr/>
          <p:nvPr/>
        </p:nvSpPr>
        <p:spPr>
          <a:xfrm>
            <a:off x="6995160" y="4288536"/>
            <a:ext cx="4572000" cy="228600"/>
          </a:xfrm>
          <a:prstGeom prst="rect">
            <a:avLst/>
          </a:prstGeom>
          <a:noFill/>
          <a:ln/>
        </p:spPr>
        <p:txBody>
          <a:bodyPr wrap="square" rtlCol="0" anchor="ctr"/>
          <a:lstStyle/>
          <a:p>
            <a:pPr indent="0" marL="0">
              <a:buNone/>
            </a:pPr>
            <a:r>
              <a:rPr lang="en-US" sz="1100" b="1" dirty="0">
                <a:solidFill>
                  <a:srgbClr val="1F2430"/>
                </a:solidFill>
                <a:latin typeface="Calibri" pitchFamily="34" charset="0"/>
                <a:ea typeface="Calibri" pitchFamily="34" charset="-122"/>
                <a:cs typeface="Calibri" pitchFamily="34" charset="-120"/>
              </a:rPr>
              <a:t>Excluded by 'noindex' tag</a:t>
            </a:r>
            <a:endParaRPr lang="en-US" sz="1100" dirty="0"/>
          </a:p>
        </p:txBody>
      </p:sp>
      <p:sp>
        <p:nvSpPr>
          <p:cNvPr id="23" name="Text 20"/>
          <p:cNvSpPr/>
          <p:nvPr/>
        </p:nvSpPr>
        <p:spPr>
          <a:xfrm>
            <a:off x="6995160" y="4507992"/>
            <a:ext cx="4572000" cy="36576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Intentionally blocked — verify this is correct</a:t>
            </a:r>
            <a:endParaRPr lang="en-US" sz="900" dirty="0"/>
          </a:p>
        </p:txBody>
      </p:sp>
      <p:sp>
        <p:nvSpPr>
          <p:cNvPr id="24"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25" name="Text 22"/>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Month-over-Month Indexing Trend</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Average daily pages by month, from Search Console coverage history</a:t>
            </a:r>
            <a:endParaRPr lang="en-US" sz="1300" dirty="0"/>
          </a:p>
        </p:txBody>
      </p:sp>
      <p:graphicFrame>
        <p:nvGraphicFramePr>
          <p:cNvPr id="4" name="Chart 0" descr=""/>
          <p:cNvGraphicFramePr/>
          <p:nvPr/>
        </p:nvGraphicFramePr>
        <p:xfrm>
          <a:off x="548640" y="141732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417320"/>
            <a:ext cx="4389120" cy="3566160"/>
          </a:xfrm>
          <a:prstGeom prst="roundRect">
            <a:avLst>
              <a:gd name="adj" fmla="val 2051"/>
            </a:avLst>
          </a:prstGeom>
          <a:solidFill>
            <a:srgbClr val="FDEDEA"/>
          </a:solidFill>
          <a:ln w="12700">
            <a:solidFill>
              <a:srgbClr val="E4572E"/>
            </a:solidFill>
            <a:prstDash val="solid"/>
          </a:ln>
        </p:spPr>
      </p:sp>
      <p:sp>
        <p:nvSpPr>
          <p:cNvPr id="6" name="Text 3"/>
          <p:cNvSpPr/>
          <p:nvPr/>
        </p:nvSpPr>
        <p:spPr>
          <a:xfrm>
            <a:off x="7498080" y="1554480"/>
            <a:ext cx="3931920" cy="502920"/>
          </a:xfrm>
          <a:prstGeom prst="rect">
            <a:avLst/>
          </a:prstGeom>
          <a:noFill/>
          <a:ln/>
        </p:spPr>
        <p:txBody>
          <a:bodyPr wrap="square" rtlCol="0" anchor="ctr"/>
          <a:lstStyle/>
          <a:p>
            <a:pPr indent="0" marL="0">
              <a:buNone/>
            </a:pPr>
            <a:r>
              <a:rPr lang="en-US" sz="1250" b="1" dirty="0">
                <a:solidFill>
                  <a:srgbClr val="E4572E"/>
                </a:solidFill>
                <a:latin typeface="Calibri" pitchFamily="34" charset="0"/>
                <a:ea typeface="Calibri" pitchFamily="34" charset="-122"/>
                <a:cs typeface="Calibri" pitchFamily="34" charset="-120"/>
              </a:rPr>
              <a:t>Monthly Google impressions (sitewide)</a:t>
            </a:r>
            <a:endParaRPr lang="en-US" sz="1250" dirty="0"/>
          </a:p>
        </p:txBody>
      </p:sp>
      <p:sp>
        <p:nvSpPr>
          <p:cNvPr id="7" name="Text 4"/>
          <p:cNvSpPr/>
          <p:nvPr/>
        </p:nvSpPr>
        <p:spPr>
          <a:xfrm>
            <a:off x="7498080" y="2148840"/>
            <a:ext cx="393192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May: 83</a:t>
            </a:r>
            <a:endParaRPr lang="en-US" sz="1500" dirty="0"/>
          </a:p>
        </p:txBody>
      </p:sp>
      <p:sp>
        <p:nvSpPr>
          <p:cNvPr id="8" name="Text 5"/>
          <p:cNvSpPr/>
          <p:nvPr/>
        </p:nvSpPr>
        <p:spPr>
          <a:xfrm>
            <a:off x="7498080" y="2651760"/>
            <a:ext cx="393192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June: 87</a:t>
            </a:r>
            <a:endParaRPr lang="en-US" sz="1500" dirty="0"/>
          </a:p>
        </p:txBody>
      </p:sp>
      <p:sp>
        <p:nvSpPr>
          <p:cNvPr id="9" name="Text 6"/>
          <p:cNvSpPr/>
          <p:nvPr/>
        </p:nvSpPr>
        <p:spPr>
          <a:xfrm>
            <a:off x="7498080" y="3154680"/>
            <a:ext cx="393192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July: 28</a:t>
            </a:r>
            <a:endParaRPr lang="en-US" sz="1500" dirty="0"/>
          </a:p>
        </p:txBody>
      </p:sp>
      <p:sp>
        <p:nvSpPr>
          <p:cNvPr id="10" name="Text 7"/>
          <p:cNvSpPr/>
          <p:nvPr/>
        </p:nvSpPr>
        <p:spPr>
          <a:xfrm>
            <a:off x="7498080" y="3794760"/>
            <a:ext cx="3977640" cy="1097280"/>
          </a:xfrm>
          <a:prstGeom prst="rect">
            <a:avLst/>
          </a:prstGeom>
          <a:noFill/>
          <a:ln/>
        </p:spPr>
        <p:txBody>
          <a:bodyPr wrap="square" rtlCol="0" anchor="t"/>
          <a:lstStyle/>
          <a:p>
            <a:pPr indent="0" marL="0">
              <a:lnSpc>
                <a:spcPct val="110000"/>
              </a:lnSpc>
              <a:buNone/>
            </a:pPr>
            <a:r>
              <a:rPr lang="en-US" sz="1050" dirty="0">
                <a:solidFill>
                  <a:srgbClr val="1F2430"/>
                </a:solidFill>
                <a:latin typeface="Calibri" pitchFamily="34" charset="0"/>
                <a:ea typeface="Calibri" pitchFamily="34" charset="-122"/>
                <a:cs typeface="Calibri" pitchFamily="34" charset="-120"/>
              </a:rPr>
              <a:t>Not-indexed pages grew 15x (116 → 1,735 avg/day) while indexed pages barely moved after June, and total impressions fell 66% from May to July. More pages are not producing more visibility — the growth is diluting crawl budget instead of adding rankable content.</a:t>
            </a:r>
            <a:endParaRPr lang="en-US" sz="10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2" name="Text 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Critical Indexing Issues — Full Breakdown</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Pages affected by reason, sitewide sitemap  •  24 Jul 2026</a:t>
            </a:r>
            <a:endParaRPr lang="en-US" sz="1300" dirty="0"/>
          </a:p>
        </p:txBody>
      </p:sp>
      <p:graphicFrame>
        <p:nvGraphicFramePr>
          <p:cNvPr id="4" name="Chart 0" descr=""/>
          <p:cNvGraphicFramePr/>
          <p:nvPr/>
        </p:nvGraphicFramePr>
        <p:xfrm>
          <a:off x="548640" y="1417320"/>
          <a:ext cx="1110996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6"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Root Cause Diagnosis</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Connecting the GA4, Search Console, and Coverage findings</a:t>
            </a:r>
            <a:endParaRPr lang="en-US" sz="1300" dirty="0"/>
          </a:p>
        </p:txBody>
      </p:sp>
      <p:sp>
        <p:nvSpPr>
          <p:cNvPr id="4" name="Shape 2"/>
          <p:cNvSpPr/>
          <p:nvPr/>
        </p:nvSpPr>
        <p:spPr>
          <a:xfrm>
            <a:off x="548640" y="1417320"/>
            <a:ext cx="11109960" cy="1143000"/>
          </a:xfrm>
          <a:prstGeom prst="roundRect">
            <a:avLst>
              <a:gd name="adj" fmla="val 4800"/>
            </a:avLst>
          </a:prstGeom>
          <a:solidFill>
            <a:srgbClr val="F5F7FC"/>
          </a:solidFill>
          <a:ln w="12700">
            <a:solidFill>
              <a:srgbClr val="CADCFC"/>
            </a:solidFill>
            <a:prstDash val="solid"/>
          </a:ln>
        </p:spPr>
      </p:sp>
      <p:sp>
        <p:nvSpPr>
          <p:cNvPr id="5" name="Shape 3"/>
          <p:cNvSpPr/>
          <p:nvPr/>
        </p:nvSpPr>
        <p:spPr>
          <a:xfrm>
            <a:off x="777240" y="1600200"/>
            <a:ext cx="457200" cy="457200"/>
          </a:xfrm>
          <a:prstGeom prst="ellipse">
            <a:avLst/>
          </a:prstGeom>
          <a:solidFill>
            <a:srgbClr val="E4572E"/>
          </a:solidFill>
          <a:ln/>
        </p:spPr>
      </p:sp>
      <p:sp>
        <p:nvSpPr>
          <p:cNvPr id="6" name="Text 4"/>
          <p:cNvSpPr/>
          <p:nvPr/>
        </p:nvSpPr>
        <p:spPr>
          <a:xfrm>
            <a:off x="777240" y="16002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508760"/>
            <a:ext cx="996696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Programmatic page growth outpacing quality</a:t>
            </a:r>
            <a:endParaRPr lang="en-US" sz="1350" dirty="0"/>
          </a:p>
        </p:txBody>
      </p:sp>
      <p:sp>
        <p:nvSpPr>
          <p:cNvPr id="8" name="Text 6"/>
          <p:cNvSpPr/>
          <p:nvPr/>
        </p:nvSpPr>
        <p:spPr>
          <a:xfrm>
            <a:off x="1417320" y="1837944"/>
            <a:ext cx="9966960" cy="640080"/>
          </a:xfrm>
          <a:prstGeom prst="rect">
            <a:avLst/>
          </a:prstGeom>
          <a:noFill/>
          <a:ln/>
        </p:spPr>
        <p:txBody>
          <a:bodyPr wrap="square" rtlCol="0" anchor="t"/>
          <a:lstStyle/>
          <a:p>
            <a:pPr indent="0" marL="0">
              <a:lnSpc>
                <a:spcPct val="110000"/>
              </a:lnSpc>
              <a:buNone/>
            </a:pPr>
            <a:r>
              <a:rPr lang="en-US" sz="1100" dirty="0">
                <a:solidFill>
                  <a:srgbClr val="1F2430"/>
                </a:solidFill>
                <a:latin typeface="Calibri" pitchFamily="34" charset="0"/>
                <a:ea typeface="Calibri" pitchFamily="34" charset="-122"/>
                <a:cs typeface="Calibri" pitchFamily="34" charset="-120"/>
              </a:rPr>
              <a:t>607 URLs return 404 and 932 sit "discovered, not indexed" — the site is generating district/job/category URL combinations faster than Google will trust and crawl them.</a:t>
            </a:r>
            <a:endParaRPr lang="en-US" sz="1100" dirty="0"/>
          </a:p>
        </p:txBody>
      </p:sp>
      <p:sp>
        <p:nvSpPr>
          <p:cNvPr id="9" name="Shape 7"/>
          <p:cNvSpPr/>
          <p:nvPr/>
        </p:nvSpPr>
        <p:spPr>
          <a:xfrm>
            <a:off x="548640" y="2697480"/>
            <a:ext cx="11109960" cy="1143000"/>
          </a:xfrm>
          <a:prstGeom prst="roundRect">
            <a:avLst>
              <a:gd name="adj" fmla="val 4800"/>
            </a:avLst>
          </a:prstGeom>
          <a:solidFill>
            <a:srgbClr val="F5F7FC"/>
          </a:solidFill>
          <a:ln w="12700">
            <a:solidFill>
              <a:srgbClr val="CADCFC"/>
            </a:solidFill>
            <a:prstDash val="solid"/>
          </a:ln>
        </p:spPr>
      </p:sp>
      <p:sp>
        <p:nvSpPr>
          <p:cNvPr id="10" name="Shape 8"/>
          <p:cNvSpPr/>
          <p:nvPr/>
        </p:nvSpPr>
        <p:spPr>
          <a:xfrm>
            <a:off x="777240" y="2880360"/>
            <a:ext cx="457200" cy="457200"/>
          </a:xfrm>
          <a:prstGeom prst="ellipse">
            <a:avLst/>
          </a:prstGeom>
          <a:solidFill>
            <a:srgbClr val="E4572E"/>
          </a:solidFill>
          <a:ln/>
        </p:spPr>
      </p:sp>
      <p:sp>
        <p:nvSpPr>
          <p:cNvPr id="11" name="Text 9"/>
          <p:cNvSpPr/>
          <p:nvPr/>
        </p:nvSpPr>
        <p:spPr>
          <a:xfrm>
            <a:off x="777240" y="28803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417320" y="2788920"/>
            <a:ext cx="996696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Thin or duplicate content on job pages</a:t>
            </a:r>
            <a:endParaRPr lang="en-US" sz="1350" dirty="0"/>
          </a:p>
        </p:txBody>
      </p:sp>
      <p:sp>
        <p:nvSpPr>
          <p:cNvPr id="13" name="Text 11"/>
          <p:cNvSpPr/>
          <p:nvPr/>
        </p:nvSpPr>
        <p:spPr>
          <a:xfrm>
            <a:off x="1417320" y="3118104"/>
            <a:ext cx="9966960" cy="640080"/>
          </a:xfrm>
          <a:prstGeom prst="rect">
            <a:avLst/>
          </a:prstGeom>
          <a:noFill/>
          <a:ln/>
        </p:spPr>
        <p:txBody>
          <a:bodyPr wrap="square" rtlCol="0" anchor="t"/>
          <a:lstStyle/>
          <a:p>
            <a:pPr indent="0" marL="0">
              <a:lnSpc>
                <a:spcPct val="110000"/>
              </a:lnSpc>
              <a:buNone/>
            </a:pPr>
            <a:r>
              <a:rPr lang="en-US" sz="1100" dirty="0">
                <a:solidFill>
                  <a:srgbClr val="1F2430"/>
                </a:solidFill>
                <a:latin typeface="Calibri" pitchFamily="34" charset="0"/>
                <a:ea typeface="Calibri" pitchFamily="34" charset="-122"/>
                <a:cs typeface="Calibri" pitchFamily="34" charset="-120"/>
              </a:rPr>
              <a:t>116 pages were crawled and rejected outright, and several duplicate-canonical conflicts appear. Many job-detail URLs likely carry near-identical templated content.</a:t>
            </a:r>
            <a:endParaRPr lang="en-US" sz="1100" dirty="0"/>
          </a:p>
        </p:txBody>
      </p:sp>
      <p:sp>
        <p:nvSpPr>
          <p:cNvPr id="14" name="Shape 12"/>
          <p:cNvSpPr/>
          <p:nvPr/>
        </p:nvSpPr>
        <p:spPr>
          <a:xfrm>
            <a:off x="548640" y="3977640"/>
            <a:ext cx="11109960" cy="1143000"/>
          </a:xfrm>
          <a:prstGeom prst="roundRect">
            <a:avLst>
              <a:gd name="adj" fmla="val 4800"/>
            </a:avLst>
          </a:prstGeom>
          <a:solidFill>
            <a:srgbClr val="F5F7FC"/>
          </a:solidFill>
          <a:ln w="12700">
            <a:solidFill>
              <a:srgbClr val="CADCFC"/>
            </a:solidFill>
            <a:prstDash val="solid"/>
          </a:ln>
        </p:spPr>
      </p:sp>
      <p:sp>
        <p:nvSpPr>
          <p:cNvPr id="15" name="Shape 13"/>
          <p:cNvSpPr/>
          <p:nvPr/>
        </p:nvSpPr>
        <p:spPr>
          <a:xfrm>
            <a:off x="777240" y="4160520"/>
            <a:ext cx="457200" cy="457200"/>
          </a:xfrm>
          <a:prstGeom prst="ellipse">
            <a:avLst/>
          </a:prstGeom>
          <a:solidFill>
            <a:srgbClr val="9333A6"/>
          </a:solidFill>
          <a:ln/>
        </p:spPr>
      </p:sp>
      <p:sp>
        <p:nvSpPr>
          <p:cNvPr id="16" name="Text 14"/>
          <p:cNvSpPr/>
          <p:nvPr/>
        </p:nvSpPr>
        <p:spPr>
          <a:xfrm>
            <a:off x="777240" y="416052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17320" y="4069080"/>
            <a:ext cx="996696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Traffic quality cannot be trusted yet</a:t>
            </a:r>
            <a:endParaRPr lang="en-US" sz="1350" dirty="0"/>
          </a:p>
        </p:txBody>
      </p:sp>
      <p:sp>
        <p:nvSpPr>
          <p:cNvPr id="18" name="Text 16"/>
          <p:cNvSpPr/>
          <p:nvPr/>
        </p:nvSpPr>
        <p:spPr>
          <a:xfrm>
            <a:off x="1417320" y="4398264"/>
            <a:ext cx="9966960" cy="640080"/>
          </a:xfrm>
          <a:prstGeom prst="rect">
            <a:avLst/>
          </a:prstGeom>
          <a:noFill/>
          <a:ln/>
        </p:spPr>
        <p:txBody>
          <a:bodyPr wrap="square" rtlCol="0" anchor="t"/>
          <a:lstStyle/>
          <a:p>
            <a:pPr indent="0" marL="0">
              <a:lnSpc>
                <a:spcPct val="110000"/>
              </a:lnSpc>
              <a:buNone/>
            </a:pPr>
            <a:r>
              <a:rPr lang="en-US" sz="1100" dirty="0">
                <a:solidFill>
                  <a:srgbClr val="1F2430"/>
                </a:solidFill>
                <a:latin typeface="Calibri" pitchFamily="34" charset="0"/>
                <a:ea typeface="Calibri" pitchFamily="34" charset="-122"/>
                <a:cs typeface="Calibri" pitchFamily="34" charset="-120"/>
              </a:rPr>
              <a:t>87% of GA4 sessions are "Direct" with a 12.8% engagement rate, and 75% of users geolocate to Singapore for an India-focused jobs site — analytics needs a bot-filter/IP audit before it drives decisions.</a:t>
            </a:r>
            <a:endParaRPr lang="en-US" sz="1100" dirty="0"/>
          </a:p>
        </p:txBody>
      </p:sp>
      <p:sp>
        <p:nvSpPr>
          <p:cNvPr id="19" name="Shape 17"/>
          <p:cNvSpPr/>
          <p:nvPr/>
        </p:nvSpPr>
        <p:spPr>
          <a:xfrm>
            <a:off x="548640" y="5257800"/>
            <a:ext cx="11109960" cy="1143000"/>
          </a:xfrm>
          <a:prstGeom prst="roundRect">
            <a:avLst>
              <a:gd name="adj" fmla="val 4800"/>
            </a:avLst>
          </a:prstGeom>
          <a:solidFill>
            <a:srgbClr val="F5F7FC"/>
          </a:solidFill>
          <a:ln w="12700">
            <a:solidFill>
              <a:srgbClr val="CADCFC"/>
            </a:solidFill>
            <a:prstDash val="solid"/>
          </a:ln>
        </p:spPr>
      </p:sp>
      <p:sp>
        <p:nvSpPr>
          <p:cNvPr id="20" name="Shape 18"/>
          <p:cNvSpPr/>
          <p:nvPr/>
        </p:nvSpPr>
        <p:spPr>
          <a:xfrm>
            <a:off x="777240" y="5440680"/>
            <a:ext cx="457200" cy="457200"/>
          </a:xfrm>
          <a:prstGeom prst="ellipse">
            <a:avLst/>
          </a:prstGeom>
          <a:solidFill>
            <a:srgbClr val="E4572E"/>
          </a:solidFill>
          <a:ln/>
        </p:spPr>
      </p:sp>
      <p:sp>
        <p:nvSpPr>
          <p:cNvPr id="21" name="Text 19"/>
          <p:cNvSpPr/>
          <p:nvPr/>
        </p:nvSpPr>
        <p:spPr>
          <a:xfrm>
            <a:off x="777240" y="54406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417320" y="5349240"/>
            <a:ext cx="996696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Zero click-through despite real impressions</a:t>
            </a:r>
            <a:endParaRPr lang="en-US" sz="1350" dirty="0"/>
          </a:p>
        </p:txBody>
      </p:sp>
      <p:sp>
        <p:nvSpPr>
          <p:cNvPr id="23" name="Text 21"/>
          <p:cNvSpPr/>
          <p:nvPr/>
        </p:nvSpPr>
        <p:spPr>
          <a:xfrm>
            <a:off x="1417320" y="5678424"/>
            <a:ext cx="9966960" cy="640080"/>
          </a:xfrm>
          <a:prstGeom prst="rect">
            <a:avLst/>
          </a:prstGeom>
          <a:noFill/>
          <a:ln/>
        </p:spPr>
        <p:txBody>
          <a:bodyPr wrap="square" rtlCol="0" anchor="t"/>
          <a:lstStyle/>
          <a:p>
            <a:pPr indent="0" marL="0">
              <a:lnSpc>
                <a:spcPct val="110000"/>
              </a:lnSpc>
              <a:buNone/>
            </a:pPr>
            <a:r>
              <a:rPr lang="en-US" sz="1100" dirty="0">
                <a:solidFill>
                  <a:srgbClr val="1F2430"/>
                </a:solidFill>
                <a:latin typeface="Calibri" pitchFamily="34" charset="0"/>
                <a:ea typeface="Calibri" pitchFamily="34" charset="-122"/>
                <a:cs typeface="Calibri" pitchFamily="34" charset="-120"/>
              </a:rPr>
              <a:t>42 impressions and 0 clicks in 28 days, with ranking pages sitting around position 50-90 — well past where users click. This is a ranking/depth problem, not (yet) a CTR/snippet problem.</a:t>
            </a:r>
            <a:endParaRPr lang="en-US" sz="1100" dirty="0"/>
          </a:p>
        </p:txBody>
      </p:sp>
      <p:sp>
        <p:nvSpPr>
          <p:cNvPr id="24" name="Text 2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25" name="Text 2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Recommendations — Prioritized Action Plan</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Grouped by impact area</a:t>
            </a:r>
            <a:endParaRPr lang="en-US" sz="1300" dirty="0"/>
          </a:p>
        </p:txBody>
      </p:sp>
      <p:sp>
        <p:nvSpPr>
          <p:cNvPr id="4" name="Shape 2"/>
          <p:cNvSpPr/>
          <p:nvPr/>
        </p:nvSpPr>
        <p:spPr>
          <a:xfrm>
            <a:off x="548640" y="1417320"/>
            <a:ext cx="3611880" cy="3977640"/>
          </a:xfrm>
          <a:prstGeom prst="roundRect">
            <a:avLst>
              <a:gd name="adj" fmla="val 2025"/>
            </a:avLst>
          </a:prstGeom>
          <a:solidFill>
            <a:srgbClr val="FFFFFF"/>
          </a:solidFill>
          <a:ln w="15875">
            <a:solidFill>
              <a:srgbClr val="CADCFC"/>
            </a:solidFill>
            <a:prstDash val="solid"/>
          </a:ln>
        </p:spPr>
      </p:sp>
      <p:sp>
        <p:nvSpPr>
          <p:cNvPr id="5" name="Shape 3"/>
          <p:cNvSpPr/>
          <p:nvPr/>
        </p:nvSpPr>
        <p:spPr>
          <a:xfrm>
            <a:off x="548640" y="1417320"/>
            <a:ext cx="3611880" cy="457200"/>
          </a:xfrm>
          <a:prstGeom prst="rect">
            <a:avLst/>
          </a:prstGeom>
          <a:solidFill>
            <a:srgbClr val="E4572E"/>
          </a:solidFill>
          <a:ln/>
        </p:spPr>
      </p:sp>
      <p:sp>
        <p:nvSpPr>
          <p:cNvPr id="6" name="Text 4"/>
          <p:cNvSpPr/>
          <p:nvPr/>
        </p:nvSpPr>
        <p:spPr>
          <a:xfrm>
            <a:off x="685800" y="1417320"/>
            <a:ext cx="33375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Technical / Indexing</a:t>
            </a:r>
            <a:endParaRPr lang="en-US" sz="1300" dirty="0"/>
          </a:p>
        </p:txBody>
      </p:sp>
      <p:sp>
        <p:nvSpPr>
          <p:cNvPr id="7" name="Text 5"/>
          <p:cNvSpPr/>
          <p:nvPr/>
        </p:nvSpPr>
        <p:spPr>
          <a:xfrm>
            <a:off x="731520" y="2011680"/>
            <a:ext cx="3246120" cy="3246120"/>
          </a:xfrm>
          <a:prstGeom prst="rect">
            <a:avLst/>
          </a:prstGeom>
          <a:noFill/>
          <a:ln/>
        </p:spPr>
        <p:txBody>
          <a:bodyPr wrap="square" rtlCol="0" anchor="t"/>
          <a:lstStyle/>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Fix or 410 the 607 broken (404) URLs; remove internal links pointing to them</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Review the 932 "discovered, not indexed" URLs — consolidate thin district/job combinations before requesting indexing</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Audit the 82 soft-404 pages for empty job listings and either populate or noindex them</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Confirm the 60 noindex'd pages are intentional, not accidental template leaks</a:t>
            </a:r>
            <a:endParaRPr lang="en-US" sz="1050" dirty="0"/>
          </a:p>
        </p:txBody>
      </p:sp>
      <p:sp>
        <p:nvSpPr>
          <p:cNvPr id="8" name="Shape 6"/>
          <p:cNvSpPr/>
          <p:nvPr/>
        </p:nvSpPr>
        <p:spPr>
          <a:xfrm>
            <a:off x="4297680" y="1417320"/>
            <a:ext cx="3611880" cy="3977640"/>
          </a:xfrm>
          <a:prstGeom prst="roundRect">
            <a:avLst>
              <a:gd name="adj" fmla="val 2025"/>
            </a:avLst>
          </a:prstGeom>
          <a:solidFill>
            <a:srgbClr val="FFFFFF"/>
          </a:solidFill>
          <a:ln w="15875">
            <a:solidFill>
              <a:srgbClr val="CADCFC"/>
            </a:solidFill>
            <a:prstDash val="solid"/>
          </a:ln>
        </p:spPr>
      </p:sp>
      <p:sp>
        <p:nvSpPr>
          <p:cNvPr id="9" name="Shape 7"/>
          <p:cNvSpPr/>
          <p:nvPr/>
        </p:nvSpPr>
        <p:spPr>
          <a:xfrm>
            <a:off x="4297680" y="1417320"/>
            <a:ext cx="3611880" cy="457200"/>
          </a:xfrm>
          <a:prstGeom prst="rect">
            <a:avLst/>
          </a:prstGeom>
          <a:solidFill>
            <a:srgbClr val="1E2761"/>
          </a:solidFill>
          <a:ln/>
        </p:spPr>
      </p:sp>
      <p:sp>
        <p:nvSpPr>
          <p:cNvPr id="10" name="Text 8"/>
          <p:cNvSpPr/>
          <p:nvPr/>
        </p:nvSpPr>
        <p:spPr>
          <a:xfrm>
            <a:off x="4434840" y="1417320"/>
            <a:ext cx="33375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Content Quality</a:t>
            </a:r>
            <a:endParaRPr lang="en-US" sz="1300" dirty="0"/>
          </a:p>
        </p:txBody>
      </p:sp>
      <p:sp>
        <p:nvSpPr>
          <p:cNvPr id="11" name="Text 9"/>
          <p:cNvSpPr/>
          <p:nvPr/>
        </p:nvSpPr>
        <p:spPr>
          <a:xfrm>
            <a:off x="4480560" y="2011680"/>
            <a:ext cx="3246120" cy="3246120"/>
          </a:xfrm>
          <a:prstGeom prst="rect">
            <a:avLst/>
          </a:prstGeom>
          <a:noFill/>
          <a:ln/>
        </p:spPr>
        <p:txBody>
          <a:bodyPr wrap="square" rtlCol="0" anchor="t"/>
          <a:lstStyle/>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Add unique detail (eligibility, dates, official links, FAQs) to templated job pages to clear the "crawled, not indexed" flag</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Consolidate near-duplicate district/category pages with thin content into stronger hub pages</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Build out content for high-impression, low-position queries (Nashik/MPSC cluster) first — fastest path to page-1</a:t>
            </a:r>
            <a:endParaRPr lang="en-US" sz="1050" dirty="0"/>
          </a:p>
        </p:txBody>
      </p:sp>
      <p:sp>
        <p:nvSpPr>
          <p:cNvPr id="12" name="Shape 10"/>
          <p:cNvSpPr/>
          <p:nvPr/>
        </p:nvSpPr>
        <p:spPr>
          <a:xfrm>
            <a:off x="8046720" y="1417320"/>
            <a:ext cx="3611880" cy="3977640"/>
          </a:xfrm>
          <a:prstGeom prst="roundRect">
            <a:avLst>
              <a:gd name="adj" fmla="val 2025"/>
            </a:avLst>
          </a:prstGeom>
          <a:solidFill>
            <a:srgbClr val="FFFFFF"/>
          </a:solidFill>
          <a:ln w="15875">
            <a:solidFill>
              <a:srgbClr val="CADCFC"/>
            </a:solidFill>
            <a:prstDash val="solid"/>
          </a:ln>
        </p:spPr>
      </p:sp>
      <p:sp>
        <p:nvSpPr>
          <p:cNvPr id="13" name="Shape 11"/>
          <p:cNvSpPr/>
          <p:nvPr/>
        </p:nvSpPr>
        <p:spPr>
          <a:xfrm>
            <a:off x="8046720" y="1417320"/>
            <a:ext cx="3611880" cy="457200"/>
          </a:xfrm>
          <a:prstGeom prst="rect">
            <a:avLst/>
          </a:prstGeom>
          <a:solidFill>
            <a:srgbClr val="9333A6"/>
          </a:solidFill>
          <a:ln/>
        </p:spPr>
      </p:sp>
      <p:sp>
        <p:nvSpPr>
          <p:cNvPr id="14" name="Text 12"/>
          <p:cNvSpPr/>
          <p:nvPr/>
        </p:nvSpPr>
        <p:spPr>
          <a:xfrm>
            <a:off x="8183880" y="1417320"/>
            <a:ext cx="33375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Analytics &amp; Measurement</a:t>
            </a:r>
            <a:endParaRPr lang="en-US" sz="1300" dirty="0"/>
          </a:p>
        </p:txBody>
      </p:sp>
      <p:sp>
        <p:nvSpPr>
          <p:cNvPr id="15" name="Text 13"/>
          <p:cNvSpPr/>
          <p:nvPr/>
        </p:nvSpPr>
        <p:spPr>
          <a:xfrm>
            <a:off x="8229600" y="2011680"/>
            <a:ext cx="3246120" cy="3246120"/>
          </a:xfrm>
          <a:prstGeom prst="rect">
            <a:avLst/>
          </a:prstGeom>
          <a:noFill/>
          <a:ln/>
        </p:spPr>
        <p:txBody>
          <a:bodyPr wrap="square" rtlCol="0" anchor="t"/>
          <a:lstStyle/>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Filter/segment the Singapore traffic and audit for bot or data-center IPs before using GA4 for decisions</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Implement consistent UTM tagging so "(not set)" campaigns drop out of reporting</a:t>
            </a:r>
            <a:endParaRPr lang="en-US" sz="1050" dirty="0"/>
          </a:p>
          <a:p>
            <a:pPr marL="342900" indent="-342900">
              <a:spcAft>
                <a:spcPts val="1000"/>
              </a:spcAft>
              <a:buSzPct val="100000"/>
              <a:buChar char="•"/>
            </a:pPr>
            <a:r>
              <a:rPr lang="en-US" sz="1050" dirty="0">
                <a:solidFill>
                  <a:srgbClr val="1F2430"/>
                </a:solidFill>
                <a:latin typeface="Calibri" pitchFamily="34" charset="0"/>
                <a:ea typeface="Calibri" pitchFamily="34" charset="-122"/>
                <a:cs typeface="Calibri" pitchFamily="34" charset="-120"/>
              </a:rPr>
              <a:t>Set up a monthly indexed-vs-crawled tracking view to catch the next spike early</a:t>
            </a:r>
            <a:endParaRPr lang="en-US" sz="1050" dirty="0"/>
          </a:p>
        </p:txBody>
      </p:sp>
      <p:sp>
        <p:nvSpPr>
          <p:cNvPr id="16" name="Text 1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7" name="Text 1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This Month vs. Next Month — Tracking Template</a:t>
            </a:r>
            <a:endParaRPr lang="en-US" sz="2800" dirty="0"/>
          </a:p>
        </p:txBody>
      </p:sp>
      <p:sp>
        <p:nvSpPr>
          <p:cNvPr id="3" name="Text 1"/>
          <p:cNvSpPr/>
          <p:nvPr/>
        </p:nvSpPr>
        <p:spPr>
          <a:xfrm>
            <a:off x="548640" y="841248"/>
            <a:ext cx="1106424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Data available today only covers through 06 Aug 2026; September data isn't published yet</a:t>
            </a:r>
            <a:endParaRPr lang="en-US" sz="1300" dirty="0"/>
          </a:p>
        </p:txBody>
      </p:sp>
      <p:sp>
        <p:nvSpPr>
          <p:cNvPr id="4" name="Shape 2"/>
          <p:cNvSpPr/>
          <p:nvPr/>
        </p:nvSpPr>
        <p:spPr>
          <a:xfrm>
            <a:off x="548640" y="1371600"/>
            <a:ext cx="11109960" cy="777240"/>
          </a:xfrm>
          <a:prstGeom prst="roundRect">
            <a:avLst>
              <a:gd name="adj" fmla="val 7059"/>
            </a:avLst>
          </a:prstGeom>
          <a:solidFill>
            <a:srgbClr val="FDEDEA"/>
          </a:solidFill>
          <a:ln w="12700">
            <a:solidFill>
              <a:srgbClr val="E4572E"/>
            </a:solidFill>
            <a:prstDash val="solid"/>
          </a:ln>
        </p:spPr>
      </p:sp>
      <p:sp>
        <p:nvSpPr>
          <p:cNvPr id="5" name="Text 3"/>
          <p:cNvSpPr/>
          <p:nvPr/>
        </p:nvSpPr>
        <p:spPr>
          <a:xfrm>
            <a:off x="777240" y="1417320"/>
            <a:ext cx="10607040" cy="685800"/>
          </a:xfrm>
          <a:prstGeom prst="rect">
            <a:avLst/>
          </a:prstGeom>
          <a:noFill/>
          <a:ln/>
        </p:spPr>
        <p:txBody>
          <a:bodyPr wrap="square" rtlCol="0" anchor="ctr"/>
          <a:lstStyle/>
          <a:p>
            <a:pPr indent="0" marL="0">
              <a:buNone/>
            </a:pPr>
            <a:r>
              <a:rPr lang="en-US" sz="1100" dirty="0">
                <a:solidFill>
                  <a:srgbClr val="1F2430"/>
                </a:solidFill>
                <a:latin typeface="Calibri" pitchFamily="34" charset="0"/>
                <a:ea typeface="Calibri" pitchFamily="34" charset="-122"/>
                <a:cs typeface="Calibri" pitchFamily="34" charset="-120"/>
              </a:rPr>
              <a:t>A true "this month vs. next month" comparison needs next month's Search Console, Coverage, and GA4 exports, which don't exist yet as of 07 Aug 2026. Use this table as the tracking sheet — re-run this audit in early September and drop the new numbers into the right column.</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109960" cy="3931920"/>
        </p:xfrm>
        <a:graphic>
          <a:graphicData uri="http://schemas.openxmlformats.org/drawingml/2006/table">
            <a:tbl>
              <a:tblPr/>
              <a:tblGrid>
                <a:gridCol w="3337560"/>
                <a:gridCol w="2743200"/>
                <a:gridCol w="2743200"/>
                <a:gridCol w="228600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This period (Jul–Aug '26)</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Next period (Sep '26)</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GSC total clicks (28d)</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&gt; 25</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GSC total impressions (28d)</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&gt; 500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Average position</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52.2</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&lt; 35</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Indexed pages</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672</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&gt; 900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Not-indexed pages</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1,802</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&lt; 1,200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404 errors</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607</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&lt; 100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GA4 active users (28d)</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201</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Real, non-anomalous growth</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Homepage bounce rate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82.8%</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 to fill in —</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Calibri" pitchFamily="34" charset="0"/>
                          <a:ea typeface="Calibri" pitchFamily="34" charset="-122"/>
                          <a:cs typeface="Calibri" pitchFamily="34" charset="-120"/>
                        </a:rPr>
                        <a:t>&lt; 60%</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331720"/>
            <a:ext cx="11109960" cy="402336"/>
          </a:xfrm>
          <a:prstGeom prst="rect">
            <a:avLst/>
          </a:prstGeom>
          <a:solidFill>
            <a:srgbClr val="1E2761"/>
          </a:solidFill>
          <a:ln/>
        </p:spPr>
      </p:sp>
      <p:sp>
        <p:nvSpPr>
          <p:cNvPr id="8" name="Text 5"/>
          <p:cNvSpPr/>
          <p:nvPr/>
        </p:nvSpPr>
        <p:spPr>
          <a:xfrm>
            <a:off x="640080" y="2331720"/>
            <a:ext cx="31546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9" name="Text 6"/>
          <p:cNvSpPr/>
          <p:nvPr/>
        </p:nvSpPr>
        <p:spPr>
          <a:xfrm>
            <a:off x="3977640" y="2331720"/>
            <a:ext cx="25603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This period (Jul-Aug '26)</a:t>
            </a:r>
            <a:endParaRPr lang="en-US" sz="1100" dirty="0"/>
          </a:p>
        </p:txBody>
      </p:sp>
      <p:sp>
        <p:nvSpPr>
          <p:cNvPr id="10" name="Text 7"/>
          <p:cNvSpPr/>
          <p:nvPr/>
        </p:nvSpPr>
        <p:spPr>
          <a:xfrm>
            <a:off x="6720840" y="2331720"/>
            <a:ext cx="25603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Next period (Sep '26)</a:t>
            </a:r>
            <a:endParaRPr lang="en-US" sz="1100" dirty="0"/>
          </a:p>
        </p:txBody>
      </p:sp>
      <p:sp>
        <p:nvSpPr>
          <p:cNvPr id="11" name="Text 8"/>
          <p:cNvSpPr/>
          <p:nvPr/>
        </p:nvSpPr>
        <p:spPr>
          <a:xfrm>
            <a:off x="9464040" y="2331720"/>
            <a:ext cx="21031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p>
        </p:txBody>
      </p:sp>
      <p:sp>
        <p:nvSpPr>
          <p:cNvPr id="12"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SearchSarkariNaukri.com  |  SEO &amp; Performance Audit  |  Confidential</a:t>
            </a:r>
            <a:endParaRPr lang="en-US" sz="900" dirty="0"/>
          </a:p>
        </p:txBody>
      </p:sp>
      <p:sp>
        <p:nvSpPr>
          <p:cNvPr id="13" name="Text 1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41B49"/>
          </a:solidFill>
          <a:ln/>
        </p:spPr>
      </p:sp>
      <p:sp>
        <p:nvSpPr>
          <p:cNvPr id="3" name="Text 1"/>
          <p:cNvSpPr/>
          <p:nvPr/>
        </p:nvSpPr>
        <p:spPr>
          <a:xfrm>
            <a:off x="731520" y="2468880"/>
            <a:ext cx="91440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2"/>
          <p:cNvSpPr/>
          <p:nvPr/>
        </p:nvSpPr>
        <p:spPr>
          <a:xfrm>
            <a:off x="731520" y="3383280"/>
            <a:ext cx="9601200" cy="8229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Next step: fix the indexing bottleneck (404s + thin/duplicate job pages) before adding more programmatic pages — then re-run this audit against September's data.</a:t>
            </a:r>
            <a:endParaRPr lang="en-US" sz="1500" dirty="0"/>
          </a:p>
        </p:txBody>
      </p:sp>
      <p:sp>
        <p:nvSpPr>
          <p:cNvPr id="5" name="Text 3"/>
          <p:cNvSpPr/>
          <p:nvPr/>
        </p:nvSpPr>
        <p:spPr>
          <a:xfrm>
            <a:off x="731520" y="6035040"/>
            <a:ext cx="9144000" cy="365760"/>
          </a:xfrm>
          <a:prstGeom prst="rect">
            <a:avLst/>
          </a:prstGeom>
          <a:noFill/>
          <a:ln/>
        </p:spPr>
        <p:txBody>
          <a:bodyPr wrap="square" rtlCol="0" anchor="ctr"/>
          <a:lstStyle/>
          <a:p>
            <a:pPr indent="0" marL="0">
              <a:buNone/>
            </a:pPr>
            <a:r>
              <a:rPr lang="en-US" sz="1100" dirty="0">
                <a:solidFill>
                  <a:srgbClr val="8FA3D4"/>
                </a:solidFill>
                <a:latin typeface="Calibri" pitchFamily="34" charset="0"/>
                <a:ea typeface="Calibri" pitchFamily="34" charset="-122"/>
                <a:cs typeface="Calibri" pitchFamily="34" charset="-120"/>
              </a:rPr>
              <a:t>SearchSarkariNaukri.com  |  SEO &amp; Performance Audit  |  07 August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2026-08-07T18:20:23Z</dcterms:created>
  <dcterms:modified xsi:type="dcterms:W3CDTF">2026-08-07T18:20:23Z</dcterms:modified>
</cp:coreProperties>
</file>