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5669280" cy="292608"/>
          </a:xfrm>
          <a:prstGeom prst="rect">
            <a:avLst/>
          </a:prstGeom>
          <a:noFill/>
        </p:spPr>
        <p:txBody>
          <a:bodyPr wrap="square" lIns="0" rIns="0" tIns="0" bIns="0" anchor="t"/>
          <a:lstStyle/>
          <a:p>
            <a:pPr algn="l">
              <a:spcBef>
                <a:spcPts val="0"/>
              </a:spcBef>
              <a:spcAft>
                <a:spcPts val="0"/>
              </a:spcAft>
            </a:pPr>
            <a:r>
              <a:rPr sz="1300" b="1">
                <a:solidFill>
                  <a:srgbClr val="D90B1C"/>
                </a:solidFill>
                <a:latin typeface="Calibri"/>
                <a:ea typeface="Calibri"/>
                <a:cs typeface="Calibri"/>
              </a:rPr>
              <a:t>GROWTHIK MEDIA</a:t>
            </a:r>
          </a:p>
        </p:txBody>
      </p:sp>
      <p:sp>
        <p:nvSpPr>
          <p:cNvPr id="5" name="TextBox 4"/>
          <p:cNvSpPr txBox="1"/>
          <p:nvPr/>
        </p:nvSpPr>
        <p:spPr>
          <a:xfrm>
            <a:off x="502920" y="1234440"/>
            <a:ext cx="5852160" cy="2103120"/>
          </a:xfrm>
          <a:prstGeom prst="rect">
            <a:avLst/>
          </a:prstGeom>
          <a:noFill/>
        </p:spPr>
        <p:txBody>
          <a:bodyPr wrap="square" lIns="0" rIns="0" tIns="0" bIns="0" anchor="t"/>
          <a:lstStyle/>
          <a:p>
            <a:pPr algn="l">
              <a:spcBef>
                <a:spcPts val="0"/>
              </a:spcBef>
              <a:spcAft>
                <a:spcPts val="0"/>
              </a:spcAft>
            </a:pPr>
            <a:r>
              <a:rPr sz="4000" b="1">
                <a:solidFill>
                  <a:srgbClr val="FFFFFF"/>
                </a:solidFill>
                <a:latin typeface="Calibri"/>
                <a:ea typeface="Calibri"/>
                <a:cs typeface="Calibri"/>
              </a:rPr>
              <a:t>Two months.</a:t>
            </a:r>
          </a:p>
          <a:p>
            <a:pPr algn="l">
              <a:spcBef>
                <a:spcPts val="0"/>
              </a:spcBef>
              <a:spcAft>
                <a:spcPts val="0"/>
              </a:spcAft>
            </a:pPr>
            <a:r>
              <a:rPr sz="4000" b="1">
                <a:solidFill>
                  <a:srgbClr val="FFFFFF"/>
                </a:solidFill>
                <a:latin typeface="Calibri"/>
                <a:ea typeface="Calibri"/>
                <a:cs typeface="Calibri"/>
              </a:rPr>
              <a:t>One clear picture.</a:t>
            </a:r>
          </a:p>
        </p:txBody>
      </p:sp>
      <p:sp>
        <p:nvSpPr>
          <p:cNvPr id="6" name="TextBox 5"/>
          <p:cNvSpPr txBox="1"/>
          <p:nvPr/>
        </p:nvSpPr>
        <p:spPr>
          <a:xfrm>
            <a:off x="502920" y="3520440"/>
            <a:ext cx="5577840" cy="1051560"/>
          </a:xfrm>
          <a:prstGeom prst="rect">
            <a:avLst/>
          </a:prstGeom>
          <a:noFill/>
        </p:spPr>
        <p:txBody>
          <a:bodyPr wrap="square" lIns="0" rIns="0" tIns="0" bIns="0" anchor="t"/>
          <a:lstStyle/>
          <a:p>
            <a:pPr algn="l">
              <a:spcBef>
                <a:spcPts val="0"/>
              </a:spcBef>
              <a:spcAft>
                <a:spcPts val="400"/>
              </a:spcAft>
            </a:pPr>
            <a:r>
              <a:rPr sz="2000" b="1">
                <a:solidFill>
                  <a:srgbClr val="FFFFFF"/>
                </a:solidFill>
                <a:latin typeface="Calibri"/>
                <a:ea typeface="Calibri"/>
                <a:cs typeface="Calibri"/>
              </a:rPr>
              <a:t>Search Sarkari Naukri</a:t>
            </a:r>
          </a:p>
          <a:p>
            <a:pPr algn="l">
              <a:spcBef>
                <a:spcPts val="0"/>
              </a:spcBef>
              <a:spcAft>
                <a:spcPts val="0"/>
              </a:spcAft>
            </a:pPr>
            <a:r>
              <a:rPr sz="1400" b="0">
                <a:solidFill>
                  <a:srgbClr val="C9C4C0"/>
                </a:solidFill>
                <a:latin typeface="Calibri"/>
                <a:ea typeface="Calibri"/>
                <a:cs typeface="Calibri"/>
              </a:rPr>
              <a:t>Performance report  ·  August and September 2026</a:t>
            </a:r>
          </a:p>
        </p:txBody>
      </p:sp>
      <p:sp>
        <p:nvSpPr>
          <p:cNvPr id="7" name="TextBox 6"/>
          <p:cNvSpPr txBox="1"/>
          <p:nvPr/>
        </p:nvSpPr>
        <p:spPr>
          <a:xfrm>
            <a:off x="502920" y="4800600"/>
            <a:ext cx="5486400" cy="1051560"/>
          </a:xfrm>
          <a:prstGeom prst="rect">
            <a:avLst/>
          </a:prstGeom>
          <a:noFill/>
        </p:spPr>
        <p:txBody>
          <a:bodyPr wrap="square" lIns="0" rIns="0" tIns="0" bIns="0" anchor="t"/>
          <a:lstStyle/>
          <a:p>
            <a:pPr algn="l">
              <a:spcBef>
                <a:spcPts val="0"/>
              </a:spcBef>
              <a:spcAft>
                <a:spcPts val="0"/>
              </a:spcAft>
            </a:pPr>
            <a:r>
              <a:rPr sz="1600" b="0">
                <a:solidFill>
                  <a:srgbClr val="E7E2DE"/>
                </a:solidFill>
                <a:latin typeface="Calibri"/>
                <a:ea typeface="Calibri"/>
                <a:cs typeface="Calibri"/>
              </a:rPr>
              <a:t>People are using the website. Google search is still very small. AI tools started citing the site in a big way.</a:t>
            </a:r>
          </a:p>
        </p:txBody>
      </p:sp>
      <p:sp>
        <p:nvSpPr>
          <p:cNvPr id="8" name="Rounded Rectangle 7"/>
          <p:cNvSpPr/>
          <p:nvPr/>
        </p:nvSpPr>
        <p:spPr>
          <a:xfrm>
            <a:off x="6903720" y="438912"/>
            <a:ext cx="2395728" cy="2697480"/>
          </a:xfrm>
          <a:prstGeom prst="roundRect">
            <a:avLst>
              <a:gd name="adj" fmla="val 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03720" y="438912"/>
            <a:ext cx="2395728"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850392"/>
            <a:ext cx="2029968" cy="1051560"/>
          </a:xfrm>
          <a:prstGeom prst="rect">
            <a:avLst/>
          </a:prstGeom>
          <a:noFill/>
        </p:spPr>
        <p:txBody>
          <a:bodyPr wrap="square" lIns="0" rIns="0" tIns="0" bIns="0" anchor="t"/>
          <a:lstStyle/>
          <a:p>
            <a:pPr algn="l">
              <a:spcBef>
                <a:spcPts val="0"/>
              </a:spcBef>
              <a:spcAft>
                <a:spcPts val="0"/>
              </a:spcAft>
            </a:pPr>
            <a:r>
              <a:rPr sz="3200" b="1">
                <a:solidFill>
                  <a:srgbClr val="FFFFFF"/>
                </a:solidFill>
                <a:latin typeface="Calibri"/>
                <a:ea typeface="Calibri"/>
                <a:cs typeface="Calibri"/>
              </a:rPr>
              <a:t>1,116</a:t>
            </a:r>
          </a:p>
        </p:txBody>
      </p:sp>
      <p:sp>
        <p:nvSpPr>
          <p:cNvPr id="11" name="TextBox 10"/>
          <p:cNvSpPr txBox="1"/>
          <p:nvPr/>
        </p:nvSpPr>
        <p:spPr>
          <a:xfrm>
            <a:off x="7086600" y="1947672"/>
            <a:ext cx="2029968" cy="868680"/>
          </a:xfrm>
          <a:prstGeom prst="rect">
            <a:avLst/>
          </a:prstGeom>
          <a:noFill/>
        </p:spPr>
        <p:txBody>
          <a:bodyPr wrap="square" lIns="0" rIns="0" tIns="0" bIns="0" anchor="t"/>
          <a:lstStyle/>
          <a:p>
            <a:pPr algn="l">
              <a:spcBef>
                <a:spcPts val="0"/>
              </a:spcBef>
              <a:spcAft>
                <a:spcPts val="400"/>
              </a:spcAft>
            </a:pPr>
            <a:r>
              <a:rPr sz="1400" b="1">
                <a:solidFill>
                  <a:srgbClr val="FFFFFF"/>
                </a:solidFill>
                <a:latin typeface="Calibri"/>
                <a:ea typeface="Calibri"/>
                <a:cs typeface="Calibri"/>
              </a:rPr>
              <a:t>People on the website</a:t>
            </a:r>
          </a:p>
          <a:p>
            <a:pPr algn="l">
              <a:spcBef>
                <a:spcPts val="0"/>
              </a:spcBef>
              <a:spcAft>
                <a:spcPts val="0"/>
              </a:spcAft>
            </a:pPr>
            <a:r>
              <a:rPr sz="1200" b="0">
                <a:solidFill>
                  <a:srgbClr val="B5B0AC"/>
                </a:solidFill>
                <a:latin typeface="Calibri"/>
                <a:ea typeface="Calibri"/>
                <a:cs typeface="Calibri"/>
              </a:rPr>
              <a:t>Active users</a:t>
            </a:r>
          </a:p>
        </p:txBody>
      </p:sp>
      <p:sp>
        <p:nvSpPr>
          <p:cNvPr id="12" name="Rounded Rectangle 11"/>
          <p:cNvSpPr/>
          <p:nvPr/>
        </p:nvSpPr>
        <p:spPr>
          <a:xfrm>
            <a:off x="9464040" y="438912"/>
            <a:ext cx="2395728" cy="2697480"/>
          </a:xfrm>
          <a:prstGeom prst="roundRect">
            <a:avLst>
              <a:gd name="adj" fmla="val 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464040" y="438912"/>
            <a:ext cx="2395728"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46919" y="850392"/>
            <a:ext cx="2029968" cy="1051560"/>
          </a:xfrm>
          <a:prstGeom prst="rect">
            <a:avLst/>
          </a:prstGeom>
          <a:noFill/>
        </p:spPr>
        <p:txBody>
          <a:bodyPr wrap="square" lIns="0" rIns="0" tIns="0" bIns="0" anchor="t"/>
          <a:lstStyle/>
          <a:p>
            <a:pPr algn="l">
              <a:spcBef>
                <a:spcPts val="0"/>
              </a:spcBef>
              <a:spcAft>
                <a:spcPts val="0"/>
              </a:spcAft>
            </a:pPr>
            <a:r>
              <a:rPr sz="3200" b="1">
                <a:solidFill>
                  <a:srgbClr val="FFFFFF"/>
                </a:solidFill>
                <a:latin typeface="Calibri"/>
                <a:ea typeface="Calibri"/>
                <a:cs typeface="Calibri"/>
              </a:rPr>
              <a:t>1,074</a:t>
            </a:r>
          </a:p>
        </p:txBody>
      </p:sp>
      <p:sp>
        <p:nvSpPr>
          <p:cNvPr id="15" name="TextBox 14"/>
          <p:cNvSpPr txBox="1"/>
          <p:nvPr/>
        </p:nvSpPr>
        <p:spPr>
          <a:xfrm>
            <a:off x="9646919" y="1947672"/>
            <a:ext cx="2029968" cy="868680"/>
          </a:xfrm>
          <a:prstGeom prst="rect">
            <a:avLst/>
          </a:prstGeom>
          <a:noFill/>
        </p:spPr>
        <p:txBody>
          <a:bodyPr wrap="square" lIns="0" rIns="0" tIns="0" bIns="0" anchor="t"/>
          <a:lstStyle/>
          <a:p>
            <a:pPr algn="l">
              <a:spcBef>
                <a:spcPts val="0"/>
              </a:spcBef>
              <a:spcAft>
                <a:spcPts val="400"/>
              </a:spcAft>
            </a:pPr>
            <a:r>
              <a:rPr sz="1400" b="1">
                <a:solidFill>
                  <a:srgbClr val="FFFFFF"/>
                </a:solidFill>
                <a:latin typeface="Calibri"/>
                <a:ea typeface="Calibri"/>
                <a:cs typeface="Calibri"/>
              </a:rPr>
              <a:t>New visitors</a:t>
            </a:r>
          </a:p>
          <a:p>
            <a:pPr algn="l">
              <a:spcBef>
                <a:spcPts val="0"/>
              </a:spcBef>
              <a:spcAft>
                <a:spcPts val="0"/>
              </a:spcAft>
            </a:pPr>
            <a:r>
              <a:rPr sz="1200" b="0">
                <a:solidFill>
                  <a:srgbClr val="B5B0AC"/>
                </a:solidFill>
                <a:latin typeface="Calibri"/>
                <a:ea typeface="Calibri"/>
                <a:cs typeface="Calibri"/>
              </a:rPr>
              <a:t>First time on the site</a:t>
            </a:r>
          </a:p>
        </p:txBody>
      </p:sp>
      <p:sp>
        <p:nvSpPr>
          <p:cNvPr id="16" name="Rounded Rectangle 15"/>
          <p:cNvSpPr/>
          <p:nvPr/>
        </p:nvSpPr>
        <p:spPr>
          <a:xfrm>
            <a:off x="6903720" y="3401568"/>
            <a:ext cx="2395728" cy="2697480"/>
          </a:xfrm>
          <a:prstGeom prst="roundRect">
            <a:avLst>
              <a:gd name="adj" fmla="val 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03720" y="3401568"/>
            <a:ext cx="2395728"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3813048"/>
            <a:ext cx="2029968" cy="1051560"/>
          </a:xfrm>
          <a:prstGeom prst="rect">
            <a:avLst/>
          </a:prstGeom>
          <a:noFill/>
        </p:spPr>
        <p:txBody>
          <a:bodyPr wrap="square" lIns="0" rIns="0" tIns="0" bIns="0" anchor="t"/>
          <a:lstStyle/>
          <a:p>
            <a:pPr algn="l">
              <a:spcBef>
                <a:spcPts val="0"/>
              </a:spcBef>
              <a:spcAft>
                <a:spcPts val="0"/>
              </a:spcAft>
            </a:pPr>
            <a:r>
              <a:rPr sz="3200" b="1">
                <a:solidFill>
                  <a:srgbClr val="FFFFFF"/>
                </a:solidFill>
                <a:latin typeface="Calibri"/>
                <a:ea typeface="Calibri"/>
                <a:cs typeface="Calibri"/>
              </a:rPr>
              <a:t>16</a:t>
            </a:r>
          </a:p>
        </p:txBody>
      </p:sp>
      <p:sp>
        <p:nvSpPr>
          <p:cNvPr id="19" name="TextBox 18"/>
          <p:cNvSpPr txBox="1"/>
          <p:nvPr/>
        </p:nvSpPr>
        <p:spPr>
          <a:xfrm>
            <a:off x="7086600" y="4910328"/>
            <a:ext cx="2029968" cy="868680"/>
          </a:xfrm>
          <a:prstGeom prst="rect">
            <a:avLst/>
          </a:prstGeom>
          <a:noFill/>
        </p:spPr>
        <p:txBody>
          <a:bodyPr wrap="square" lIns="0" rIns="0" tIns="0" bIns="0" anchor="t"/>
          <a:lstStyle/>
          <a:p>
            <a:pPr algn="l">
              <a:spcBef>
                <a:spcPts val="0"/>
              </a:spcBef>
              <a:spcAft>
                <a:spcPts val="400"/>
              </a:spcAft>
            </a:pPr>
            <a:r>
              <a:rPr sz="1400" b="1">
                <a:solidFill>
                  <a:srgbClr val="FFFFFF"/>
                </a:solidFill>
                <a:latin typeface="Calibri"/>
                <a:ea typeface="Calibri"/>
                <a:cs typeface="Calibri"/>
              </a:rPr>
              <a:t>Google clicks</a:t>
            </a:r>
          </a:p>
          <a:p>
            <a:pPr algn="l">
              <a:spcBef>
                <a:spcPts val="0"/>
              </a:spcBef>
              <a:spcAft>
                <a:spcPts val="0"/>
              </a:spcAft>
            </a:pPr>
            <a:r>
              <a:rPr sz="1200" b="0">
                <a:solidFill>
                  <a:srgbClr val="B5B0AC"/>
                </a:solidFill>
                <a:latin typeface="Calibri"/>
                <a:ea typeface="Calibri"/>
                <a:cs typeface="Calibri"/>
              </a:rPr>
              <a:t>Shown 304 times</a:t>
            </a:r>
          </a:p>
        </p:txBody>
      </p:sp>
      <p:sp>
        <p:nvSpPr>
          <p:cNvPr id="20" name="Rounded Rectangle 19"/>
          <p:cNvSpPr/>
          <p:nvPr/>
        </p:nvSpPr>
        <p:spPr>
          <a:xfrm>
            <a:off x="9464040" y="3401568"/>
            <a:ext cx="2395728" cy="2697480"/>
          </a:xfrm>
          <a:prstGeom prst="roundRect">
            <a:avLst>
              <a:gd name="adj" fmla="val 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64040" y="3401568"/>
            <a:ext cx="2395728"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19" y="3813048"/>
            <a:ext cx="2029968" cy="1051560"/>
          </a:xfrm>
          <a:prstGeom prst="rect">
            <a:avLst/>
          </a:prstGeom>
          <a:noFill/>
        </p:spPr>
        <p:txBody>
          <a:bodyPr wrap="square" lIns="0" rIns="0" tIns="0" bIns="0" anchor="t"/>
          <a:lstStyle/>
          <a:p>
            <a:pPr algn="l">
              <a:spcBef>
                <a:spcPts val="0"/>
              </a:spcBef>
              <a:spcAft>
                <a:spcPts val="0"/>
              </a:spcAft>
            </a:pPr>
            <a:r>
              <a:rPr sz="3200" b="1">
                <a:solidFill>
                  <a:srgbClr val="FFFFFF"/>
                </a:solidFill>
                <a:latin typeface="Calibri"/>
                <a:ea typeface="Calibri"/>
                <a:cs typeface="Calibri"/>
              </a:rPr>
              <a:t>1,797</a:t>
            </a:r>
          </a:p>
        </p:txBody>
      </p:sp>
      <p:sp>
        <p:nvSpPr>
          <p:cNvPr id="23" name="TextBox 22"/>
          <p:cNvSpPr txBox="1"/>
          <p:nvPr/>
        </p:nvSpPr>
        <p:spPr>
          <a:xfrm>
            <a:off x="9646919" y="4910328"/>
            <a:ext cx="2029968" cy="868680"/>
          </a:xfrm>
          <a:prstGeom prst="rect">
            <a:avLst/>
          </a:prstGeom>
          <a:noFill/>
        </p:spPr>
        <p:txBody>
          <a:bodyPr wrap="square" lIns="0" rIns="0" tIns="0" bIns="0" anchor="t"/>
          <a:lstStyle/>
          <a:p>
            <a:pPr algn="l">
              <a:spcBef>
                <a:spcPts val="0"/>
              </a:spcBef>
              <a:spcAft>
                <a:spcPts val="400"/>
              </a:spcAft>
            </a:pPr>
            <a:r>
              <a:rPr sz="1400" b="1">
                <a:solidFill>
                  <a:srgbClr val="FFFFFF"/>
                </a:solidFill>
                <a:latin typeface="Calibri"/>
                <a:ea typeface="Calibri"/>
                <a:cs typeface="Calibri"/>
              </a:rPr>
              <a:t>AI citations</a:t>
            </a:r>
          </a:p>
          <a:p>
            <a:pPr algn="l">
              <a:spcBef>
                <a:spcPts val="0"/>
              </a:spcBef>
              <a:spcAft>
                <a:spcPts val="0"/>
              </a:spcAft>
            </a:pPr>
            <a:r>
              <a:rPr sz="1200" b="0">
                <a:solidFill>
                  <a:srgbClr val="B5B0AC"/>
                </a:solidFill>
                <a:latin typeface="Calibri"/>
                <a:ea typeface="Calibri"/>
                <a:cs typeface="Calibri"/>
              </a:rPr>
              <a:t>1 Jul – 28 Sep</a:t>
            </a:r>
          </a:p>
        </p:txBody>
      </p:sp>
      <p:sp>
        <p:nvSpPr>
          <p:cNvPr id="24" name="TextBox 23"/>
          <p:cNvSpPr txBox="1"/>
          <p:nvPr/>
        </p:nvSpPr>
        <p:spPr>
          <a:xfrm>
            <a:off x="502920" y="6263640"/>
            <a:ext cx="5943600" cy="292608"/>
          </a:xfrm>
          <a:prstGeom prst="rect">
            <a:avLst/>
          </a:prstGeom>
          <a:noFill/>
        </p:spPr>
        <p:txBody>
          <a:bodyPr wrap="square" lIns="0" rIns="0" tIns="0" bIns="0" anchor="t"/>
          <a:lstStyle/>
          <a:p>
            <a:pPr algn="l">
              <a:spcBef>
                <a:spcPts val="0"/>
              </a:spcBef>
              <a:spcAft>
                <a:spcPts val="0"/>
              </a:spcAft>
            </a:pPr>
            <a:r>
              <a:rPr sz="1200" b="0">
                <a:solidFill>
                  <a:srgbClr val="B5B0AC"/>
                </a:solidFill>
                <a:latin typeface="Calibri"/>
                <a:ea typeface="Calibri"/>
                <a:cs typeface="Calibri"/>
              </a:rPr>
              <a:t>www.searchsarkarinaukri.com</a:t>
            </a:r>
          </a:p>
        </p:txBody>
      </p:sp>
      <p:sp>
        <p:nvSpPr>
          <p:cNvPr id="25" name="TextBox 24"/>
          <p:cNvSpPr txBox="1"/>
          <p:nvPr/>
        </p:nvSpPr>
        <p:spPr>
          <a:xfrm>
            <a:off x="10332720" y="6263640"/>
            <a:ext cx="1417320" cy="292608"/>
          </a:xfrm>
          <a:prstGeom prst="rect">
            <a:avLst/>
          </a:prstGeom>
          <a:noFill/>
        </p:spPr>
        <p:txBody>
          <a:bodyPr wrap="square" lIns="0" rIns="0" tIns="0" bIns="0" anchor="t"/>
          <a:lstStyle/>
          <a:p>
            <a:pPr algn="r">
              <a:spcBef>
                <a:spcPts val="0"/>
              </a:spcBef>
              <a:spcAft>
                <a:spcPts val="0"/>
              </a:spcAft>
            </a:pPr>
            <a:r>
              <a:rPr sz="1200" b="1">
                <a:solidFill>
                  <a:srgbClr val="FFFFFF"/>
                </a:solidFill>
                <a:latin typeface="Calibri"/>
                <a:ea typeface="Calibri"/>
                <a:cs typeface="Calibri"/>
              </a:rPr>
              <a:t>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7315200" cy="256032"/>
          </a:xfrm>
          <a:prstGeom prst="rect">
            <a:avLst/>
          </a:prstGeom>
          <a:noFill/>
        </p:spPr>
        <p:txBody>
          <a:bodyPr wrap="square" lIns="0" rIns="0" tIns="0" bIns="0" anchor="t"/>
          <a:lstStyle/>
          <a:p>
            <a:pPr algn="l">
              <a:spcBef>
                <a:spcPts val="0"/>
              </a:spcBef>
              <a:spcAft>
                <a:spcPts val="0"/>
              </a:spcAft>
            </a:pPr>
            <a:r>
              <a:rPr sz="1200" b="1">
                <a:solidFill>
                  <a:srgbClr val="D90B1C"/>
                </a:solidFill>
                <a:latin typeface="Calibri"/>
                <a:ea typeface="Calibri"/>
                <a:cs typeface="Calibri"/>
              </a:rPr>
              <a:t>THE WEBSITE</a:t>
            </a:r>
          </a:p>
        </p:txBody>
      </p:sp>
      <p:sp>
        <p:nvSpPr>
          <p:cNvPr id="5" name="TextBox 4"/>
          <p:cNvSpPr txBox="1"/>
          <p:nvPr/>
        </p:nvSpPr>
        <p:spPr>
          <a:xfrm>
            <a:off x="438912" y="475488"/>
            <a:ext cx="9144000" cy="384048"/>
          </a:xfrm>
          <a:prstGeom prst="rect">
            <a:avLst/>
          </a:prstGeom>
          <a:noFill/>
        </p:spPr>
        <p:txBody>
          <a:bodyPr wrap="square" lIns="0" rIns="0" tIns="0" bIns="0" anchor="t"/>
          <a:lstStyle/>
          <a:p>
            <a:pPr algn="l">
              <a:spcBef>
                <a:spcPts val="0"/>
              </a:spcBef>
              <a:spcAft>
                <a:spcPts val="0"/>
              </a:spcAft>
            </a:pPr>
            <a:r>
              <a:rPr sz="2600" b="1">
                <a:solidFill>
                  <a:srgbClr val="161616"/>
                </a:solidFill>
                <a:latin typeface="Calibri"/>
                <a:ea typeface="Calibri"/>
                <a:cs typeface="Calibri"/>
              </a:rPr>
              <a:t>Who came, and from where</a:t>
            </a:r>
          </a:p>
        </p:txBody>
      </p:sp>
      <p:sp>
        <p:nvSpPr>
          <p:cNvPr id="6" name="Rounded Rectangle 5"/>
          <p:cNvSpPr/>
          <p:nvPr/>
        </p:nvSpPr>
        <p:spPr>
          <a:xfrm>
            <a:off x="438912" y="1024128"/>
            <a:ext cx="5440680" cy="20299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133856"/>
            <a:ext cx="4937760" cy="256032"/>
          </a:xfrm>
          <a:prstGeom prst="rect">
            <a:avLst/>
          </a:prstGeom>
          <a:noFill/>
        </p:spPr>
        <p:txBody>
          <a:bodyPr wrap="square" lIns="0" rIns="0" tIns="0" bIns="0" anchor="t"/>
          <a:lstStyle/>
          <a:p>
            <a:pPr algn="l">
              <a:spcBef>
                <a:spcPts val="0"/>
              </a:spcBef>
              <a:spcAft>
                <a:spcPts val="0"/>
              </a:spcAft>
            </a:pPr>
            <a:r>
              <a:rPr sz="1300" b="1">
                <a:solidFill>
                  <a:srgbClr val="161616"/>
                </a:solidFill>
                <a:latin typeface="Calibri"/>
                <a:ea typeface="Calibri"/>
                <a:cs typeface="Calibri"/>
              </a:rPr>
              <a:t>August</a:t>
            </a:r>
          </a:p>
        </p:txBody>
      </p:sp>
      <p:sp>
        <p:nvSpPr>
          <p:cNvPr id="8" name="TextBox 7"/>
          <p:cNvSpPr txBox="1"/>
          <p:nvPr/>
        </p:nvSpPr>
        <p:spPr>
          <a:xfrm>
            <a:off x="694944" y="1408176"/>
            <a:ext cx="2377440" cy="658368"/>
          </a:xfrm>
          <a:prstGeom prst="rect">
            <a:avLst/>
          </a:prstGeom>
          <a:noFill/>
        </p:spPr>
        <p:txBody>
          <a:bodyPr wrap="square" lIns="0" rIns="0" tIns="0" bIns="0" anchor="t"/>
          <a:lstStyle/>
          <a:p>
            <a:pPr algn="l">
              <a:spcBef>
                <a:spcPts val="0"/>
              </a:spcBef>
              <a:spcAft>
                <a:spcPts val="0"/>
              </a:spcAft>
            </a:pPr>
            <a:r>
              <a:rPr sz="3400" b="1">
                <a:solidFill>
                  <a:srgbClr val="161616"/>
                </a:solidFill>
                <a:latin typeface="Calibri"/>
                <a:ea typeface="Calibri"/>
                <a:cs typeface="Calibri"/>
              </a:rPr>
              <a:t>630</a:t>
            </a:r>
          </a:p>
        </p:txBody>
      </p:sp>
      <p:sp>
        <p:nvSpPr>
          <p:cNvPr id="9" name="TextBox 8"/>
          <p:cNvSpPr txBox="1"/>
          <p:nvPr/>
        </p:nvSpPr>
        <p:spPr>
          <a:xfrm>
            <a:off x="3227832" y="1408176"/>
            <a:ext cx="2377440" cy="658368"/>
          </a:xfrm>
          <a:prstGeom prst="rect">
            <a:avLst/>
          </a:prstGeom>
          <a:noFill/>
        </p:spPr>
        <p:txBody>
          <a:bodyPr wrap="square" lIns="0" rIns="0" tIns="0" bIns="0" anchor="t"/>
          <a:lstStyle/>
          <a:p>
            <a:pPr algn="l">
              <a:spcBef>
                <a:spcPts val="0"/>
              </a:spcBef>
              <a:spcAft>
                <a:spcPts val="0"/>
              </a:spcAft>
            </a:pPr>
            <a:r>
              <a:rPr sz="3400" b="1">
                <a:solidFill>
                  <a:srgbClr val="161616"/>
                </a:solidFill>
                <a:latin typeface="Calibri"/>
                <a:ea typeface="Calibri"/>
                <a:cs typeface="Calibri"/>
              </a:rPr>
              <a:t>58</a:t>
            </a:r>
          </a:p>
        </p:txBody>
      </p:sp>
      <p:sp>
        <p:nvSpPr>
          <p:cNvPr id="10" name="TextBox 9"/>
          <p:cNvSpPr txBox="1"/>
          <p:nvPr/>
        </p:nvSpPr>
        <p:spPr>
          <a:xfrm>
            <a:off x="694944" y="2084831"/>
            <a:ext cx="2377440" cy="256032"/>
          </a:xfrm>
          <a:prstGeom prst="rect">
            <a:avLst/>
          </a:prstGeom>
          <a:noFill/>
        </p:spPr>
        <p:txBody>
          <a:bodyPr wrap="square" lIns="0" rIns="0" tIns="0" bIns="0" anchor="t"/>
          <a:lstStyle/>
          <a:p>
            <a:pPr algn="l">
              <a:spcBef>
                <a:spcPts val="0"/>
              </a:spcBef>
              <a:spcAft>
                <a:spcPts val="0"/>
              </a:spcAft>
            </a:pPr>
            <a:r>
              <a:rPr sz="1300" b="0">
                <a:solidFill>
                  <a:srgbClr val="5C5856"/>
                </a:solidFill>
                <a:latin typeface="Calibri"/>
                <a:ea typeface="Calibri"/>
                <a:cs typeface="Calibri"/>
              </a:rPr>
              <a:t>new visitors</a:t>
            </a:r>
          </a:p>
        </p:txBody>
      </p:sp>
      <p:sp>
        <p:nvSpPr>
          <p:cNvPr id="11" name="TextBox 10"/>
          <p:cNvSpPr txBox="1"/>
          <p:nvPr/>
        </p:nvSpPr>
        <p:spPr>
          <a:xfrm>
            <a:off x="3227832" y="2084831"/>
            <a:ext cx="2377440" cy="256032"/>
          </a:xfrm>
          <a:prstGeom prst="rect">
            <a:avLst/>
          </a:prstGeom>
          <a:noFill/>
        </p:spPr>
        <p:txBody>
          <a:bodyPr wrap="square" lIns="0" rIns="0" tIns="0" bIns="0" anchor="t"/>
          <a:lstStyle/>
          <a:p>
            <a:pPr algn="l">
              <a:spcBef>
                <a:spcPts val="0"/>
              </a:spcBef>
              <a:spcAft>
                <a:spcPts val="0"/>
              </a:spcAft>
            </a:pPr>
            <a:r>
              <a:rPr sz="1300" b="0">
                <a:solidFill>
                  <a:srgbClr val="5C5856"/>
                </a:solidFill>
                <a:latin typeface="Calibri"/>
                <a:ea typeface="Calibri"/>
                <a:cs typeface="Calibri"/>
              </a:rPr>
              <a:t>came back</a:t>
            </a:r>
          </a:p>
        </p:txBody>
      </p:sp>
      <p:sp>
        <p:nvSpPr>
          <p:cNvPr id="12" name="TextBox 11"/>
          <p:cNvSpPr txBox="1"/>
          <p:nvPr/>
        </p:nvSpPr>
        <p:spPr>
          <a:xfrm>
            <a:off x="694944" y="2414016"/>
            <a:ext cx="4937760" cy="292608"/>
          </a:xfrm>
          <a:prstGeom prst="rect">
            <a:avLst/>
          </a:prstGeom>
          <a:noFill/>
        </p:spPr>
        <p:txBody>
          <a:bodyPr wrap="square" lIns="0" rIns="0" tIns="0" bIns="0" anchor="t"/>
          <a:lstStyle/>
          <a:p>
            <a:pPr algn="l">
              <a:spcBef>
                <a:spcPts val="0"/>
              </a:spcBef>
              <a:spcAft>
                <a:spcPts val="0"/>
              </a:spcAft>
            </a:pPr>
            <a:r>
              <a:rPr sz="1400" b="1">
                <a:solidFill>
                  <a:srgbClr val="161616"/>
                </a:solidFill>
                <a:latin typeface="Calibri"/>
                <a:ea typeface="Calibri"/>
                <a:cs typeface="Calibri"/>
              </a:rPr>
              <a:t>More new people.</a:t>
            </a:r>
          </a:p>
        </p:txBody>
      </p:sp>
      <p:sp>
        <p:nvSpPr>
          <p:cNvPr id="13" name="Rounded Rectangle 12"/>
          <p:cNvSpPr/>
          <p:nvPr/>
        </p:nvSpPr>
        <p:spPr>
          <a:xfrm>
            <a:off x="6309360" y="1024128"/>
            <a:ext cx="5440680" cy="20299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1133856"/>
            <a:ext cx="4937760" cy="256032"/>
          </a:xfrm>
          <a:prstGeom prst="rect">
            <a:avLst/>
          </a:prstGeom>
          <a:noFill/>
        </p:spPr>
        <p:txBody>
          <a:bodyPr wrap="square" lIns="0" rIns="0" tIns="0" bIns="0" anchor="t"/>
          <a:lstStyle/>
          <a:p>
            <a:pPr algn="l">
              <a:spcBef>
                <a:spcPts val="0"/>
              </a:spcBef>
              <a:spcAft>
                <a:spcPts val="0"/>
              </a:spcAft>
            </a:pPr>
            <a:r>
              <a:rPr sz="1300" b="1">
                <a:solidFill>
                  <a:srgbClr val="D90B1C"/>
                </a:solidFill>
                <a:latin typeface="Calibri"/>
                <a:ea typeface="Calibri"/>
                <a:cs typeface="Calibri"/>
              </a:rPr>
              <a:t>September</a:t>
            </a:r>
          </a:p>
        </p:txBody>
      </p:sp>
      <p:sp>
        <p:nvSpPr>
          <p:cNvPr id="15" name="TextBox 14"/>
          <p:cNvSpPr txBox="1"/>
          <p:nvPr/>
        </p:nvSpPr>
        <p:spPr>
          <a:xfrm>
            <a:off x="6565392" y="1408176"/>
            <a:ext cx="2377440" cy="658368"/>
          </a:xfrm>
          <a:prstGeom prst="rect">
            <a:avLst/>
          </a:prstGeom>
          <a:noFill/>
        </p:spPr>
        <p:txBody>
          <a:bodyPr wrap="square" lIns="0" rIns="0" tIns="0" bIns="0" anchor="t"/>
          <a:lstStyle/>
          <a:p>
            <a:pPr algn="l">
              <a:spcBef>
                <a:spcPts val="0"/>
              </a:spcBef>
              <a:spcAft>
                <a:spcPts val="0"/>
              </a:spcAft>
            </a:pPr>
            <a:r>
              <a:rPr sz="3400" b="1">
                <a:solidFill>
                  <a:srgbClr val="161616"/>
                </a:solidFill>
                <a:latin typeface="Calibri"/>
                <a:ea typeface="Calibri"/>
                <a:cs typeface="Calibri"/>
              </a:rPr>
              <a:t>444</a:t>
            </a:r>
          </a:p>
        </p:txBody>
      </p:sp>
      <p:sp>
        <p:nvSpPr>
          <p:cNvPr id="16" name="TextBox 15"/>
          <p:cNvSpPr txBox="1"/>
          <p:nvPr/>
        </p:nvSpPr>
        <p:spPr>
          <a:xfrm>
            <a:off x="9098280" y="1408176"/>
            <a:ext cx="2377440" cy="658368"/>
          </a:xfrm>
          <a:prstGeom prst="rect">
            <a:avLst/>
          </a:prstGeom>
          <a:noFill/>
        </p:spPr>
        <p:txBody>
          <a:bodyPr wrap="square" lIns="0" rIns="0" tIns="0" bIns="0" anchor="t"/>
          <a:lstStyle/>
          <a:p>
            <a:pPr algn="l">
              <a:spcBef>
                <a:spcPts val="0"/>
              </a:spcBef>
              <a:spcAft>
                <a:spcPts val="0"/>
              </a:spcAft>
            </a:pPr>
            <a:r>
              <a:rPr sz="3400" b="1">
                <a:solidFill>
                  <a:srgbClr val="D90B1C"/>
                </a:solidFill>
                <a:latin typeface="Calibri"/>
                <a:ea typeface="Calibri"/>
                <a:cs typeface="Calibri"/>
              </a:rPr>
              <a:t>217</a:t>
            </a:r>
          </a:p>
        </p:txBody>
      </p:sp>
      <p:sp>
        <p:nvSpPr>
          <p:cNvPr id="17" name="TextBox 16"/>
          <p:cNvSpPr txBox="1"/>
          <p:nvPr/>
        </p:nvSpPr>
        <p:spPr>
          <a:xfrm>
            <a:off x="6565392" y="2084831"/>
            <a:ext cx="2377440" cy="256032"/>
          </a:xfrm>
          <a:prstGeom prst="rect">
            <a:avLst/>
          </a:prstGeom>
          <a:noFill/>
        </p:spPr>
        <p:txBody>
          <a:bodyPr wrap="square" lIns="0" rIns="0" tIns="0" bIns="0" anchor="t"/>
          <a:lstStyle/>
          <a:p>
            <a:pPr algn="l">
              <a:spcBef>
                <a:spcPts val="0"/>
              </a:spcBef>
              <a:spcAft>
                <a:spcPts val="0"/>
              </a:spcAft>
            </a:pPr>
            <a:r>
              <a:rPr sz="1300" b="0">
                <a:solidFill>
                  <a:srgbClr val="5C5856"/>
                </a:solidFill>
                <a:latin typeface="Calibri"/>
                <a:ea typeface="Calibri"/>
                <a:cs typeface="Calibri"/>
              </a:rPr>
              <a:t>new visitors</a:t>
            </a:r>
          </a:p>
        </p:txBody>
      </p:sp>
      <p:sp>
        <p:nvSpPr>
          <p:cNvPr id="18" name="TextBox 17"/>
          <p:cNvSpPr txBox="1"/>
          <p:nvPr/>
        </p:nvSpPr>
        <p:spPr>
          <a:xfrm>
            <a:off x="9098280" y="2084831"/>
            <a:ext cx="2377440" cy="256032"/>
          </a:xfrm>
          <a:prstGeom prst="rect">
            <a:avLst/>
          </a:prstGeom>
          <a:noFill/>
        </p:spPr>
        <p:txBody>
          <a:bodyPr wrap="square" lIns="0" rIns="0" tIns="0" bIns="0" anchor="t"/>
          <a:lstStyle/>
          <a:p>
            <a:pPr algn="l">
              <a:spcBef>
                <a:spcPts val="0"/>
              </a:spcBef>
              <a:spcAft>
                <a:spcPts val="0"/>
              </a:spcAft>
            </a:pPr>
            <a:r>
              <a:rPr sz="1300" b="0">
                <a:solidFill>
                  <a:srgbClr val="5C5856"/>
                </a:solidFill>
                <a:latin typeface="Calibri"/>
                <a:ea typeface="Calibri"/>
                <a:cs typeface="Calibri"/>
              </a:rPr>
              <a:t>came back</a:t>
            </a:r>
          </a:p>
        </p:txBody>
      </p:sp>
      <p:sp>
        <p:nvSpPr>
          <p:cNvPr id="19" name="TextBox 18"/>
          <p:cNvSpPr txBox="1"/>
          <p:nvPr/>
        </p:nvSpPr>
        <p:spPr>
          <a:xfrm>
            <a:off x="6565392" y="2414016"/>
            <a:ext cx="4937760" cy="292608"/>
          </a:xfrm>
          <a:prstGeom prst="rect">
            <a:avLst/>
          </a:prstGeom>
          <a:noFill/>
        </p:spPr>
        <p:txBody>
          <a:bodyPr wrap="square" lIns="0" rIns="0" tIns="0" bIns="0" anchor="t"/>
          <a:lstStyle/>
          <a:p>
            <a:pPr algn="l">
              <a:spcBef>
                <a:spcPts val="0"/>
              </a:spcBef>
              <a:spcAft>
                <a:spcPts val="0"/>
              </a:spcAft>
            </a:pPr>
            <a:r>
              <a:rPr sz="1400" b="1">
                <a:solidFill>
                  <a:srgbClr val="D90B1C"/>
                </a:solidFill>
                <a:latin typeface="Calibri"/>
                <a:ea typeface="Calibri"/>
                <a:cs typeface="Calibri"/>
              </a:rPr>
              <a:t>More people came back.</a:t>
            </a:r>
          </a:p>
        </p:txBody>
      </p:sp>
      <p:sp>
        <p:nvSpPr>
          <p:cNvPr id="20" name="TextBox 19"/>
          <p:cNvSpPr txBox="1"/>
          <p:nvPr/>
        </p:nvSpPr>
        <p:spPr>
          <a:xfrm>
            <a:off x="438912" y="3182112"/>
            <a:ext cx="7315200" cy="274320"/>
          </a:xfrm>
          <a:prstGeom prst="rect">
            <a:avLst/>
          </a:prstGeom>
          <a:noFill/>
        </p:spPr>
        <p:txBody>
          <a:bodyPr wrap="square" lIns="0" rIns="0" tIns="0" bIns="0" anchor="t"/>
          <a:lstStyle/>
          <a:p>
            <a:pPr algn="l">
              <a:spcBef>
                <a:spcPts val="0"/>
              </a:spcBef>
              <a:spcAft>
                <a:spcPts val="0"/>
              </a:spcAft>
            </a:pPr>
            <a:r>
              <a:rPr sz="1400" b="1">
                <a:solidFill>
                  <a:srgbClr val="161616"/>
                </a:solidFill>
                <a:latin typeface="Calibri"/>
                <a:ea typeface="Calibri"/>
                <a:cs typeface="Calibri"/>
              </a:rPr>
              <a:t>Where the 1,074 new visitors came from</a:t>
            </a:r>
          </a:p>
        </p:txBody>
      </p:sp>
      <p:sp>
        <p:nvSpPr>
          <p:cNvPr id="21" name="Rounded Rectangle 20"/>
          <p:cNvSpPr/>
          <p:nvPr/>
        </p:nvSpPr>
        <p:spPr>
          <a:xfrm>
            <a:off x="438912" y="3547872"/>
            <a:ext cx="2212848" cy="1298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 y="3657600"/>
            <a:ext cx="1920240" cy="457200"/>
          </a:xfrm>
          <a:prstGeom prst="rect">
            <a:avLst/>
          </a:prstGeom>
          <a:noFill/>
        </p:spPr>
        <p:txBody>
          <a:bodyPr wrap="square" lIns="0" rIns="0" tIns="0" bIns="0" anchor="t"/>
          <a:lstStyle/>
          <a:p>
            <a:pPr algn="l">
              <a:spcBef>
                <a:spcPts val="0"/>
              </a:spcBef>
              <a:spcAft>
                <a:spcPts val="0"/>
              </a:spcAft>
            </a:pPr>
            <a:r>
              <a:rPr sz="2200" b="1">
                <a:solidFill>
                  <a:srgbClr val="D90B1C"/>
                </a:solidFill>
                <a:latin typeface="Calibri"/>
                <a:ea typeface="Calibri"/>
                <a:cs typeface="Calibri"/>
              </a:rPr>
              <a:t>882</a:t>
            </a:r>
          </a:p>
        </p:txBody>
      </p:sp>
      <p:sp>
        <p:nvSpPr>
          <p:cNvPr id="23" name="TextBox 22"/>
          <p:cNvSpPr txBox="1"/>
          <p:nvPr/>
        </p:nvSpPr>
        <p:spPr>
          <a:xfrm>
            <a:off x="585216" y="4114800"/>
            <a:ext cx="1920240" cy="566928"/>
          </a:xfrm>
          <a:prstGeom prst="rect">
            <a:avLst/>
          </a:prstGeom>
          <a:noFill/>
        </p:spPr>
        <p:txBody>
          <a:bodyPr wrap="square" lIns="0" rIns="0" tIns="0" bIns="0" anchor="t"/>
          <a:lstStyle/>
          <a:p>
            <a:pPr algn="l">
              <a:spcBef>
                <a:spcPts val="0"/>
              </a:spcBef>
              <a:spcAft>
                <a:spcPts val="0"/>
              </a:spcAft>
            </a:pPr>
            <a:r>
              <a:rPr sz="1300" b="1">
                <a:solidFill>
                  <a:srgbClr val="161616"/>
                </a:solidFill>
                <a:latin typeface="Calibri"/>
                <a:ea typeface="Calibri"/>
                <a:cs typeface="Calibri"/>
              </a:rPr>
              <a:t>Direct</a:t>
            </a:r>
          </a:p>
          <a:p>
            <a:pPr algn="l">
              <a:spcBef>
                <a:spcPts val="100"/>
              </a:spcBef>
              <a:spcAft>
                <a:spcPts val="0"/>
              </a:spcAft>
            </a:pPr>
            <a:r>
              <a:rPr sz="1100" b="0">
                <a:solidFill>
                  <a:srgbClr val="5C5856"/>
                </a:solidFill>
                <a:latin typeface="Calibri"/>
                <a:ea typeface="Calibri"/>
                <a:cs typeface="Calibri"/>
              </a:rPr>
              <a:t>Already had the link</a:t>
            </a:r>
          </a:p>
        </p:txBody>
      </p:sp>
      <p:sp>
        <p:nvSpPr>
          <p:cNvPr id="24" name="Rounded Rectangle 23"/>
          <p:cNvSpPr/>
          <p:nvPr/>
        </p:nvSpPr>
        <p:spPr>
          <a:xfrm>
            <a:off x="2761488" y="3547872"/>
            <a:ext cx="2212848" cy="1298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07792" y="3657600"/>
            <a:ext cx="1920240" cy="457200"/>
          </a:xfrm>
          <a:prstGeom prst="rect">
            <a:avLst/>
          </a:prstGeom>
          <a:noFill/>
        </p:spPr>
        <p:txBody>
          <a:bodyPr wrap="square" lIns="0" rIns="0" tIns="0" bIns="0" anchor="t"/>
          <a:lstStyle/>
          <a:p>
            <a:pPr algn="l">
              <a:spcBef>
                <a:spcPts val="0"/>
              </a:spcBef>
              <a:spcAft>
                <a:spcPts val="0"/>
              </a:spcAft>
            </a:pPr>
            <a:r>
              <a:rPr sz="2200" b="1">
                <a:solidFill>
                  <a:srgbClr val="161616"/>
                </a:solidFill>
                <a:latin typeface="Calibri"/>
                <a:ea typeface="Calibri"/>
                <a:cs typeface="Calibri"/>
              </a:rPr>
              <a:t>112</a:t>
            </a:r>
          </a:p>
        </p:txBody>
      </p:sp>
      <p:sp>
        <p:nvSpPr>
          <p:cNvPr id="26" name="TextBox 25"/>
          <p:cNvSpPr txBox="1"/>
          <p:nvPr/>
        </p:nvSpPr>
        <p:spPr>
          <a:xfrm>
            <a:off x="2907792" y="4114800"/>
            <a:ext cx="1920240" cy="566928"/>
          </a:xfrm>
          <a:prstGeom prst="rect">
            <a:avLst/>
          </a:prstGeom>
          <a:noFill/>
        </p:spPr>
        <p:txBody>
          <a:bodyPr wrap="square" lIns="0" rIns="0" tIns="0" bIns="0" anchor="t"/>
          <a:lstStyle/>
          <a:p>
            <a:pPr algn="l">
              <a:spcBef>
                <a:spcPts val="0"/>
              </a:spcBef>
              <a:spcAft>
                <a:spcPts val="0"/>
              </a:spcAft>
            </a:pPr>
            <a:r>
              <a:rPr sz="1300" b="1">
                <a:solidFill>
                  <a:srgbClr val="161616"/>
                </a:solidFill>
                <a:latin typeface="Calibri"/>
                <a:ea typeface="Calibri"/>
                <a:cs typeface="Calibri"/>
              </a:rPr>
              <a:t>Social</a:t>
            </a:r>
          </a:p>
          <a:p>
            <a:pPr algn="l">
              <a:spcBef>
                <a:spcPts val="100"/>
              </a:spcBef>
              <a:spcAft>
                <a:spcPts val="0"/>
              </a:spcAft>
            </a:pPr>
            <a:r>
              <a:rPr sz="1100" b="0">
                <a:solidFill>
                  <a:srgbClr val="5C5856"/>
                </a:solidFill>
                <a:latin typeface="Calibri"/>
                <a:ea typeface="Calibri"/>
                <a:cs typeface="Calibri"/>
              </a:rPr>
              <a:t>Facebook, LinkedIn</a:t>
            </a:r>
          </a:p>
        </p:txBody>
      </p:sp>
      <p:sp>
        <p:nvSpPr>
          <p:cNvPr id="27" name="Rounded Rectangle 26"/>
          <p:cNvSpPr/>
          <p:nvPr/>
        </p:nvSpPr>
        <p:spPr>
          <a:xfrm>
            <a:off x="5084064" y="3547872"/>
            <a:ext cx="2212848" cy="1298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30368" y="3657600"/>
            <a:ext cx="1920240" cy="457200"/>
          </a:xfrm>
          <a:prstGeom prst="rect">
            <a:avLst/>
          </a:prstGeom>
          <a:noFill/>
        </p:spPr>
        <p:txBody>
          <a:bodyPr wrap="square" lIns="0" rIns="0" tIns="0" bIns="0" anchor="t"/>
          <a:lstStyle/>
          <a:p>
            <a:pPr algn="l">
              <a:spcBef>
                <a:spcPts val="0"/>
              </a:spcBef>
              <a:spcAft>
                <a:spcPts val="0"/>
              </a:spcAft>
            </a:pPr>
            <a:r>
              <a:rPr sz="2200" b="1">
                <a:solidFill>
                  <a:srgbClr val="161616"/>
                </a:solidFill>
                <a:latin typeface="Calibri"/>
                <a:ea typeface="Calibri"/>
                <a:cs typeface="Calibri"/>
              </a:rPr>
              <a:t>67</a:t>
            </a:r>
          </a:p>
        </p:txBody>
      </p:sp>
      <p:sp>
        <p:nvSpPr>
          <p:cNvPr id="29" name="TextBox 28"/>
          <p:cNvSpPr txBox="1"/>
          <p:nvPr/>
        </p:nvSpPr>
        <p:spPr>
          <a:xfrm>
            <a:off x="5230368" y="4114800"/>
            <a:ext cx="1920240" cy="566928"/>
          </a:xfrm>
          <a:prstGeom prst="rect">
            <a:avLst/>
          </a:prstGeom>
          <a:noFill/>
        </p:spPr>
        <p:txBody>
          <a:bodyPr wrap="square" lIns="0" rIns="0" tIns="0" bIns="0" anchor="t"/>
          <a:lstStyle/>
          <a:p>
            <a:pPr algn="l">
              <a:spcBef>
                <a:spcPts val="0"/>
              </a:spcBef>
              <a:spcAft>
                <a:spcPts val="0"/>
              </a:spcAft>
            </a:pPr>
            <a:r>
              <a:rPr sz="1300" b="1">
                <a:solidFill>
                  <a:srgbClr val="161616"/>
                </a:solidFill>
                <a:latin typeface="Calibri"/>
                <a:ea typeface="Calibri"/>
                <a:cs typeface="Calibri"/>
              </a:rPr>
              <a:t>Search</a:t>
            </a:r>
          </a:p>
          <a:p>
            <a:pPr algn="l">
              <a:spcBef>
                <a:spcPts val="100"/>
              </a:spcBef>
              <a:spcAft>
                <a:spcPts val="0"/>
              </a:spcAft>
            </a:pPr>
            <a:r>
              <a:rPr sz="1100" b="0">
                <a:solidFill>
                  <a:srgbClr val="5C5856"/>
                </a:solidFill>
                <a:latin typeface="Calibri"/>
                <a:ea typeface="Calibri"/>
                <a:cs typeface="Calibri"/>
              </a:rPr>
              <a:t>Google and others</a:t>
            </a:r>
          </a:p>
        </p:txBody>
      </p:sp>
      <p:sp>
        <p:nvSpPr>
          <p:cNvPr id="30" name="Rounded Rectangle 29"/>
          <p:cNvSpPr/>
          <p:nvPr/>
        </p:nvSpPr>
        <p:spPr>
          <a:xfrm>
            <a:off x="7406640" y="3547872"/>
            <a:ext cx="2212848" cy="1298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52944" y="3657600"/>
            <a:ext cx="1920240" cy="457200"/>
          </a:xfrm>
          <a:prstGeom prst="rect">
            <a:avLst/>
          </a:prstGeom>
          <a:noFill/>
        </p:spPr>
        <p:txBody>
          <a:bodyPr wrap="square" lIns="0" rIns="0" tIns="0" bIns="0" anchor="t"/>
          <a:lstStyle/>
          <a:p>
            <a:pPr algn="l">
              <a:spcBef>
                <a:spcPts val="0"/>
              </a:spcBef>
              <a:spcAft>
                <a:spcPts val="0"/>
              </a:spcAft>
            </a:pPr>
            <a:r>
              <a:rPr sz="2200" b="1">
                <a:solidFill>
                  <a:srgbClr val="161616"/>
                </a:solidFill>
                <a:latin typeface="Calibri"/>
                <a:ea typeface="Calibri"/>
                <a:cs typeface="Calibri"/>
              </a:rPr>
              <a:t>10</a:t>
            </a:r>
          </a:p>
        </p:txBody>
      </p:sp>
      <p:sp>
        <p:nvSpPr>
          <p:cNvPr id="32" name="TextBox 31"/>
          <p:cNvSpPr txBox="1"/>
          <p:nvPr/>
        </p:nvSpPr>
        <p:spPr>
          <a:xfrm>
            <a:off x="7552944" y="4114800"/>
            <a:ext cx="1920240" cy="566928"/>
          </a:xfrm>
          <a:prstGeom prst="rect">
            <a:avLst/>
          </a:prstGeom>
          <a:noFill/>
        </p:spPr>
        <p:txBody>
          <a:bodyPr wrap="square" lIns="0" rIns="0" tIns="0" bIns="0" anchor="t"/>
          <a:lstStyle/>
          <a:p>
            <a:pPr algn="l">
              <a:spcBef>
                <a:spcPts val="0"/>
              </a:spcBef>
              <a:spcAft>
                <a:spcPts val="0"/>
              </a:spcAft>
            </a:pPr>
            <a:r>
              <a:rPr sz="1300" b="1">
                <a:solidFill>
                  <a:srgbClr val="161616"/>
                </a:solidFill>
                <a:latin typeface="Calibri"/>
                <a:ea typeface="Calibri"/>
                <a:cs typeface="Calibri"/>
              </a:rPr>
              <a:t>AI tools</a:t>
            </a:r>
          </a:p>
          <a:p>
            <a:pPr algn="l">
              <a:spcBef>
                <a:spcPts val="100"/>
              </a:spcBef>
              <a:spcAft>
                <a:spcPts val="0"/>
              </a:spcAft>
            </a:pPr>
            <a:r>
              <a:rPr sz="1100" b="0">
                <a:solidFill>
                  <a:srgbClr val="5C5856"/>
                </a:solidFill>
                <a:latin typeface="Calibri"/>
                <a:ea typeface="Calibri"/>
                <a:cs typeface="Calibri"/>
              </a:rPr>
              <a:t>ChatGPT and similar</a:t>
            </a:r>
          </a:p>
        </p:txBody>
      </p:sp>
      <p:sp>
        <p:nvSpPr>
          <p:cNvPr id="33" name="Rounded Rectangle 32"/>
          <p:cNvSpPr/>
          <p:nvPr/>
        </p:nvSpPr>
        <p:spPr>
          <a:xfrm>
            <a:off x="9729216" y="3547872"/>
            <a:ext cx="2212848" cy="12984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0" y="3657600"/>
            <a:ext cx="1920240" cy="457200"/>
          </a:xfrm>
          <a:prstGeom prst="rect">
            <a:avLst/>
          </a:prstGeom>
          <a:noFill/>
        </p:spPr>
        <p:txBody>
          <a:bodyPr wrap="square" lIns="0" rIns="0" tIns="0" bIns="0" anchor="t"/>
          <a:lstStyle/>
          <a:p>
            <a:pPr algn="l">
              <a:spcBef>
                <a:spcPts val="0"/>
              </a:spcBef>
              <a:spcAft>
                <a:spcPts val="0"/>
              </a:spcAft>
            </a:pPr>
            <a:r>
              <a:rPr sz="2200" b="1">
                <a:solidFill>
                  <a:srgbClr val="161616"/>
                </a:solidFill>
                <a:latin typeface="Calibri"/>
                <a:ea typeface="Calibri"/>
                <a:cs typeface="Calibri"/>
              </a:rPr>
              <a:t>1</a:t>
            </a:r>
          </a:p>
        </p:txBody>
      </p:sp>
      <p:sp>
        <p:nvSpPr>
          <p:cNvPr id="35" name="TextBox 34"/>
          <p:cNvSpPr txBox="1"/>
          <p:nvPr/>
        </p:nvSpPr>
        <p:spPr>
          <a:xfrm>
            <a:off x="9875520" y="4114800"/>
            <a:ext cx="1920240" cy="566928"/>
          </a:xfrm>
          <a:prstGeom prst="rect">
            <a:avLst/>
          </a:prstGeom>
          <a:noFill/>
        </p:spPr>
        <p:txBody>
          <a:bodyPr wrap="square" lIns="0" rIns="0" tIns="0" bIns="0" anchor="t"/>
          <a:lstStyle/>
          <a:p>
            <a:pPr algn="l">
              <a:spcBef>
                <a:spcPts val="0"/>
              </a:spcBef>
              <a:spcAft>
                <a:spcPts val="0"/>
              </a:spcAft>
            </a:pPr>
            <a:r>
              <a:rPr sz="1300" b="1">
                <a:solidFill>
                  <a:srgbClr val="161616"/>
                </a:solidFill>
                <a:latin typeface="Calibri"/>
                <a:ea typeface="Calibri"/>
                <a:cs typeface="Calibri"/>
              </a:rPr>
              <a:t>Paid click</a:t>
            </a:r>
          </a:p>
          <a:p>
            <a:pPr algn="l">
              <a:spcBef>
                <a:spcPts val="100"/>
              </a:spcBef>
              <a:spcAft>
                <a:spcPts val="0"/>
              </a:spcAft>
            </a:pPr>
            <a:r>
              <a:rPr sz="1100" b="0">
                <a:solidFill>
                  <a:srgbClr val="5C5856"/>
                </a:solidFill>
                <a:latin typeface="Calibri"/>
                <a:ea typeface="Calibri"/>
                <a:cs typeface="Calibri"/>
              </a:rPr>
              <a:t>One Google ad click</a:t>
            </a:r>
          </a:p>
        </p:txBody>
      </p:sp>
      <p:sp>
        <p:nvSpPr>
          <p:cNvPr id="36" name="Rounded Rectangle 35"/>
          <p:cNvSpPr/>
          <p:nvPr/>
        </p:nvSpPr>
        <p:spPr>
          <a:xfrm>
            <a:off x="438912" y="5029200"/>
            <a:ext cx="11320272" cy="1353312"/>
          </a:xfrm>
          <a:prstGeom prst="roundRect">
            <a:avLst>
              <a:gd name="adj" fmla="val 5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157216"/>
            <a:ext cx="10881360" cy="292608"/>
          </a:xfrm>
          <a:prstGeom prst="rect">
            <a:avLst/>
          </a:prstGeom>
          <a:noFill/>
        </p:spPr>
        <p:txBody>
          <a:bodyPr wrap="square" lIns="0" rIns="0" tIns="0" bIns="0" anchor="t"/>
          <a:lstStyle/>
          <a:p>
            <a:pPr algn="l">
              <a:spcBef>
                <a:spcPts val="0"/>
              </a:spcBef>
              <a:spcAft>
                <a:spcPts val="0"/>
              </a:spcAft>
            </a:pPr>
            <a:r>
              <a:rPr sz="1200" b="1">
                <a:solidFill>
                  <a:srgbClr val="D90B1C"/>
                </a:solidFill>
                <a:latin typeface="Calibri"/>
                <a:ea typeface="Calibri"/>
                <a:cs typeface="Calibri"/>
              </a:rPr>
              <a:t>What stands out</a:t>
            </a:r>
          </a:p>
        </p:txBody>
      </p:sp>
      <p:sp>
        <p:nvSpPr>
          <p:cNvPr id="38" name="TextBox 37"/>
          <p:cNvSpPr txBox="1"/>
          <p:nvPr/>
        </p:nvSpPr>
        <p:spPr>
          <a:xfrm>
            <a:off x="658368" y="5449824"/>
            <a:ext cx="10881360" cy="777240"/>
          </a:xfrm>
          <a:prstGeom prst="rect">
            <a:avLst/>
          </a:prstGeom>
          <a:noFill/>
        </p:spPr>
        <p:txBody>
          <a:bodyPr wrap="square" lIns="0" rIns="0" tIns="0" bIns="0" anchor="t"/>
          <a:lstStyle/>
          <a:p>
            <a:pPr algn="l">
              <a:spcBef>
                <a:spcPts val="0"/>
              </a:spcBef>
              <a:spcAft>
                <a:spcPts val="200"/>
              </a:spcAft>
            </a:pPr>
            <a:r>
              <a:rPr sz="1400" b="0">
                <a:solidFill>
                  <a:srgbClr val="FFFFFF"/>
                </a:solidFill>
                <a:latin typeface="Calibri"/>
                <a:ea typeface="Calibri"/>
                <a:cs typeface="Calibri"/>
              </a:rPr>
              <a:t>Most people did not come from Google. They already knew the address. Time on site was about 2 minutes.</a:t>
            </a:r>
          </a:p>
          <a:p>
            <a:pPr algn="l">
              <a:spcBef>
                <a:spcPts val="0"/>
              </a:spcBef>
              <a:spcAft>
                <a:spcPts val="0"/>
              </a:spcAft>
            </a:pPr>
            <a:r>
              <a:rPr sz="1300" b="0">
                <a:solidFill>
                  <a:srgbClr val="D5D0CC"/>
                </a:solidFill>
                <a:latin typeface="Calibri"/>
                <a:ea typeface="Calibri"/>
                <a:cs typeface="Calibri"/>
              </a:rPr>
              <a:t>Largest city in the file: Singapore 438. In India: Pune 117, Nagpur 69, Solapur 49, Mumbai 19. Leads recorded: 0.</a:t>
            </a:r>
          </a:p>
        </p:txBody>
      </p:sp>
      <p:sp>
        <p:nvSpPr>
          <p:cNvPr id="39" name="TextBox 38"/>
          <p:cNvSpPr txBox="1"/>
          <p:nvPr/>
        </p:nvSpPr>
        <p:spPr>
          <a:xfrm>
            <a:off x="438912" y="6510528"/>
            <a:ext cx="8412480" cy="256032"/>
          </a:xfrm>
          <a:prstGeom prst="rect">
            <a:avLst/>
          </a:prstGeom>
          <a:noFill/>
        </p:spPr>
        <p:txBody>
          <a:bodyPr wrap="square" lIns="0" rIns="0" tIns="0" bIns="0" anchor="t"/>
          <a:lstStyle/>
          <a:p>
            <a:pPr algn="l">
              <a:spcBef>
                <a:spcPts val="0"/>
              </a:spcBef>
              <a:spcAft>
                <a:spcPts val="0"/>
              </a:spcAft>
            </a:pPr>
            <a:r>
              <a:rPr sz="1000" b="0">
                <a:solidFill>
                  <a:srgbClr val="5C5856"/>
                </a:solidFill>
                <a:latin typeface="Calibri"/>
                <a:ea typeface="Calibri"/>
                <a:cs typeface="Calibri"/>
              </a:rPr>
              <a:t>Growthik Media   ·   searchsarkarinaukri.com   ·   1 Aug – 30 Sep 2026</a:t>
            </a:r>
          </a:p>
        </p:txBody>
      </p:sp>
      <p:sp>
        <p:nvSpPr>
          <p:cNvPr id="40" name="TextBox 39"/>
          <p:cNvSpPr txBox="1"/>
          <p:nvPr/>
        </p:nvSpPr>
        <p:spPr>
          <a:xfrm>
            <a:off x="10332720" y="6510528"/>
            <a:ext cx="1417320" cy="256032"/>
          </a:xfrm>
          <a:prstGeom prst="rect">
            <a:avLst/>
          </a:prstGeom>
          <a:noFill/>
        </p:spPr>
        <p:txBody>
          <a:bodyPr wrap="square" lIns="0" rIns="0" tIns="0" bIns="0" anchor="t"/>
          <a:lstStyle/>
          <a:p>
            <a:pPr algn="r">
              <a:spcBef>
                <a:spcPts val="0"/>
              </a:spcBef>
              <a:spcAft>
                <a:spcPts val="0"/>
              </a:spcAft>
            </a:pPr>
            <a:r>
              <a:rPr sz="1000" b="1">
                <a:solidFill>
                  <a:srgbClr val="D90B1C"/>
                </a:solidFill>
                <a:latin typeface="Calibri"/>
                <a:ea typeface="Calibri"/>
                <a:cs typeface="Calibri"/>
              </a:rPr>
              <a:t>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7315200" cy="237744"/>
          </a:xfrm>
          <a:prstGeom prst="rect">
            <a:avLst/>
          </a:prstGeom>
          <a:noFill/>
        </p:spPr>
        <p:txBody>
          <a:bodyPr wrap="square" lIns="0" rIns="0" tIns="0" bIns="0" anchor="t"/>
          <a:lstStyle/>
          <a:p>
            <a:pPr algn="l">
              <a:spcBef>
                <a:spcPts val="0"/>
              </a:spcBef>
              <a:spcAft>
                <a:spcPts val="0"/>
              </a:spcAft>
            </a:pPr>
            <a:r>
              <a:rPr sz="1200" b="1">
                <a:solidFill>
                  <a:srgbClr val="D90B1C"/>
                </a:solidFill>
                <a:latin typeface="Calibri"/>
                <a:ea typeface="Calibri"/>
                <a:cs typeface="Calibri"/>
              </a:rPr>
              <a:t>ATTENTION</a:t>
            </a:r>
          </a:p>
        </p:txBody>
      </p:sp>
      <p:sp>
        <p:nvSpPr>
          <p:cNvPr id="5" name="TextBox 4"/>
          <p:cNvSpPr txBox="1"/>
          <p:nvPr/>
        </p:nvSpPr>
        <p:spPr>
          <a:xfrm>
            <a:off x="438912" y="438912"/>
            <a:ext cx="10972800" cy="365760"/>
          </a:xfrm>
          <a:prstGeom prst="rect">
            <a:avLst/>
          </a:prstGeom>
          <a:noFill/>
        </p:spPr>
        <p:txBody>
          <a:bodyPr wrap="square" lIns="0" rIns="0" tIns="0" bIns="0" anchor="t"/>
          <a:lstStyle/>
          <a:p>
            <a:pPr algn="l">
              <a:spcBef>
                <a:spcPts val="0"/>
              </a:spcBef>
              <a:spcAft>
                <a:spcPts val="0"/>
              </a:spcAft>
            </a:pPr>
            <a:r>
              <a:rPr sz="2600" b="1">
                <a:solidFill>
                  <a:srgbClr val="161616"/>
                </a:solidFill>
                <a:latin typeface="Calibri"/>
                <a:ea typeface="Calibri"/>
                <a:cs typeface="Calibri"/>
              </a:rPr>
              <a:t>Search, AI tools, and social</a:t>
            </a:r>
          </a:p>
        </p:txBody>
      </p:sp>
      <p:sp>
        <p:nvSpPr>
          <p:cNvPr id="6" name="Rounded Rectangle 5"/>
          <p:cNvSpPr/>
          <p:nvPr/>
        </p:nvSpPr>
        <p:spPr>
          <a:xfrm>
            <a:off x="384048" y="987552"/>
            <a:ext cx="3639312" cy="5349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987552"/>
            <a:ext cx="3639312"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1170432"/>
            <a:ext cx="3236976" cy="274320"/>
          </a:xfrm>
          <a:prstGeom prst="rect">
            <a:avLst/>
          </a:prstGeom>
          <a:noFill/>
        </p:spPr>
        <p:txBody>
          <a:bodyPr wrap="square" lIns="0" rIns="0" tIns="0" bIns="0" anchor="t"/>
          <a:lstStyle/>
          <a:p>
            <a:pPr algn="l">
              <a:spcBef>
                <a:spcPts val="0"/>
              </a:spcBef>
              <a:spcAft>
                <a:spcPts val="0"/>
              </a:spcAft>
            </a:pPr>
            <a:r>
              <a:rPr sz="1400" b="1">
                <a:solidFill>
                  <a:srgbClr val="D90B1C"/>
                </a:solidFill>
                <a:latin typeface="Calibri"/>
                <a:ea typeface="Calibri"/>
                <a:cs typeface="Calibri"/>
              </a:rPr>
              <a:t>Google search</a:t>
            </a:r>
          </a:p>
        </p:txBody>
      </p:sp>
      <p:sp>
        <p:nvSpPr>
          <p:cNvPr id="9" name="TextBox 8"/>
          <p:cNvSpPr txBox="1"/>
          <p:nvPr/>
        </p:nvSpPr>
        <p:spPr>
          <a:xfrm>
            <a:off x="585216" y="1481328"/>
            <a:ext cx="3236976" cy="566928"/>
          </a:xfrm>
          <a:prstGeom prst="rect">
            <a:avLst/>
          </a:prstGeom>
          <a:noFill/>
        </p:spPr>
        <p:txBody>
          <a:bodyPr wrap="square" lIns="0" rIns="0" tIns="0" bIns="0" anchor="t"/>
          <a:lstStyle/>
          <a:p>
            <a:pPr algn="l">
              <a:spcBef>
                <a:spcPts val="0"/>
              </a:spcBef>
              <a:spcAft>
                <a:spcPts val="0"/>
              </a:spcAft>
            </a:pPr>
            <a:r>
              <a:rPr sz="3200" b="1">
                <a:solidFill>
                  <a:srgbClr val="161616"/>
                </a:solidFill>
                <a:latin typeface="Calibri"/>
                <a:ea typeface="Calibri"/>
                <a:cs typeface="Calibri"/>
              </a:rPr>
              <a:t>16</a:t>
            </a:r>
          </a:p>
        </p:txBody>
      </p:sp>
      <p:sp>
        <p:nvSpPr>
          <p:cNvPr id="10" name="TextBox 9"/>
          <p:cNvSpPr txBox="1"/>
          <p:nvPr/>
        </p:nvSpPr>
        <p:spPr>
          <a:xfrm>
            <a:off x="585216" y="2084831"/>
            <a:ext cx="3236976" cy="274320"/>
          </a:xfrm>
          <a:prstGeom prst="rect">
            <a:avLst/>
          </a:prstGeom>
          <a:noFill/>
        </p:spPr>
        <p:txBody>
          <a:bodyPr wrap="square" lIns="0" rIns="0" tIns="0" bIns="0" anchor="t"/>
          <a:lstStyle/>
          <a:p>
            <a:pPr algn="l">
              <a:spcBef>
                <a:spcPts val="0"/>
              </a:spcBef>
              <a:spcAft>
                <a:spcPts val="0"/>
              </a:spcAft>
            </a:pPr>
            <a:r>
              <a:rPr sz="1300" b="0">
                <a:solidFill>
                  <a:srgbClr val="5C5856"/>
                </a:solidFill>
                <a:latin typeface="Calibri"/>
                <a:ea typeface="Calibri"/>
                <a:cs typeface="Calibri"/>
              </a:rPr>
              <a:t>clicks</a:t>
            </a:r>
          </a:p>
        </p:txBody>
      </p:sp>
      <p:sp>
        <p:nvSpPr>
          <p:cNvPr id="11" name="TextBox 10"/>
          <p:cNvSpPr txBox="1"/>
          <p:nvPr/>
        </p:nvSpPr>
        <p:spPr>
          <a:xfrm>
            <a:off x="585216" y="2487168"/>
            <a:ext cx="3236976" cy="2606040"/>
          </a:xfrm>
          <a:prstGeom prst="rect">
            <a:avLst/>
          </a:prstGeom>
          <a:noFill/>
        </p:spPr>
        <p:txBody>
          <a:bodyPr wrap="square" lIns="0" rIns="0" tIns="0" bIns="0" anchor="t"/>
          <a:lstStyle/>
          <a:p>
            <a:pPr algn="l">
              <a:spcBef>
                <a:spcPts val="0"/>
              </a:spcBef>
              <a:spcAft>
                <a:spcPts val="0"/>
              </a:spcAft>
            </a:pPr>
            <a:r>
              <a:rPr sz="1200" b="0">
                <a:solidFill>
                  <a:srgbClr val="161616"/>
                </a:solidFill>
                <a:latin typeface="Calibri"/>
                <a:ea typeface="Calibri"/>
                <a:cs typeface="Calibri"/>
              </a:rPr>
              <a:t>Shown 304 times. About 5 in every 100 people clicked.</a:t>
            </a:r>
          </a:p>
          <a:p>
            <a:pPr algn="l">
              <a:spcBef>
                <a:spcPts val="800"/>
              </a:spcBef>
              <a:spcAft>
                <a:spcPts val="0"/>
              </a:spcAft>
            </a:pPr>
            <a:r>
              <a:rPr sz="1200" b="0">
                <a:solidFill>
                  <a:srgbClr val="161616"/>
                </a:solidFill>
                <a:latin typeface="Calibri"/>
                <a:ea typeface="Calibri"/>
                <a:cs typeface="Calibri"/>
              </a:rPr>
              <a:t>14 of the 16 clicks were from India. 9 were on mobile.</a:t>
            </a:r>
          </a:p>
          <a:p>
            <a:pPr algn="l">
              <a:spcBef>
                <a:spcPts val="800"/>
              </a:spcBef>
              <a:spcAft>
                <a:spcPts val="0"/>
              </a:spcAft>
            </a:pPr>
            <a:r>
              <a:rPr sz="1200" b="0">
                <a:solidFill>
                  <a:srgbClr val="161616"/>
                </a:solidFill>
                <a:latin typeface="Calibri"/>
                <a:ea typeface="Calibri"/>
                <a:cs typeface="Calibri"/>
              </a:rPr>
              <a:t>The homepage did 11 of those clicks.</a:t>
            </a:r>
          </a:p>
          <a:p>
            <a:pPr algn="l">
              <a:spcBef>
                <a:spcPts val="800"/>
              </a:spcBef>
              <a:spcAft>
                <a:spcPts val="0"/>
              </a:spcAft>
            </a:pPr>
            <a:r>
              <a:rPr sz="1200" b="0">
                <a:solidFill>
                  <a:srgbClr val="161616"/>
                </a:solidFill>
                <a:latin typeface="Calibri"/>
                <a:ea typeface="Calibri"/>
                <a:cs typeface="Calibri"/>
              </a:rPr>
              <a:t>India’s average position was about 46. The site is still far down the page.</a:t>
            </a:r>
          </a:p>
        </p:txBody>
      </p:sp>
      <p:sp>
        <p:nvSpPr>
          <p:cNvPr id="12" name="TextBox 11"/>
          <p:cNvSpPr txBox="1"/>
          <p:nvPr/>
        </p:nvSpPr>
        <p:spPr>
          <a:xfrm>
            <a:off x="585216" y="5349240"/>
            <a:ext cx="3236976" cy="777240"/>
          </a:xfrm>
          <a:prstGeom prst="rect">
            <a:avLst/>
          </a:prstGeom>
          <a:noFill/>
        </p:spPr>
        <p:txBody>
          <a:bodyPr wrap="square" lIns="0" rIns="0" tIns="0" bIns="0" anchor="t"/>
          <a:lstStyle/>
          <a:p>
            <a:pPr algn="l">
              <a:spcBef>
                <a:spcPts val="0"/>
              </a:spcBef>
              <a:spcAft>
                <a:spcPts val="0"/>
              </a:spcAft>
            </a:pPr>
            <a:r>
              <a:rPr sz="1100" b="1">
                <a:solidFill>
                  <a:srgbClr val="D90B1C"/>
                </a:solidFill>
                <a:latin typeface="Calibri"/>
                <a:ea typeface="Calibri"/>
                <a:cs typeface="Calibri"/>
              </a:rPr>
              <a:t>This Google file runs 17 May – 28 Sep, so it is wider than these two months.</a:t>
            </a:r>
          </a:p>
        </p:txBody>
      </p:sp>
      <p:sp>
        <p:nvSpPr>
          <p:cNvPr id="13" name="Rounded Rectangle 12"/>
          <p:cNvSpPr/>
          <p:nvPr/>
        </p:nvSpPr>
        <p:spPr>
          <a:xfrm>
            <a:off x="4279392" y="987552"/>
            <a:ext cx="3639312" cy="5349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987552"/>
            <a:ext cx="3639312"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1170432"/>
            <a:ext cx="3236976" cy="274320"/>
          </a:xfrm>
          <a:prstGeom prst="rect">
            <a:avLst/>
          </a:prstGeom>
          <a:noFill/>
        </p:spPr>
        <p:txBody>
          <a:bodyPr wrap="square" lIns="0" rIns="0" tIns="0" bIns="0" anchor="t"/>
          <a:lstStyle/>
          <a:p>
            <a:pPr algn="l">
              <a:spcBef>
                <a:spcPts val="0"/>
              </a:spcBef>
              <a:spcAft>
                <a:spcPts val="0"/>
              </a:spcAft>
            </a:pPr>
            <a:r>
              <a:rPr sz="1400" b="1">
                <a:solidFill>
                  <a:srgbClr val="D90B1C"/>
                </a:solidFill>
                <a:latin typeface="Calibri"/>
                <a:ea typeface="Calibri"/>
                <a:cs typeface="Calibri"/>
              </a:rPr>
              <a:t>AI citations</a:t>
            </a:r>
          </a:p>
        </p:txBody>
      </p:sp>
      <p:sp>
        <p:nvSpPr>
          <p:cNvPr id="16" name="TextBox 15"/>
          <p:cNvSpPr txBox="1"/>
          <p:nvPr/>
        </p:nvSpPr>
        <p:spPr>
          <a:xfrm>
            <a:off x="4480559" y="1481328"/>
            <a:ext cx="3236976" cy="566928"/>
          </a:xfrm>
          <a:prstGeom prst="rect">
            <a:avLst/>
          </a:prstGeom>
          <a:noFill/>
        </p:spPr>
        <p:txBody>
          <a:bodyPr wrap="square" lIns="0" rIns="0" tIns="0" bIns="0" anchor="t"/>
          <a:lstStyle/>
          <a:p>
            <a:pPr algn="l">
              <a:spcBef>
                <a:spcPts val="0"/>
              </a:spcBef>
              <a:spcAft>
                <a:spcPts val="0"/>
              </a:spcAft>
            </a:pPr>
            <a:r>
              <a:rPr sz="3200" b="1">
                <a:solidFill>
                  <a:srgbClr val="161616"/>
                </a:solidFill>
                <a:latin typeface="Calibri"/>
                <a:ea typeface="Calibri"/>
                <a:cs typeface="Calibri"/>
              </a:rPr>
              <a:t>876</a:t>
            </a:r>
          </a:p>
        </p:txBody>
      </p:sp>
      <p:sp>
        <p:nvSpPr>
          <p:cNvPr id="17" name="TextBox 16"/>
          <p:cNvSpPr txBox="1"/>
          <p:nvPr/>
        </p:nvSpPr>
        <p:spPr>
          <a:xfrm>
            <a:off x="4480559" y="2084831"/>
            <a:ext cx="3236976" cy="274320"/>
          </a:xfrm>
          <a:prstGeom prst="rect">
            <a:avLst/>
          </a:prstGeom>
          <a:noFill/>
        </p:spPr>
        <p:txBody>
          <a:bodyPr wrap="square" lIns="0" rIns="0" tIns="0" bIns="0" anchor="t"/>
          <a:lstStyle/>
          <a:p>
            <a:pPr algn="l">
              <a:spcBef>
                <a:spcPts val="0"/>
              </a:spcBef>
              <a:spcAft>
                <a:spcPts val="0"/>
              </a:spcAft>
            </a:pPr>
            <a:r>
              <a:rPr sz="1300" b="0">
                <a:solidFill>
                  <a:srgbClr val="5C5856"/>
                </a:solidFill>
                <a:latin typeface="Calibri"/>
                <a:ea typeface="Calibri"/>
                <a:cs typeface="Calibri"/>
              </a:rPr>
              <a:t>in August</a:t>
            </a:r>
          </a:p>
        </p:txBody>
      </p:sp>
      <p:sp>
        <p:nvSpPr>
          <p:cNvPr id="18" name="TextBox 17"/>
          <p:cNvSpPr txBox="1"/>
          <p:nvPr/>
        </p:nvSpPr>
        <p:spPr>
          <a:xfrm>
            <a:off x="4480559" y="2487168"/>
            <a:ext cx="3236976" cy="2606040"/>
          </a:xfrm>
          <a:prstGeom prst="rect">
            <a:avLst/>
          </a:prstGeom>
          <a:noFill/>
        </p:spPr>
        <p:txBody>
          <a:bodyPr wrap="square" lIns="0" rIns="0" tIns="0" bIns="0" anchor="t"/>
          <a:lstStyle/>
          <a:p>
            <a:pPr algn="l">
              <a:spcBef>
                <a:spcPts val="0"/>
              </a:spcBef>
              <a:spcAft>
                <a:spcPts val="0"/>
              </a:spcAft>
            </a:pPr>
            <a:r>
              <a:rPr sz="1200" b="0">
                <a:solidFill>
                  <a:srgbClr val="161616"/>
                </a:solidFill>
                <a:latin typeface="Calibri"/>
                <a:ea typeface="Calibri"/>
                <a:cs typeface="Calibri"/>
              </a:rPr>
              <a:t>July was 145. September was 776, up to 28 September.</a:t>
            </a:r>
          </a:p>
          <a:p>
            <a:pPr algn="l">
              <a:spcBef>
                <a:spcPts val="800"/>
              </a:spcBef>
              <a:spcAft>
                <a:spcPts val="0"/>
              </a:spcAft>
            </a:pPr>
            <a:r>
              <a:rPr sz="1200" b="0">
                <a:solidFill>
                  <a:srgbClr val="161616"/>
                </a:solidFill>
                <a:latin typeface="Calibri"/>
                <a:ea typeface="Calibri"/>
                <a:cs typeface="Calibri"/>
              </a:rPr>
              <a:t>Total in the file: 1,797 citations.</a:t>
            </a:r>
          </a:p>
          <a:p>
            <a:pPr algn="l">
              <a:spcBef>
                <a:spcPts val="800"/>
              </a:spcBef>
              <a:spcAft>
                <a:spcPts val="0"/>
              </a:spcAft>
            </a:pPr>
            <a:r>
              <a:rPr sz="1200" b="0">
                <a:solidFill>
                  <a:srgbClr val="161616"/>
                </a:solidFill>
                <a:latin typeface="Calibri"/>
                <a:ea typeface="Calibri"/>
                <a:cs typeface="Calibri"/>
              </a:rPr>
              <a:t>Biggest day: 6 September, with 180 citations.</a:t>
            </a:r>
          </a:p>
          <a:p>
            <a:pPr algn="l">
              <a:spcBef>
                <a:spcPts val="800"/>
              </a:spcBef>
              <a:spcAft>
                <a:spcPts val="0"/>
              </a:spcAft>
            </a:pPr>
            <a:r>
              <a:rPr sz="1200" b="0">
                <a:solidFill>
                  <a:srgbClr val="161616"/>
                </a:solidFill>
                <a:latin typeface="Calibri"/>
                <a:ea typeface="Calibri"/>
                <a:cs typeface="Calibri"/>
              </a:rPr>
              <a:t>The site is being used as a source, even while Google clicks stay low.</a:t>
            </a:r>
          </a:p>
        </p:txBody>
      </p:sp>
      <p:sp>
        <p:nvSpPr>
          <p:cNvPr id="19" name="TextBox 18"/>
          <p:cNvSpPr txBox="1"/>
          <p:nvPr/>
        </p:nvSpPr>
        <p:spPr>
          <a:xfrm>
            <a:off x="4480559" y="5349240"/>
            <a:ext cx="3236976" cy="777240"/>
          </a:xfrm>
          <a:prstGeom prst="rect">
            <a:avLst/>
          </a:prstGeom>
          <a:noFill/>
        </p:spPr>
        <p:txBody>
          <a:bodyPr wrap="square" lIns="0" rIns="0" tIns="0" bIns="0" anchor="t"/>
          <a:lstStyle/>
          <a:p>
            <a:pPr algn="l">
              <a:spcBef>
                <a:spcPts val="0"/>
              </a:spcBef>
              <a:spcAft>
                <a:spcPts val="0"/>
              </a:spcAft>
            </a:pPr>
            <a:r>
              <a:rPr sz="1100" b="1">
                <a:solidFill>
                  <a:srgbClr val="D90B1C"/>
                </a:solidFill>
                <a:latin typeface="Calibri"/>
                <a:ea typeface="Calibri"/>
                <a:cs typeface="Calibri"/>
              </a:rPr>
              <a:t>This is the clearest gain in these two months.</a:t>
            </a:r>
          </a:p>
        </p:txBody>
      </p:sp>
      <p:sp>
        <p:nvSpPr>
          <p:cNvPr id="20" name="Rounded Rectangle 19"/>
          <p:cNvSpPr/>
          <p:nvPr/>
        </p:nvSpPr>
        <p:spPr>
          <a:xfrm>
            <a:off x="8174736" y="987552"/>
            <a:ext cx="3639312" cy="5349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74736" y="987552"/>
            <a:ext cx="3639312"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75904" y="1170432"/>
            <a:ext cx="3236976" cy="274320"/>
          </a:xfrm>
          <a:prstGeom prst="rect">
            <a:avLst/>
          </a:prstGeom>
          <a:noFill/>
        </p:spPr>
        <p:txBody>
          <a:bodyPr wrap="square" lIns="0" rIns="0" tIns="0" bIns="0" anchor="t"/>
          <a:lstStyle/>
          <a:p>
            <a:pPr algn="l">
              <a:spcBef>
                <a:spcPts val="0"/>
              </a:spcBef>
              <a:spcAft>
                <a:spcPts val="0"/>
              </a:spcAft>
            </a:pPr>
            <a:r>
              <a:rPr sz="1400" b="1">
                <a:solidFill>
                  <a:srgbClr val="D90B1C"/>
                </a:solidFill>
                <a:latin typeface="Calibri"/>
                <a:ea typeface="Calibri"/>
                <a:cs typeface="Calibri"/>
              </a:rPr>
              <a:t>Social posts</a:t>
            </a:r>
          </a:p>
        </p:txBody>
      </p:sp>
      <p:sp>
        <p:nvSpPr>
          <p:cNvPr id="23" name="TextBox 22"/>
          <p:cNvSpPr txBox="1"/>
          <p:nvPr/>
        </p:nvSpPr>
        <p:spPr>
          <a:xfrm>
            <a:off x="8375904" y="1481328"/>
            <a:ext cx="3236976" cy="566928"/>
          </a:xfrm>
          <a:prstGeom prst="rect">
            <a:avLst/>
          </a:prstGeom>
          <a:noFill/>
        </p:spPr>
        <p:txBody>
          <a:bodyPr wrap="square" lIns="0" rIns="0" tIns="0" bIns="0" anchor="t"/>
          <a:lstStyle/>
          <a:p>
            <a:pPr algn="l">
              <a:spcBef>
                <a:spcPts val="0"/>
              </a:spcBef>
              <a:spcAft>
                <a:spcPts val="0"/>
              </a:spcAft>
            </a:pPr>
            <a:r>
              <a:rPr sz="3200" b="1">
                <a:solidFill>
                  <a:srgbClr val="161616"/>
                </a:solidFill>
                <a:latin typeface="Calibri"/>
                <a:ea typeface="Calibri"/>
                <a:cs typeface="Calibri"/>
              </a:rPr>
              <a:t>1,778</a:t>
            </a:r>
          </a:p>
        </p:txBody>
      </p:sp>
      <p:sp>
        <p:nvSpPr>
          <p:cNvPr id="24" name="TextBox 23"/>
          <p:cNvSpPr txBox="1"/>
          <p:nvPr/>
        </p:nvSpPr>
        <p:spPr>
          <a:xfrm>
            <a:off x="8375904" y="2084831"/>
            <a:ext cx="3236976" cy="274320"/>
          </a:xfrm>
          <a:prstGeom prst="rect">
            <a:avLst/>
          </a:prstGeom>
          <a:noFill/>
        </p:spPr>
        <p:txBody>
          <a:bodyPr wrap="square" lIns="0" rIns="0" tIns="0" bIns="0" anchor="t"/>
          <a:lstStyle/>
          <a:p>
            <a:pPr algn="l">
              <a:spcBef>
                <a:spcPts val="0"/>
              </a:spcBef>
              <a:spcAft>
                <a:spcPts val="0"/>
              </a:spcAft>
            </a:pPr>
            <a:r>
              <a:rPr sz="1300" b="0">
                <a:solidFill>
                  <a:srgbClr val="5C5856"/>
                </a:solidFill>
                <a:latin typeface="Calibri"/>
                <a:ea typeface="Calibri"/>
                <a:cs typeface="Calibri"/>
              </a:rPr>
              <a:t>Facebook views</a:t>
            </a:r>
          </a:p>
        </p:txBody>
      </p:sp>
      <p:sp>
        <p:nvSpPr>
          <p:cNvPr id="25" name="TextBox 24"/>
          <p:cNvSpPr txBox="1"/>
          <p:nvPr/>
        </p:nvSpPr>
        <p:spPr>
          <a:xfrm>
            <a:off x="8375904" y="2487168"/>
            <a:ext cx="3236976" cy="2606040"/>
          </a:xfrm>
          <a:prstGeom prst="rect">
            <a:avLst/>
          </a:prstGeom>
          <a:noFill/>
        </p:spPr>
        <p:txBody>
          <a:bodyPr wrap="square" lIns="0" rIns="0" tIns="0" bIns="0" anchor="t"/>
          <a:lstStyle/>
          <a:p>
            <a:pPr algn="l">
              <a:spcBef>
                <a:spcPts val="0"/>
              </a:spcBef>
              <a:spcAft>
                <a:spcPts val="0"/>
              </a:spcAft>
            </a:pPr>
            <a:r>
              <a:rPr sz="1200" b="0">
                <a:solidFill>
                  <a:srgbClr val="161616"/>
                </a:solidFill>
                <a:latin typeface="Calibri"/>
                <a:ea typeface="Calibri"/>
                <a:cs typeface="Calibri"/>
              </a:rPr>
              <a:t>August 1,222 views. September 556 views.</a:t>
            </a:r>
          </a:p>
          <a:p>
            <a:pPr algn="l">
              <a:spcBef>
                <a:spcPts val="800"/>
              </a:spcBef>
              <a:spcAft>
                <a:spcPts val="0"/>
              </a:spcAft>
            </a:pPr>
            <a:r>
              <a:rPr sz="1200" b="0">
                <a:solidFill>
                  <a:srgbClr val="161616"/>
                </a:solidFill>
                <a:latin typeface="Calibri"/>
                <a:ea typeface="Calibri"/>
                <a:cs typeface="Calibri"/>
              </a:rPr>
              <a:t>38 Facebook posts. 72 interactions. 2 new follows.</a:t>
            </a:r>
          </a:p>
          <a:p>
            <a:pPr algn="l">
              <a:spcBef>
                <a:spcPts val="800"/>
              </a:spcBef>
              <a:spcAft>
                <a:spcPts val="0"/>
              </a:spcAft>
            </a:pPr>
            <a:r>
              <a:rPr sz="1200" b="0">
                <a:solidFill>
                  <a:srgbClr val="161616"/>
                </a:solidFill>
                <a:latin typeface="Calibri"/>
                <a:ea typeface="Calibri"/>
                <a:cs typeface="Calibri"/>
              </a:rPr>
              <a:t>Only 1 link click to the website.</a:t>
            </a:r>
          </a:p>
          <a:p>
            <a:pPr algn="l">
              <a:spcBef>
                <a:spcPts val="800"/>
              </a:spcBef>
              <a:spcAft>
                <a:spcPts val="0"/>
              </a:spcAft>
            </a:pPr>
            <a:r>
              <a:rPr sz="1200" b="0">
                <a:solidFill>
                  <a:srgbClr val="161616"/>
                </a:solidFill>
                <a:latin typeface="Calibri"/>
                <a:ea typeface="Calibri"/>
                <a:cs typeface="Calibri"/>
              </a:rPr>
              <a:t>Instagram: 32 posts, 541 views, 7 likes.</a:t>
            </a:r>
          </a:p>
        </p:txBody>
      </p:sp>
      <p:sp>
        <p:nvSpPr>
          <p:cNvPr id="26" name="TextBox 25"/>
          <p:cNvSpPr txBox="1"/>
          <p:nvPr/>
        </p:nvSpPr>
        <p:spPr>
          <a:xfrm>
            <a:off x="8375904" y="5349240"/>
            <a:ext cx="3236976" cy="777240"/>
          </a:xfrm>
          <a:prstGeom prst="rect">
            <a:avLst/>
          </a:prstGeom>
          <a:noFill/>
        </p:spPr>
        <p:txBody>
          <a:bodyPr wrap="square" lIns="0" rIns="0" tIns="0" bIns="0" anchor="t"/>
          <a:lstStyle/>
          <a:p>
            <a:pPr algn="l">
              <a:spcBef>
                <a:spcPts val="0"/>
              </a:spcBef>
              <a:spcAft>
                <a:spcPts val="0"/>
              </a:spcAft>
            </a:pPr>
            <a:r>
              <a:rPr sz="1100" b="1">
                <a:solidFill>
                  <a:srgbClr val="D90B1C"/>
                </a:solidFill>
                <a:latin typeface="Calibri"/>
                <a:ea typeface="Calibri"/>
                <a:cs typeface="Calibri"/>
              </a:rPr>
              <a:t>Best post: 9 August video, 405 Facebook views.</a:t>
            </a:r>
          </a:p>
        </p:txBody>
      </p:sp>
      <p:sp>
        <p:nvSpPr>
          <p:cNvPr id="27" name="TextBox 26"/>
          <p:cNvSpPr txBox="1"/>
          <p:nvPr/>
        </p:nvSpPr>
        <p:spPr>
          <a:xfrm>
            <a:off x="438912" y="6510528"/>
            <a:ext cx="8412480" cy="256032"/>
          </a:xfrm>
          <a:prstGeom prst="rect">
            <a:avLst/>
          </a:prstGeom>
          <a:noFill/>
        </p:spPr>
        <p:txBody>
          <a:bodyPr wrap="square" lIns="0" rIns="0" tIns="0" bIns="0" anchor="t"/>
          <a:lstStyle/>
          <a:p>
            <a:pPr algn="l">
              <a:spcBef>
                <a:spcPts val="0"/>
              </a:spcBef>
              <a:spcAft>
                <a:spcPts val="0"/>
              </a:spcAft>
            </a:pPr>
            <a:r>
              <a:rPr sz="1000" b="0">
                <a:solidFill>
                  <a:srgbClr val="5C5856"/>
                </a:solidFill>
                <a:latin typeface="Calibri"/>
                <a:ea typeface="Calibri"/>
                <a:cs typeface="Calibri"/>
              </a:rPr>
              <a:t>Growthik Media   ·   searchsarkarinaukri.com   ·   1 Aug – 30 Sep 2026</a:t>
            </a:r>
          </a:p>
        </p:txBody>
      </p:sp>
      <p:sp>
        <p:nvSpPr>
          <p:cNvPr id="28" name="TextBox 27"/>
          <p:cNvSpPr txBox="1"/>
          <p:nvPr/>
        </p:nvSpPr>
        <p:spPr>
          <a:xfrm>
            <a:off x="10332720" y="6510528"/>
            <a:ext cx="1417320" cy="256032"/>
          </a:xfrm>
          <a:prstGeom prst="rect">
            <a:avLst/>
          </a:prstGeom>
          <a:noFill/>
        </p:spPr>
        <p:txBody>
          <a:bodyPr wrap="square" lIns="0" rIns="0" tIns="0" bIns="0" anchor="t"/>
          <a:lstStyle/>
          <a:p>
            <a:pPr algn="r">
              <a:spcBef>
                <a:spcPts val="0"/>
              </a:spcBef>
              <a:spcAft>
                <a:spcPts val="0"/>
              </a:spcAft>
            </a:pPr>
            <a:r>
              <a:rPr sz="1000" b="1">
                <a:solidFill>
                  <a:srgbClr val="D90B1C"/>
                </a:solidFill>
                <a:latin typeface="Calibri"/>
                <a:ea typeface="Calibri"/>
                <a:cs typeface="Calibri"/>
              </a:rPr>
              <a:t>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7315200" cy="237744"/>
          </a:xfrm>
          <a:prstGeom prst="rect">
            <a:avLst/>
          </a:prstGeom>
          <a:noFill/>
        </p:spPr>
        <p:txBody>
          <a:bodyPr wrap="square" lIns="0" rIns="0" tIns="0" bIns="0" anchor="t"/>
          <a:lstStyle/>
          <a:p>
            <a:pPr algn="l">
              <a:spcBef>
                <a:spcPts val="0"/>
              </a:spcBef>
              <a:spcAft>
                <a:spcPts val="0"/>
              </a:spcAft>
            </a:pPr>
            <a:r>
              <a:rPr sz="1200" b="1">
                <a:solidFill>
                  <a:srgbClr val="D90B1C"/>
                </a:solidFill>
                <a:latin typeface="Calibri"/>
                <a:ea typeface="Calibri"/>
                <a:cs typeface="Calibri"/>
              </a:rPr>
              <a:t>THE WORK</a:t>
            </a:r>
          </a:p>
        </p:txBody>
      </p:sp>
      <p:sp>
        <p:nvSpPr>
          <p:cNvPr id="5" name="TextBox 4"/>
          <p:cNvSpPr txBox="1"/>
          <p:nvPr/>
        </p:nvSpPr>
        <p:spPr>
          <a:xfrm>
            <a:off x="438912" y="438912"/>
            <a:ext cx="10972800" cy="365760"/>
          </a:xfrm>
          <a:prstGeom prst="rect">
            <a:avLst/>
          </a:prstGeom>
          <a:noFill/>
        </p:spPr>
        <p:txBody>
          <a:bodyPr wrap="square" lIns="0" rIns="0" tIns="0" bIns="0" anchor="t"/>
          <a:lstStyle/>
          <a:p>
            <a:pPr algn="l">
              <a:spcBef>
                <a:spcPts val="0"/>
              </a:spcBef>
              <a:spcAft>
                <a:spcPts val="0"/>
              </a:spcAft>
            </a:pPr>
            <a:r>
              <a:rPr sz="2600" b="1">
                <a:solidFill>
                  <a:srgbClr val="161616"/>
                </a:solidFill>
                <a:latin typeface="Calibri"/>
                <a:ea typeface="Calibri"/>
                <a:cs typeface="Calibri"/>
              </a:rPr>
              <a:t>What was done, and what is next</a:t>
            </a:r>
          </a:p>
        </p:txBody>
      </p:sp>
      <p:sp>
        <p:nvSpPr>
          <p:cNvPr id="6" name="Rounded Rectangle 5"/>
          <p:cNvSpPr/>
          <p:nvPr/>
        </p:nvSpPr>
        <p:spPr>
          <a:xfrm>
            <a:off x="384048" y="1005840"/>
            <a:ext cx="5623560" cy="5257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170432"/>
            <a:ext cx="5120640" cy="292608"/>
          </a:xfrm>
          <a:prstGeom prst="rect">
            <a:avLst/>
          </a:prstGeom>
          <a:noFill/>
        </p:spPr>
        <p:txBody>
          <a:bodyPr wrap="square" lIns="0" rIns="0" tIns="0" bIns="0" anchor="t"/>
          <a:lstStyle/>
          <a:p>
            <a:pPr algn="l">
              <a:spcBef>
                <a:spcPts val="0"/>
              </a:spcBef>
              <a:spcAft>
                <a:spcPts val="0"/>
              </a:spcAft>
            </a:pPr>
            <a:r>
              <a:rPr sz="1600" b="1">
                <a:solidFill>
                  <a:srgbClr val="161616"/>
                </a:solidFill>
                <a:latin typeface="Calibri"/>
                <a:ea typeface="Calibri"/>
                <a:cs typeface="Calibri"/>
              </a:rPr>
              <a:t>Done in these two months</a:t>
            </a:r>
          </a:p>
        </p:txBody>
      </p:sp>
      <p:sp>
        <p:nvSpPr>
          <p:cNvPr id="8" name="TextBox 7"/>
          <p:cNvSpPr txBox="1"/>
          <p:nvPr/>
        </p:nvSpPr>
        <p:spPr>
          <a:xfrm>
            <a:off x="621792" y="1600200"/>
            <a:ext cx="5120640" cy="256032"/>
          </a:xfrm>
          <a:prstGeom prst="rect">
            <a:avLst/>
          </a:prstGeom>
          <a:noFill/>
        </p:spPr>
        <p:txBody>
          <a:bodyPr wrap="square" lIns="0" rIns="0" tIns="0" bIns="0" anchor="t"/>
          <a:lstStyle/>
          <a:p>
            <a:pPr algn="l">
              <a:spcBef>
                <a:spcPts val="0"/>
              </a:spcBef>
              <a:spcAft>
                <a:spcPts val="0"/>
              </a:spcAft>
            </a:pPr>
            <a:r>
              <a:rPr sz="1300" b="1">
                <a:solidFill>
                  <a:srgbClr val="D90B1C"/>
                </a:solidFill>
                <a:latin typeface="Calibri"/>
                <a:ea typeface="Calibri"/>
                <a:cs typeface="Calibri"/>
              </a:rPr>
              <a:t>August</a:t>
            </a:r>
          </a:p>
        </p:txBody>
      </p:sp>
      <p:sp>
        <p:nvSpPr>
          <p:cNvPr id="9" name="TextBox 8"/>
          <p:cNvSpPr txBox="1"/>
          <p:nvPr/>
        </p:nvSpPr>
        <p:spPr>
          <a:xfrm>
            <a:off x="621792" y="1874519"/>
            <a:ext cx="5120640" cy="1417320"/>
          </a:xfrm>
          <a:prstGeom prst="rect">
            <a:avLst/>
          </a:prstGeom>
          <a:noFill/>
        </p:spPr>
        <p:txBody>
          <a:bodyPr wrap="square" lIns="0" rIns="0" tIns="0" bIns="0" anchor="t"/>
          <a:lstStyle/>
          <a:p>
            <a:pPr algn="l">
              <a:spcBef>
                <a:spcPts val="0"/>
              </a:spcBef>
              <a:spcAft>
                <a:spcPts val="0"/>
              </a:spcAft>
            </a:pPr>
            <a:r>
              <a:rPr sz="1300" b="0">
                <a:solidFill>
                  <a:srgbClr val="161616"/>
                </a:solidFill>
                <a:latin typeface="Calibri"/>
                <a:ea typeface="Calibri"/>
                <a:cs typeface="Calibri"/>
              </a:rPr>
              <a:t>Full website check on 25 August. Fixes went live the same day: real pages for Google, expired jobs removed from the sitemap, images made smaller, and homepage mobile speed moved from 42 to 74. At that check, 1,057 sitemap links were valid.</a:t>
            </a:r>
          </a:p>
        </p:txBody>
      </p:sp>
      <p:sp>
        <p:nvSpPr>
          <p:cNvPr id="10" name="TextBox 9"/>
          <p:cNvSpPr txBox="1"/>
          <p:nvPr/>
        </p:nvSpPr>
        <p:spPr>
          <a:xfrm>
            <a:off x="621792" y="3337560"/>
            <a:ext cx="5120640" cy="256032"/>
          </a:xfrm>
          <a:prstGeom prst="rect">
            <a:avLst/>
          </a:prstGeom>
          <a:noFill/>
        </p:spPr>
        <p:txBody>
          <a:bodyPr wrap="square" lIns="0" rIns="0" tIns="0" bIns="0" anchor="t"/>
          <a:lstStyle/>
          <a:p>
            <a:pPr algn="l">
              <a:spcBef>
                <a:spcPts val="0"/>
              </a:spcBef>
              <a:spcAft>
                <a:spcPts val="0"/>
              </a:spcAft>
            </a:pPr>
            <a:r>
              <a:rPr sz="1300" b="1">
                <a:solidFill>
                  <a:srgbClr val="D90B1C"/>
                </a:solidFill>
                <a:latin typeface="Calibri"/>
                <a:ea typeface="Calibri"/>
                <a:cs typeface="Calibri"/>
              </a:rPr>
              <a:t>September</a:t>
            </a:r>
          </a:p>
        </p:txBody>
      </p:sp>
      <p:sp>
        <p:nvSpPr>
          <p:cNvPr id="11" name="TextBox 10"/>
          <p:cNvSpPr txBox="1"/>
          <p:nvPr/>
        </p:nvSpPr>
        <p:spPr>
          <a:xfrm>
            <a:off x="621792" y="3611880"/>
            <a:ext cx="5120640" cy="1234440"/>
          </a:xfrm>
          <a:prstGeom prst="rect">
            <a:avLst/>
          </a:prstGeom>
          <a:noFill/>
        </p:spPr>
        <p:txBody>
          <a:bodyPr wrap="square" lIns="0" rIns="0" tIns="0" bIns="0" anchor="t"/>
          <a:lstStyle/>
          <a:p>
            <a:pPr algn="l">
              <a:spcBef>
                <a:spcPts val="0"/>
              </a:spcBef>
              <a:spcAft>
                <a:spcPts val="0"/>
              </a:spcAft>
            </a:pPr>
            <a:r>
              <a:rPr sz="1300" b="0">
                <a:solidFill>
                  <a:srgbClr val="161616"/>
                </a:solidFill>
                <a:latin typeface="Calibri"/>
                <a:ea typeface="Calibri"/>
                <a:cs typeface="Calibri"/>
              </a:rPr>
              <a:t>New pages checked live: State Government Jobs, the 2026 guide, and Exam Syllabus. Homepage counts were corrected. New articles were written for SSC CHSL, RRB NTPC, 12th pass jobs, Pune, Nagpur, Nashik, and age limit.</a:t>
            </a:r>
          </a:p>
        </p:txBody>
      </p:sp>
      <p:sp>
        <p:nvSpPr>
          <p:cNvPr id="12" name="TextBox 11"/>
          <p:cNvSpPr txBox="1"/>
          <p:nvPr/>
        </p:nvSpPr>
        <p:spPr>
          <a:xfrm>
            <a:off x="621792" y="4892040"/>
            <a:ext cx="5120640" cy="256032"/>
          </a:xfrm>
          <a:prstGeom prst="rect">
            <a:avLst/>
          </a:prstGeom>
          <a:noFill/>
        </p:spPr>
        <p:txBody>
          <a:bodyPr wrap="square" lIns="0" rIns="0" tIns="0" bIns="0" anchor="t"/>
          <a:lstStyle/>
          <a:p>
            <a:pPr algn="l">
              <a:spcBef>
                <a:spcPts val="0"/>
              </a:spcBef>
              <a:spcAft>
                <a:spcPts val="0"/>
              </a:spcAft>
            </a:pPr>
            <a:r>
              <a:rPr sz="1300" b="1">
                <a:solidFill>
                  <a:srgbClr val="D90B1C"/>
                </a:solidFill>
                <a:latin typeface="Calibri"/>
                <a:ea typeface="Calibri"/>
                <a:cs typeface="Calibri"/>
              </a:rPr>
              <a:t>Also seen in the numbers</a:t>
            </a:r>
          </a:p>
        </p:txBody>
      </p:sp>
      <p:sp>
        <p:nvSpPr>
          <p:cNvPr id="13" name="TextBox 12"/>
          <p:cNvSpPr txBox="1"/>
          <p:nvPr/>
        </p:nvSpPr>
        <p:spPr>
          <a:xfrm>
            <a:off x="621792" y="5193792"/>
            <a:ext cx="5120640" cy="868680"/>
          </a:xfrm>
          <a:prstGeom prst="rect">
            <a:avLst/>
          </a:prstGeom>
          <a:noFill/>
        </p:spPr>
        <p:txBody>
          <a:bodyPr wrap="square" lIns="0" rIns="0" tIns="0" bIns="0" anchor="t"/>
          <a:lstStyle/>
          <a:p>
            <a:pPr algn="l">
              <a:spcBef>
                <a:spcPts val="0"/>
              </a:spcBef>
              <a:spcAft>
                <a:spcPts val="0"/>
              </a:spcAft>
            </a:pPr>
            <a:r>
              <a:rPr sz="1300" b="0">
                <a:solidFill>
                  <a:srgbClr val="161616"/>
                </a:solidFill>
                <a:latin typeface="Calibri"/>
                <a:ea typeface="Calibri"/>
                <a:cs typeface="Calibri"/>
              </a:rPr>
              <a:t>People used the jobs page, the Sarkari Naukri 2026 page, and the Eligibility Checker. A “page not found” screen was still viewed 138 times.</a:t>
            </a:r>
          </a:p>
        </p:txBody>
      </p:sp>
      <p:sp>
        <p:nvSpPr>
          <p:cNvPr id="14" name="Rounded Rectangle 13"/>
          <p:cNvSpPr/>
          <p:nvPr/>
        </p:nvSpPr>
        <p:spPr>
          <a:xfrm>
            <a:off x="6199632" y="1005840"/>
            <a:ext cx="5596128" cy="5257800"/>
          </a:xfrm>
          <a:prstGeom prst="roundRect">
            <a:avLst>
              <a:gd name="adj" fmla="val 5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170432"/>
            <a:ext cx="5120640" cy="292608"/>
          </a:xfrm>
          <a:prstGeom prst="rect">
            <a:avLst/>
          </a:prstGeom>
          <a:noFill/>
        </p:spPr>
        <p:txBody>
          <a:bodyPr wrap="square" lIns="0" rIns="0" tIns="0" bIns="0" anchor="t"/>
          <a:lstStyle/>
          <a:p>
            <a:pPr algn="l">
              <a:spcBef>
                <a:spcPts val="0"/>
              </a:spcBef>
              <a:spcAft>
                <a:spcPts val="0"/>
              </a:spcAft>
            </a:pPr>
            <a:r>
              <a:rPr sz="1600" b="1">
                <a:solidFill>
                  <a:srgbClr val="FFFFFF"/>
                </a:solidFill>
                <a:latin typeface="Calibri"/>
                <a:ea typeface="Calibri"/>
                <a:cs typeface="Calibri"/>
              </a:rPr>
              <a:t>Do this next</a:t>
            </a:r>
          </a:p>
        </p:txBody>
      </p:sp>
      <p:sp>
        <p:nvSpPr>
          <p:cNvPr id="16" name="Oval 15"/>
          <p:cNvSpPr/>
          <p:nvPr/>
        </p:nvSpPr>
        <p:spPr>
          <a:xfrm>
            <a:off x="6473952" y="1645920"/>
            <a:ext cx="329184" cy="329184"/>
          </a:xfrm>
          <a:prstGeom prst="ellipse">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1664208"/>
            <a:ext cx="329184" cy="292608"/>
          </a:xfrm>
          <a:prstGeom prst="rect">
            <a:avLst/>
          </a:prstGeom>
          <a:noFill/>
        </p:spPr>
        <p:txBody>
          <a:bodyPr wrap="square" lIns="0" rIns="0" tIns="0" bIns="0" anchor="t"/>
          <a:lstStyle/>
          <a:p>
            <a:pPr algn="ctr">
              <a:spcBef>
                <a:spcPts val="0"/>
              </a:spcBef>
              <a:spcAft>
                <a:spcPts val="0"/>
              </a:spcAft>
            </a:pPr>
            <a:r>
              <a:rPr sz="1200" b="1">
                <a:solidFill>
                  <a:srgbClr val="FFFFFF"/>
                </a:solidFill>
                <a:latin typeface="Calibri"/>
                <a:ea typeface="Calibri"/>
                <a:cs typeface="Calibri"/>
              </a:rPr>
              <a:t>1</a:t>
            </a:r>
          </a:p>
        </p:txBody>
      </p:sp>
      <p:sp>
        <p:nvSpPr>
          <p:cNvPr id="18" name="TextBox 17"/>
          <p:cNvSpPr txBox="1"/>
          <p:nvPr/>
        </p:nvSpPr>
        <p:spPr>
          <a:xfrm>
            <a:off x="6931152" y="1627632"/>
            <a:ext cx="4526280" cy="640080"/>
          </a:xfrm>
          <a:prstGeom prst="rect">
            <a:avLst/>
          </a:prstGeom>
          <a:noFill/>
        </p:spPr>
        <p:txBody>
          <a:bodyPr wrap="square" lIns="0" rIns="0" tIns="0" bIns="0" anchor="t"/>
          <a:lstStyle/>
          <a:p>
            <a:pPr algn="l">
              <a:spcBef>
                <a:spcPts val="0"/>
              </a:spcBef>
              <a:spcAft>
                <a:spcPts val="0"/>
              </a:spcAft>
            </a:pPr>
            <a:r>
              <a:rPr sz="1400" b="0">
                <a:solidFill>
                  <a:srgbClr val="FFFFFF"/>
                </a:solidFill>
                <a:latin typeface="Calibri"/>
                <a:ea typeface="Calibri"/>
                <a:cs typeface="Calibri"/>
              </a:rPr>
              <a:t>Fix old job links that still open the wrong job.</a:t>
            </a:r>
          </a:p>
        </p:txBody>
      </p:sp>
      <p:sp>
        <p:nvSpPr>
          <p:cNvPr id="19" name="Oval 18"/>
          <p:cNvSpPr/>
          <p:nvPr/>
        </p:nvSpPr>
        <p:spPr>
          <a:xfrm>
            <a:off x="6473952" y="2359152"/>
            <a:ext cx="329184" cy="329184"/>
          </a:xfrm>
          <a:prstGeom prst="ellipse">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2377440"/>
            <a:ext cx="329184" cy="292608"/>
          </a:xfrm>
          <a:prstGeom prst="rect">
            <a:avLst/>
          </a:prstGeom>
          <a:noFill/>
        </p:spPr>
        <p:txBody>
          <a:bodyPr wrap="square" lIns="0" rIns="0" tIns="0" bIns="0" anchor="t"/>
          <a:lstStyle/>
          <a:p>
            <a:pPr algn="ctr">
              <a:spcBef>
                <a:spcPts val="0"/>
              </a:spcBef>
              <a:spcAft>
                <a:spcPts val="0"/>
              </a:spcAft>
            </a:pPr>
            <a:r>
              <a:rPr sz="1200" b="1">
                <a:solidFill>
                  <a:srgbClr val="FFFFFF"/>
                </a:solidFill>
                <a:latin typeface="Calibri"/>
                <a:ea typeface="Calibri"/>
                <a:cs typeface="Calibri"/>
              </a:rPr>
              <a:t>2</a:t>
            </a:r>
          </a:p>
        </p:txBody>
      </p:sp>
      <p:sp>
        <p:nvSpPr>
          <p:cNvPr id="21" name="TextBox 20"/>
          <p:cNvSpPr txBox="1"/>
          <p:nvPr/>
        </p:nvSpPr>
        <p:spPr>
          <a:xfrm>
            <a:off x="6931152" y="2340864"/>
            <a:ext cx="4526280" cy="640080"/>
          </a:xfrm>
          <a:prstGeom prst="rect">
            <a:avLst/>
          </a:prstGeom>
          <a:noFill/>
        </p:spPr>
        <p:txBody>
          <a:bodyPr wrap="square" lIns="0" rIns="0" tIns="0" bIns="0" anchor="t"/>
          <a:lstStyle/>
          <a:p>
            <a:pPr algn="l">
              <a:spcBef>
                <a:spcPts val="0"/>
              </a:spcBef>
              <a:spcAft>
                <a:spcPts val="0"/>
              </a:spcAft>
            </a:pPr>
            <a:r>
              <a:rPr sz="1400" b="0">
                <a:solidFill>
                  <a:srgbClr val="FFFFFF"/>
                </a:solidFill>
                <a:latin typeface="Calibri"/>
                <a:ea typeface="Calibri"/>
                <a:cs typeface="Calibri"/>
              </a:rPr>
              <a:t>Remove the duplicate SBI and NMU job records.</a:t>
            </a:r>
          </a:p>
        </p:txBody>
      </p:sp>
      <p:sp>
        <p:nvSpPr>
          <p:cNvPr id="22" name="Oval 21"/>
          <p:cNvSpPr/>
          <p:nvPr/>
        </p:nvSpPr>
        <p:spPr>
          <a:xfrm>
            <a:off x="6473952" y="3072384"/>
            <a:ext cx="329184" cy="329184"/>
          </a:xfrm>
          <a:prstGeom prst="ellipse">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090672"/>
            <a:ext cx="329184" cy="292608"/>
          </a:xfrm>
          <a:prstGeom prst="rect">
            <a:avLst/>
          </a:prstGeom>
          <a:noFill/>
        </p:spPr>
        <p:txBody>
          <a:bodyPr wrap="square" lIns="0" rIns="0" tIns="0" bIns="0" anchor="t"/>
          <a:lstStyle/>
          <a:p>
            <a:pPr algn="ctr">
              <a:spcBef>
                <a:spcPts val="0"/>
              </a:spcBef>
              <a:spcAft>
                <a:spcPts val="0"/>
              </a:spcAft>
            </a:pPr>
            <a:r>
              <a:rPr sz="1200" b="1">
                <a:solidFill>
                  <a:srgbClr val="FFFFFF"/>
                </a:solidFill>
                <a:latin typeface="Calibri"/>
                <a:ea typeface="Calibri"/>
                <a:cs typeface="Calibri"/>
              </a:rPr>
              <a:t>3</a:t>
            </a:r>
          </a:p>
        </p:txBody>
      </p:sp>
      <p:sp>
        <p:nvSpPr>
          <p:cNvPr id="24" name="TextBox 23"/>
          <p:cNvSpPr txBox="1"/>
          <p:nvPr/>
        </p:nvSpPr>
        <p:spPr>
          <a:xfrm>
            <a:off x="6931152" y="3054096"/>
            <a:ext cx="4526280" cy="640080"/>
          </a:xfrm>
          <a:prstGeom prst="rect">
            <a:avLst/>
          </a:prstGeom>
          <a:noFill/>
        </p:spPr>
        <p:txBody>
          <a:bodyPr wrap="square" lIns="0" rIns="0" tIns="0" bIns="0" anchor="t"/>
          <a:lstStyle/>
          <a:p>
            <a:pPr algn="l">
              <a:spcBef>
                <a:spcPts val="0"/>
              </a:spcBef>
              <a:spcAft>
                <a:spcPts val="0"/>
              </a:spcAft>
            </a:pPr>
            <a:r>
              <a:rPr sz="1400" b="0">
                <a:solidFill>
                  <a:srgbClr val="FFFFFF"/>
                </a:solidFill>
                <a:latin typeface="Calibri"/>
                <a:ea typeface="Calibri"/>
                <a:cs typeface="Calibri"/>
              </a:rPr>
              <a:t>Publish the new articles and link each one to the right jobs page.</a:t>
            </a:r>
          </a:p>
        </p:txBody>
      </p:sp>
      <p:sp>
        <p:nvSpPr>
          <p:cNvPr id="25" name="Oval 24"/>
          <p:cNvSpPr/>
          <p:nvPr/>
        </p:nvSpPr>
        <p:spPr>
          <a:xfrm>
            <a:off x="6473952" y="3785616"/>
            <a:ext cx="329184" cy="329184"/>
          </a:xfrm>
          <a:prstGeom prst="ellipse">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803904"/>
            <a:ext cx="329184" cy="292608"/>
          </a:xfrm>
          <a:prstGeom prst="rect">
            <a:avLst/>
          </a:prstGeom>
          <a:noFill/>
        </p:spPr>
        <p:txBody>
          <a:bodyPr wrap="square" lIns="0" rIns="0" tIns="0" bIns="0" anchor="t"/>
          <a:lstStyle/>
          <a:p>
            <a:pPr algn="ctr">
              <a:spcBef>
                <a:spcPts val="0"/>
              </a:spcBef>
              <a:spcAft>
                <a:spcPts val="0"/>
              </a:spcAft>
            </a:pPr>
            <a:r>
              <a:rPr sz="1200" b="1">
                <a:solidFill>
                  <a:srgbClr val="FFFFFF"/>
                </a:solidFill>
                <a:latin typeface="Calibri"/>
                <a:ea typeface="Calibri"/>
                <a:cs typeface="Calibri"/>
              </a:rPr>
              <a:t>4</a:t>
            </a:r>
          </a:p>
        </p:txBody>
      </p:sp>
      <p:sp>
        <p:nvSpPr>
          <p:cNvPr id="27" name="TextBox 26"/>
          <p:cNvSpPr txBox="1"/>
          <p:nvPr/>
        </p:nvSpPr>
        <p:spPr>
          <a:xfrm>
            <a:off x="6931152" y="3767328"/>
            <a:ext cx="4526280" cy="640080"/>
          </a:xfrm>
          <a:prstGeom prst="rect">
            <a:avLst/>
          </a:prstGeom>
          <a:noFill/>
        </p:spPr>
        <p:txBody>
          <a:bodyPr wrap="square" lIns="0" rIns="0" tIns="0" bIns="0" anchor="t"/>
          <a:lstStyle/>
          <a:p>
            <a:pPr algn="l">
              <a:spcBef>
                <a:spcPts val="0"/>
              </a:spcBef>
              <a:spcAft>
                <a:spcPts val="0"/>
              </a:spcAft>
            </a:pPr>
            <a:r>
              <a:rPr sz="1400" b="0">
                <a:solidFill>
                  <a:srgbClr val="FFFFFF"/>
                </a:solidFill>
                <a:latin typeface="Calibri"/>
                <a:ea typeface="Calibri"/>
                <a:cs typeface="Calibri"/>
              </a:rPr>
              <a:t>Put one website link in every Facebook and Instagram post.</a:t>
            </a:r>
          </a:p>
        </p:txBody>
      </p:sp>
      <p:sp>
        <p:nvSpPr>
          <p:cNvPr id="28" name="Oval 27"/>
          <p:cNvSpPr/>
          <p:nvPr/>
        </p:nvSpPr>
        <p:spPr>
          <a:xfrm>
            <a:off x="6473952" y="4498848"/>
            <a:ext cx="329184" cy="329184"/>
          </a:xfrm>
          <a:prstGeom prst="ellipse">
            <a:avLst/>
          </a:prstGeom>
          <a:solidFill>
            <a:srgbClr val="D9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3952" y="4517136"/>
            <a:ext cx="329184" cy="292608"/>
          </a:xfrm>
          <a:prstGeom prst="rect">
            <a:avLst/>
          </a:prstGeom>
          <a:noFill/>
        </p:spPr>
        <p:txBody>
          <a:bodyPr wrap="square" lIns="0" rIns="0" tIns="0" bIns="0" anchor="t"/>
          <a:lstStyle/>
          <a:p>
            <a:pPr algn="ctr">
              <a:spcBef>
                <a:spcPts val="0"/>
              </a:spcBef>
              <a:spcAft>
                <a:spcPts val="0"/>
              </a:spcAft>
            </a:pPr>
            <a:r>
              <a:rPr sz="1200" b="1">
                <a:solidFill>
                  <a:srgbClr val="FFFFFF"/>
                </a:solidFill>
                <a:latin typeface="Calibri"/>
                <a:ea typeface="Calibri"/>
                <a:cs typeface="Calibri"/>
              </a:rPr>
              <a:t>5</a:t>
            </a:r>
          </a:p>
        </p:txBody>
      </p:sp>
      <p:sp>
        <p:nvSpPr>
          <p:cNvPr id="30" name="TextBox 29"/>
          <p:cNvSpPr txBox="1"/>
          <p:nvPr/>
        </p:nvSpPr>
        <p:spPr>
          <a:xfrm>
            <a:off x="6931152" y="4480560"/>
            <a:ext cx="4526280" cy="640080"/>
          </a:xfrm>
          <a:prstGeom prst="rect">
            <a:avLst/>
          </a:prstGeom>
          <a:noFill/>
        </p:spPr>
        <p:txBody>
          <a:bodyPr wrap="square" lIns="0" rIns="0" tIns="0" bIns="0" anchor="t"/>
          <a:lstStyle/>
          <a:p>
            <a:pPr algn="l">
              <a:spcBef>
                <a:spcPts val="0"/>
              </a:spcBef>
              <a:spcAft>
                <a:spcPts val="0"/>
              </a:spcAft>
            </a:pPr>
            <a:r>
              <a:rPr sz="1400" b="0">
                <a:solidFill>
                  <a:srgbClr val="FFFFFF"/>
                </a:solidFill>
                <a:latin typeface="Calibri"/>
                <a:ea typeface="Calibri"/>
                <a:cs typeface="Calibri"/>
              </a:rPr>
              <a:t>Ask Google to recrawl the main pages, then check October.</a:t>
            </a:r>
          </a:p>
        </p:txBody>
      </p:sp>
      <p:sp>
        <p:nvSpPr>
          <p:cNvPr id="31" name="TextBox 30"/>
          <p:cNvSpPr txBox="1"/>
          <p:nvPr/>
        </p:nvSpPr>
        <p:spPr>
          <a:xfrm>
            <a:off x="438912" y="6510528"/>
            <a:ext cx="8412480" cy="256032"/>
          </a:xfrm>
          <a:prstGeom prst="rect">
            <a:avLst/>
          </a:prstGeom>
          <a:noFill/>
        </p:spPr>
        <p:txBody>
          <a:bodyPr wrap="square" lIns="0" rIns="0" tIns="0" bIns="0" anchor="t"/>
          <a:lstStyle/>
          <a:p>
            <a:pPr algn="l">
              <a:spcBef>
                <a:spcPts val="0"/>
              </a:spcBef>
              <a:spcAft>
                <a:spcPts val="0"/>
              </a:spcAft>
            </a:pPr>
            <a:r>
              <a:rPr sz="1000" b="0">
                <a:solidFill>
                  <a:srgbClr val="5C5856"/>
                </a:solidFill>
                <a:latin typeface="Calibri"/>
                <a:ea typeface="Calibri"/>
                <a:cs typeface="Calibri"/>
              </a:rPr>
              <a:t>Growthik Media   ·   searchsarkarinaukri.com   ·   1 Aug – 30 Sep 2026</a:t>
            </a:r>
          </a:p>
        </p:txBody>
      </p:sp>
      <p:sp>
        <p:nvSpPr>
          <p:cNvPr id="32" name="TextBox 31"/>
          <p:cNvSpPr txBox="1"/>
          <p:nvPr/>
        </p:nvSpPr>
        <p:spPr>
          <a:xfrm>
            <a:off x="10332720" y="6510528"/>
            <a:ext cx="1417320" cy="256032"/>
          </a:xfrm>
          <a:prstGeom prst="rect">
            <a:avLst/>
          </a:prstGeom>
          <a:noFill/>
        </p:spPr>
        <p:txBody>
          <a:bodyPr wrap="square" lIns="0" rIns="0" tIns="0" bIns="0" anchor="t"/>
          <a:lstStyle/>
          <a:p>
            <a:pPr algn="r">
              <a:spcBef>
                <a:spcPts val="0"/>
              </a:spcBef>
              <a:spcAft>
                <a:spcPts val="0"/>
              </a:spcAft>
            </a:pPr>
            <a:r>
              <a:rPr sz="1000" b="1">
                <a:solidFill>
                  <a:srgbClr val="D90B1C"/>
                </a:solidFill>
                <a:latin typeface="Calibri"/>
                <a:ea typeface="Calibri"/>
                <a:cs typeface="Calibri"/>
              </a:rPr>
              <a:t>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Sarkari Naukri — August &amp; September 2026</dc:title>
  <dc:subject>Two-month performance report</dc:subject>
  <dc:creator>Growthik Media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