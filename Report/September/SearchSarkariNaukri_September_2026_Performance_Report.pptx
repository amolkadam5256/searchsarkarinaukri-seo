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0B1C"/>
                </a:solidFill>
                <a:latin typeface="Calibri"/>
              </a:rPr>
              <a:t>GROWTHIK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Performance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Search Sarkari Naukri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4D4D8"/>
                </a:solidFill>
                <a:latin typeface="Calibri"/>
              </a:rPr>
              <a:t>Website, search, AI citations, Facebook and Instagram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Primary measurement window in the GA4 and Facebook daily files: 1 August 2026 – 30 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1A1AA"/>
                </a:solidFill>
                <a:latin typeface="Calibri"/>
              </a:rPr>
              <a:t>Prepared from the files supplied on 1 October 2026 and the project records in this repository.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www.growthikmedia.com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5943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D4D4D8"/>
                </a:solidFill>
                <a:latin typeface="Calibri"/>
              </a:rPr>
              <a:t>Pune  ·  Report date 1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HOW THIS REPORT IS ORGANISED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What is included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41414"/>
                </a:solidFill>
                <a:latin typeface="Calibri"/>
              </a:rPr>
              <a:t>Every figure below is taken from a supplied export or from a file already in this project.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41414"/>
                </a:solidFill>
                <a:latin typeface="Calibri"/>
              </a:rPr>
              <a:t>A figure marked Calculated is arithmetic from those source numbers. The source numbers are shown with it.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41414"/>
                </a:solidFill>
                <a:latin typeface="Calibri"/>
              </a:rPr>
              <a:t>Where two files do not match, both figures are shown. Neither figure is dropped.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41414"/>
                </a:solidFill>
                <a:latin typeface="Calibri"/>
              </a:rPr>
              <a:t>Where a platform export was not in the files, the report says Not provided.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41414"/>
                </a:solidFill>
                <a:latin typeface="Calibri"/>
              </a:rPr>
              <a:t>This deck documents recorded performance. It does not add campaigns, leads, revenue, or tracking events that are absent from the files.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41414"/>
                </a:solidFill>
                <a:latin typeface="Calibri"/>
              </a:rPr>
              <a:t>Colour #D90B1C is the primary colour on growthikmedia.com. The site UI font is Inter. This file uses Calibri because Inter is not installed on this computer.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 /  38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DATE RANGE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Measurement period by file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114300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926080"/>
                <a:gridCol w="5486400"/>
              </a:tblGrid>
              <a:tr h="5212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Dates in the file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Reports snapshot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GA4 · searchsarkarinaukri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 Aug 2026 – 30 Sep 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Generate leads overview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GA4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 Aug 2026 – 30 Sep 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User retention block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GA4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16 Aug 2026 – 26 Sep 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Search performance workbook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Google Search Console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Filter: Last 12 months · Web. Chart rows: 17 May 2026 – 28 Sep 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AI performance overview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Search Console AI citations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 Jul 2026 – 28 Sep 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Facebook daily series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Facebook Page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 Aug 2026 – 30 Sep 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Facebook and Instagram posts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Meta content exports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Lifetime metrics. Publish times: 2 Aug 2026 – 29 Sep 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Sitemap and blog crawl files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Project audit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Audit date recorded: 25 Aug 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Top content formats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Facebook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No date range inside the file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 /  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BUSINESS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What the files identify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0584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5760720"/>
                <a:gridCol w="2926080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Recorded information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Search Sarkari Naukri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GA4 account name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Website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https://www.searchsarkarinaukri.com/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Project README and Search Console export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GA4 property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searchsarkarinaukri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Reports snapshot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Facebook Page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Searchsarkarinaukri · Page ID 61572053428432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Facebook post export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searchsarkarinaukri · Account ID 17841435546838962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Instagram post export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Instagram account name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Lyftek Solutions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Instagram post export, Account name column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Described role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Independent information portal, not an official government website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Project file 00_GSC_AEO_BLOG_CLUSTER_INDEX.md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Industry, products, audience, locations, objectives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Not provided as a client brief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No business-brief file in the supplied set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Client phone, email, address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Not provided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Proposal and agreement PDFs are unfilled templates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 /  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WEBSITE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Static sitemap paths · audit file dated 25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sitemap-static.xml in the 25 August 2026 crawl contains 37 URLs. sitemap-files.csv records the same file as 37 URLs.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55778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/jobs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/exams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/exam-calendar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/admit-cards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/current-affairs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/quiz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/daily-assessment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/study-material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/digital-library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/eligibility-checker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/districts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/sitemap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/news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/results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/career-guidance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/about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/contact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72200" y="1371600"/>
          <a:ext cx="56235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</a:tblGrid>
              <a:tr h="25988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25988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/disclaimer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5988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/privacy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5988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/terms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5988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/cookies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5988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/refund-policy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5988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/editorial-policy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5988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/videos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5988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/age-calculator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5988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/job-updates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5988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/category/central-government-jobs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5988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/category/state-government-jobs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5988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/category/banking-jobs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5988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/category/railway-jobs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5988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/category/defence-jobs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5988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/category/medical-jobs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5988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/category/education-research-jobs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5988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/category/psu-jobs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598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/category/police-jobs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 /  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WEBSITE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Sitemap files recorded on 25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Source: sitemap-files.csv. The executive summary in the same audit records total sitemap URLs as 3,871. The file counts below add to 3,871.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2588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103120"/>
                <a:gridCol w="5486400"/>
              </a:tblGrid>
              <a:tr h="3592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Sitemap file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URLs recorded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HTTP status in the audit file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3592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sitemap.xml (index)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11 child sitemaps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sitemap-jobs.xml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3,475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592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sitemap-cross-filter.xml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sitemap-blogs.xml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592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sitemap-districts.xml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sitemap-results.xml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592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sitemap-static.xml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sitemap-admit-cards.xml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592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sitemap-locations.xml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sitemap-departments.xml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592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sitemap-qualifications.xml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sitemap-news.xml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5923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Sum of URL-set counts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3,871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Calculated: 3475+109+67+50+45+37+37+29+12+10+0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 /  38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BLOG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Three blog counts are in the project. They are not the same figure.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3657600" cy="1234440"/>
          </a:xfrm>
          <a:prstGeom prst="rect">
            <a:avLst/>
          </a:prstGeom>
          <a:solidFill>
            <a:srgbClr val="F6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73152" cy="1234440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5E5E"/>
                </a:solidFill>
                <a:latin typeface="Calibri"/>
              </a:rPr>
              <a:t>sitemap-blogs.xml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3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Calibri"/>
              </a:rPr>
              <a:t>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01367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5E5E"/>
                </a:solidFill>
                <a:latin typeface="Calibri"/>
              </a:rPr>
              <a:t>sitemap-files.csv and loc 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051560"/>
            <a:ext cx="3657600" cy="1234440"/>
          </a:xfrm>
          <a:prstGeom prst="rect">
            <a:avLst/>
          </a:prstGeom>
          <a:solidFill>
            <a:srgbClr val="F6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051560"/>
            <a:ext cx="73152" cy="1234440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1430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5E5E"/>
                </a:solidFill>
                <a:latin typeface="Calibri"/>
              </a:rPr>
              <a:t>Blog rows in sitemap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380743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Calibri"/>
              </a:rPr>
              <a:t>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801367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5E5E"/>
                </a:solidFill>
                <a:latin typeface="Calibri"/>
              </a:rPr>
              <a:t>page-type reconciliation 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051560"/>
            <a:ext cx="3749039" cy="1234440"/>
          </a:xfrm>
          <a:prstGeom prst="rect">
            <a:avLst/>
          </a:prstGeom>
          <a:solidFill>
            <a:srgbClr val="F6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051560"/>
            <a:ext cx="73152" cy="1234440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14300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5E5E"/>
                </a:solidFill>
                <a:latin typeface="Calibri"/>
              </a:rPr>
              <a:t>Indexable 200 blog URLs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380743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Calibri"/>
              </a:rPr>
              <a:t>519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01367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5E5E"/>
                </a:solidFill>
                <a:latin typeface="Calibri"/>
              </a:rPr>
              <a:t>same reconciliation 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2468880"/>
            <a:ext cx="11338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raw-sitemap-blogs.xml contains 67 &lt;loc&gt; URLs. That matches sitemap-files.csv entry_count 67.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sitemap-reconciliation-by-page-type.csv, row blog: in_sitemap 68, crawlable_linked 512, indexable_200 519, missing_from_sitemap 0, broken_in_sitemap 0.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The 67-URL list and the 68 in_sitemap figure are both in the 25 August 2026 audit. The one-URL difference is recorded, not resolved.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519 is the audit’s indexable-200 count for the blog page type. It is not a second sitemap total.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The next slides list the 67 URLs from raw-sitemap-blogs.xml.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Repository folder 00_NewBlog contains 22 numbered draft folders plus 00_Blog_Error and Pr_blog_1. Those are project files. The 25 August sitemap count is not updated by those folder names.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 /  38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BLOG URLS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sitemap-blogs.xml · 1–18 of 67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0584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789920"/>
              </a:tblGrid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/blogs/what-happens-when-your-dream-exam-is-not-your-best-opportunity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/blogs/is-a-government-job-still-the-best-safe-career-choice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/blogs/why-do-aspirants-feel-guilty-for-having-a-backup-plan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/blogs/title-why-does-preparing-for-a-government-job-sometimes-feel-like-a-full-time-job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/blogs/what-does-job-security-actually-mean-anymore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/blogs/why-do-so-many-people-prepare-for-competitive-exams-without-knowing-the-odds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/blogs/has-coaching-become-a-second-education-system-in-india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/blogs/why-are-so-many-educated-young-indians-competing-for-the-same-few-jobs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/blogs/search-sarkari-naukri-launches-comprehensive-government-jobs-exam-updates-daily-assessment-platform-for-indian-aspirants-2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/blogs/the-first-job-problem-why-is-getting-your-first-job-so-hard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/blogs/are-we-preparing-students-for-jobs-that-don-t-exist-yet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/blogs/will-competitive-exams-still-matter-in-an-ai-powered-future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/blogs/why-do-indian-degrees-take-so-long-to-become-useful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/blogs/why-is-mobile-internet-so-cheap-in-india-the-real-story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/blogs/why-are-qr-codes-everywhere-in-india-now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/blogs/why-is-indian-currency-called-the-rupee-the-2-000-year-old-story-behind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/blogs/why-does-india-have-so-many-different-types-of-ids-aadhaar-pan-voter-id-passport-more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5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/blogs/why-do-so-many-smart-people-spend-years-preparing-for-government-exams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 /  38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BLOG URLS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sitemap-blogs.xml · 19–36 of 67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0584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789920"/>
              </a:tblGrid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/blogs/ai-is-coming-for-jobs-but-should-government-job-aspirants-actually-be-worried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/blogs/ncert-has-1-596-vacant-posts-cbse-has-933-why-are-india-s-education-bodies-short-staffed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/blogs/maharashtra-wants-to-change-how-government-exams-are-conducted-what-could-change-for-aspirants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/blogs/why-do-government-employees-retire-at-a-fixed-age-and-who-decides-it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/blogs/why-did-the-pmo-move-out-of-south-block-the-story-behind-india-s-new-seva-teerth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/blogs/pm-kisan-is-continuing-until-2030-31-what-actually-changes-for-farmers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/blogs/isro-has-opened-scientist-engineer-recruitment-but-these-aren-t-typical-space-jobs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/blogs/what-happens-during-probation-in-a-government-job-can-you-lose-the-job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/blogs/can-a-government-employee-be-transferred-against-their-will-the-rules-explained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/blogs/why-does-india-have-union-territories-states-vs-union-territories-explained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/blogs/what-does-the-cabinet-secretary-actually-do-the-most-powerful-bureaucrat-in-india-explained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/blogs/what-is-the-public-accounts-committee-pac-how-parliament-checks-government-spending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/blogs/why-doesn-t-india-have-a-national-language-the-constitutional-truth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/blogs/how-does-the-election-commission-of-india-conduct-the-world-s-largest-election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/blogs/what-is-the-right-to-information-rti-act-how-citizens-can-seek-government-information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/blogs/what-is-the-comptroller-and-auditor-general-cag-why-its-reports-matter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/blogs/how-laws-are-made-in-india-from-bill-to-act-explained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5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/blogs/why-was-new-delhi-chosen-as-india-s-capital-the-history-behind-the-decision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 /  38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BLOG URLS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sitemap-blogs.xml · 37–54 of 67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0584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789920"/>
              </a:tblGrid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/blogs/what-is-the-national-education-policy-nep-and-how-does-it-affect-students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/blogs/how-the-indian-administrative-service-ias-evolved-from-the-british-era-ics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/blogs/one-nation-one-election-explained-what-it-means-for-india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/blogs/common-mistakes-that-lead-to-government-job-application-rejection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/blogs/top-10-highest-paying-government-jobs-in-india-in-2026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/blogs/upsc-civil-services-examination-2026-complete-beginner-s-guide-to-ias-ips-ifs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/blogs/ssc-cgl-2026-complete-guide-to-eligibility-posts-salary-preparation-strategy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/blogs/government-job-vs-private-job-in-2026-which-career-is-better-for-you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/blogs/can-government-employees-start-a-youtube-channel-or-business-rules-explained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/blogs/why-do-indian-currency-notes-have-17-languages-the-story-hidden-in-your-wallet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/blogs/what-happens-to-your-aadhaar-number-after-you-die-the-answer-may-surprise-you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/blogs/what-happens-if-nobody-applies-for-a-government-job-the-surprising-answer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/blogs/what-happens-to-your-government-exam-answer-sheet-after-the-result-the-journey-nobody-sees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/blogs/can-a-government-employee-be-fired-the-truth-about-permanent-government-jobs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/blogs/who-actually-owns-indian-railways-the-answer-isn-t-as-simple-as-you-think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/blogs/why-cybercrime-is-becoming-one-of-india-s-biggest-policing-challenges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394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/blogs/from-probation-to-promotion-the-career-growth-of-an-income-tax-inspector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395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/blogs/how-india-s-district-administration-works-collector-sp-ceo-tehsildar-more-explained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 /  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BLOG URLS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sitemap-blogs.xml · 55–67 of 67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0584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789920"/>
              </a:tblGrid>
              <a:tr h="38535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/blogs/why-government-files-are-tied-with-red-tape-the-fascinating-story-behind-the-phrase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/blogs/why-are-police-reforms-always-in-the-news-what-every-aspirant-should-know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/blogs/government-jobs-that-no-longer-exist-careers-lost-to-time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/blogs/government-job-verification-process-explained-what-happens-after-you-get-selected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/blogs/a-day-in-the-life-of-an-ias-officer-what-really-happens-behind-the-desk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/blogs/what-is-a-gazetted-officer-and-why-their-signature-matters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/blogs/group-a-b-c-d-government-jobs-explained-which-one-is-right-for-you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/blogs/7th-pay-commission-explained-what-every-government-job-aspirant-should-know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/blogs/government-job-salary-explained-what-you-actually-take-home-every-month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/blogs/why-do-most-government-job-aspirants-fail-hint-it-s-not-because-they-re-less-intelligent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/blogs/latest-government-job-notifications-2026-the-opportunities-you-can-t-afford-to-miss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/blogs/10th-and-12th-pass-government-jobs-in-india-2026-best-career-options-salary-how-to-apply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8535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/blogs/how-to-be-good-student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 /  38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BLOG FILES IN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Folder 00_NewBlog · file inventory, not a live publish count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75895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89520"/>
              </a:tblGrid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Folder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00_Blog_Error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01_10th_Pass_Government_Jobs_2026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02_Government_Jobs_Without_Graduation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03_Maharashtra_Government_Jobs_2026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04_Electrician_Government_Jobs_Maharashtra_2026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05_Fitter_Government_Jobs_Maharashtra_2026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06_Railway_ITI_Recruitment_Maharashtra_2026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07_Pune_ITI_Government_Jobs_2026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08_Nagpur_ITI_Government_Jobs_2026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09_Gazetted_Officer_in_India_2026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10_Gazetted_Officer_Attestation_2026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11_IOCL_Data_Entry_Operator_Recruitment_2026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12_Sarkari_Naukri_2026_Latest_Government_Jobs_in_India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13_Government_Jobs_in_Pune_2026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14_Nagpur_Government_Bharti_2026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15_ZP_Nashik_Recruitment_2026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16_UPI_Charges_October_2026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17_Daily_UPSC_MPSC_Quiz_Assessment_2026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18_SSC_CHSL_2026_Apply_Online_Guide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19_RRB_NTPC_Graduate_Recruitment_2026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20_12th_Pass_Sarkari_Naukri_2026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21_Bank_Apprentice_Jobs_2026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209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22_Age_Limit_Government_Jobs_2026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83879" y="1051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0B1C"/>
                </a:solidFill>
                <a:latin typeface="Calibri"/>
              </a:rPr>
              <a:t>Also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41732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Calibri"/>
              </a:rPr>
              <a:t>•  Pr_blog_1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Calibri"/>
              </a:rPr>
              <a:t>•  22 numbered folders, 01 through 22.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Calibri"/>
              </a:rPr>
              <a:t>•  The cluster index file lists items 09–22 under the heading Blogs created. That is 14 names.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Calibri"/>
              </a:rPr>
              <a:t>•  Folders 01–08 are also present in the same directory.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41414"/>
                </a:solidFill>
                <a:latin typeface="Calibri"/>
              </a:rPr>
              <a:t>•  Publish status of each folder is not in these files.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 /  38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Recorded totals for 1 August 2026 – 30 September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2743200" cy="1143000"/>
          </a:xfrm>
          <a:prstGeom prst="rect">
            <a:avLst/>
          </a:prstGeom>
          <a:solidFill>
            <a:srgbClr val="F6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73152" cy="1143000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5E5E"/>
                </a:solidFill>
                <a:latin typeface="Calibri"/>
              </a:rPr>
              <a:t>GA4 active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80743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Calibri"/>
              </a:rPr>
              <a:t>1,116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01367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5E5E"/>
                </a:solidFill>
                <a:latin typeface="Calibri"/>
              </a:rPr>
              <a:t>Property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051560"/>
            <a:ext cx="2743200" cy="1143000"/>
          </a:xfrm>
          <a:prstGeom prst="rect">
            <a:avLst/>
          </a:prstGeom>
          <a:solidFill>
            <a:srgbClr val="F6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051560"/>
            <a:ext cx="73152" cy="1143000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1430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5E5E"/>
                </a:solidFill>
                <a:latin typeface="Calibri"/>
              </a:rPr>
              <a:t>GA4 new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380743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Calibri"/>
              </a:rPr>
              <a:t>1,074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01367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5E5E"/>
                </a:solidFill>
                <a:latin typeface="Calibri"/>
              </a:rPr>
              <a:t>Property total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51560"/>
            <a:ext cx="2743200" cy="1143000"/>
          </a:xfrm>
          <a:prstGeom prst="rect">
            <a:avLst/>
          </a:prstGeom>
          <a:solidFill>
            <a:srgbClr val="F6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051560"/>
            <a:ext cx="73152" cy="1143000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1430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5E5E"/>
                </a:solidFill>
                <a:latin typeface="Calibri"/>
              </a:rPr>
              <a:t>GA4 event count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380743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Calibri"/>
              </a:rPr>
              <a:t>20,275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801367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5E5E"/>
                </a:solidFill>
                <a:latin typeface="Calibri"/>
              </a:rPr>
              <a:t>Property total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051560"/>
            <a:ext cx="2743200" cy="1143000"/>
          </a:xfrm>
          <a:prstGeom prst="rect">
            <a:avLst/>
          </a:prstGeom>
          <a:solidFill>
            <a:srgbClr val="F6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051560"/>
            <a:ext cx="73152" cy="1143000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14300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5E5E"/>
                </a:solidFill>
                <a:latin typeface="Calibri"/>
              </a:rPr>
              <a:t>Search clicks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1380743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Calibri"/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1801367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5E5E"/>
                </a:solidFill>
                <a:latin typeface="Calibri"/>
              </a:rPr>
              <a:t>Chart, countries, devices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377440"/>
            <a:ext cx="11338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GA4 average engagement time per active user is 123.48387096774194 seconds. Calculated: 2 minutes 3.48 seconds.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GA4 page report has 659 page-title rows. Calculated sum of Views on those rows: 12,859. Calculated sum of Event count on those rows: 19,912. The property event count is 20,275.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Search Console chart, countries and devices each total 16 clicks and 304 impressions. The Pages sheet totals 16 clicks and 595 impressions. The Queries sheet totals 0 clicks and 111 impressions.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AI citations file, 1 July–28 September 2026, is a separate date range from the GA4 window.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Facebook daily Views sum to 1,778. Content-format Views also sum to 1,778. Qualified leads and converted leads in the GA4 leads file are 0 on every listed day.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Google Ads account, Meta Ads account, Meta Pixel, Google Tag Manager, and Google Business Profile exports: Not provided.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  /  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GA4 · USER ACQUISITION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First user source / medium · active users · 1 Aug–30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3268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Property active users: 1,116. Calculated sum of this table: 1,117. Difference: 1.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80160"/>
          <a:ext cx="74980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2377440"/>
              </a:tblGrid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Source / medium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Active users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(direct) / (none)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920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linkedin.com / referral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bing / organic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lnkd.in / referral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m.facebook.com / referral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facebook.com / referral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in.search.yahoo.com / referral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chatgpt.com / ai-assistant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duckduckgo / organic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yahoo / organic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google / organic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copilot.com / (not set)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google / cpc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quendu.com / referral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14325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search.google.com / referral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138160" y="1280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0B1C"/>
                </a:solidFill>
                <a:latin typeface="Calibri"/>
              </a:rPr>
              <a:t>Channel group
new users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092440" y="1874519"/>
          <a:ext cx="37033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55448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New users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Direct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882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Organic Social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Organic Search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AI Assistant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Paid Search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Referral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Unassigned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Calculated sum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1,074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92440" y="5303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E5E"/>
                </a:solidFill>
                <a:latin typeface="Calibri"/>
              </a:rPr>
              <a:t>The channel sum equals the property new-user total.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14  /  38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GA4 · SESSION ACQUISITION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Session source / medium · 1 Aug–30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3268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Calculated sum of sessions in this table: 1,750. A property-level sessions total is not in the snapshot header.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2588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0"/>
                <a:gridCol w="365760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Session source / medium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Sessions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(direct) / (none)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1,473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linkedin.com / referral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quora.com / referral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bing / organic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lnkd.in / referral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m.facebook.com / referral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google / organic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in.search.yahoo.com / referral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facebook.com / referral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chatgpt.com / ai-assistant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duckduckgo / organic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tagassistant.google.com / referral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yahoo / organic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copilot.com / (not set)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google / cpc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quendu.com / referral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search.google.com / referral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15  /  38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GA4 · USERS BY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Calculated from Generate leads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326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Nth day 0000 is 1 August 2026 and nth day 0060 is 30 September 2026. August is days 0–30. September is days 31–60. Month totals are Calculated.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560320"/>
                <a:gridCol w="2926080"/>
                <a:gridCol w="28346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New users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Returning users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Calculated new + returning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1–31 August 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630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688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1–30 September 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444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661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Full exported window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1,074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275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1,349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42900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The calculated new-user total is 1,074. That matches the property new-user total.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Returning users have no single total in the property header. The calculated sum of the daily returning column is 275.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Adding new and returning users is not the same measure as active users. Active users remain 1,116.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Reports snapshot also has a daily column named new. Its calculated sum is 1,116. It differs from the leads-file New users column on 9 days. Both files are kept.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In the leads file, nth days 0014–0026 are 0 for new users and 0 for returning users. Those rows are 15–27 August 2026.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16  /  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GA4 · RETENTION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16 August 2026 – 26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3268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Values are copied from the file. Cells that contain -1 are shown as -1. The file does not define -1.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30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463040"/>
                <a:gridCol w="1463040"/>
                <a:gridCol w="1463040"/>
                <a:gridCol w="1463040"/>
                <a:gridCol w="1463040"/>
                <a:gridCol w="1645920"/>
              </a:tblGrid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Cohort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Week 0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Week 1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Week 2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Week 3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Week 4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Week 5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16 Aug – 22 Aug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23 Aug – 29 Aug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30 Aug – 5 Sept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6 Sept – 12 Sept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346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43107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13 Sept – 19 Sept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20 Sept – 26 Sept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Audience name All Users: 1,116 active users. This matches the property active-user total.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Platform, Key events: the table has a header and no data rows.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161 town/city rows are in the snapshot. The next slide shows the 18 rows with the highest active-user counts, ordered by that column.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17  /  38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GA4 · 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Town / city active users · ordered by active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E5E"/>
                </a:solidFill>
                <a:latin typeface="Calibri"/>
              </a:rPr>
              <a:t>161 cities are in the export. Calculated sum of city active users: 1,101. Property active users: 1,116. City rows are not a unique-user total.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25880"/>
          <a:ext cx="6766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560320"/>
              </a:tblGrid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Town / city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Active users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Singapore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438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Pune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Nagpur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Solapur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Kolkata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Mumbai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Ahmedabad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Patna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Prineville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Pimpri-Chinchwad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Hyderabad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Beed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Jalna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Nashik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Bengaluru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Boardman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Chhatrapati Sambhajinagar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6470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Forest City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13258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0B1C"/>
                </a:solidFill>
                <a:latin typeface="Calibri"/>
              </a:rPr>
              <a:t>Also in the export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73736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41414"/>
                </a:solidFill>
                <a:latin typeface="Calibri"/>
              </a:rPr>
              <a:t>Pune 117, Pimpri-Chinchwad 12, Mumbai 19, Thane 4, Navi Mumbai 3.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41414"/>
                </a:solidFill>
                <a:latin typeface="Calibri"/>
              </a:rPr>
              <a:t>Nagpur 69, Nashik 9, Solapur 49, Kolhapur 3.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41414"/>
                </a:solidFill>
                <a:latin typeface="Calibri"/>
              </a:rPr>
              <a:t>Singapore 438 is the highest city value in the file.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41414"/>
                </a:solidFill>
                <a:latin typeface="Calibri"/>
              </a:rPr>
              <a:t>Cities outside India are present, including United States, China, UAE and others.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41414"/>
                </a:solidFill>
                <a:latin typeface="Calibri"/>
              </a:rPr>
              <a:t>A full 161-row city list is in Reports_snapshot.csv.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18  /  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GA4 ·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Highest view counts in the 659-row page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E5E"/>
                </a:solidFill>
                <a:latin typeface="Calibri"/>
              </a:rPr>
              <a:t>Ordered by Views. Bounce rate is the source decimal × 100, Calculated. Active users on a page are not additive across rows.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8016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1280160"/>
                <a:gridCol w="1645920"/>
                <a:gridCol w="1371600"/>
                <a:gridCol w="1554480"/>
              </a:tblGrid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Page title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Views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Active users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Events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Bounce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Account Area | SearchSarkariNaukri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7,256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7,556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6.48%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SearchSarkariNaukri — Latest Government Jobs in India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1,421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411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2,993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77.30%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Sarkari Naukri 2026 — Latest Government Jobs in India | Sea…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931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186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1,904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29.18%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Sarkari Naukri 2026 — Search Latest Government Jobs in Indi…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443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182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1,111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82.94%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Government Jobs 2026 – Latest Sarkari Naukri &amp; Govt Jobs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303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448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3.17%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Government Jobs 2026 | Sarkari Naukri Search | SearchSarkar…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143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205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8.89%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Page Not Found | SearchSarkariNaukri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138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353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7.58%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Eligibility Checker — Find Government Jobs You Qualify For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133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341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13.59%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Sarkari Naukri 2026 — Latest Government Jobs in India |…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2.63%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Sarkari Naukri Blog | SearchSarkariNaukri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4.55%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Battle Arena — Live Multiplayer Quiz for MPSC &amp; UPSC 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212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22.22%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8686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This listing has been removed | SearchSarkariNaukri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225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5.56%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19  /  38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GA4 · PAGES CONTINUED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Next page titles by views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16128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1280160"/>
                <a:gridCol w="1645920"/>
                <a:gridCol w="1371600"/>
                <a:gridCol w="155448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Page title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Views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Active users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Events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Bounce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Eligibility Checker - Find Your Government Exams | SearchSa…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372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8.08%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Maharashtra Metro Rail Corporation Limited MAHA Metro…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220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9.26%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Government Exam Quiz Battle | Competitive Exam Practice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22.22%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Maharashtra Government Jobs by District — All 36 Districts 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10.00%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मोफत डिजिटल लायब्ररी | सर्च सरकारी नोकरी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6.67%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Daily UPSC &amp; MPSC Assessment 2026 | Free Current Affairs Qu…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5.88%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Community Feed — Latest Sarkari Naukri Videos &amp; News | Sear…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5.56%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Daily UPSC &amp; MPSC Quiz: Current Affairs &amp; Practice Questions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Government Exams 2026 — UPSC, SSC, MPSC, IBPS, RRB | Search…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Maharashtra Government Jobs by District | Sarkari Naukri | 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Maharashtra Police Bharti - Syllabus, Pattern, Eligibility 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About SearchSarkariNaukri — Clear Government Job Information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14.29%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WhatsApp + Telegram Sarkari Naukri Updates | Search Sarkari…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MPSC Rajyaseva (State Services) - Syllabus, Pattern, Eligib…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20  /  38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LEAD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GA4 Generate leads overview · 1 Aug–30 Sep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1188720"/>
          </a:xfrm>
          <a:prstGeom prst="rect">
            <a:avLst/>
          </a:prstGeom>
          <a:solidFill>
            <a:srgbClr val="F6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73152" cy="1188720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5E5E"/>
                </a:solidFill>
                <a:latin typeface="Calibri"/>
              </a:rPr>
              <a:t>Qualified leads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2646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4708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5E5E"/>
                </a:solidFill>
                <a:latin typeface="Calibri"/>
              </a:rPr>
              <a:t>Every exported day is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097280"/>
            <a:ext cx="2743200" cy="1188720"/>
          </a:xfrm>
          <a:prstGeom prst="rect">
            <a:avLst/>
          </a:prstGeom>
          <a:solidFill>
            <a:srgbClr val="F6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097280"/>
            <a:ext cx="73152" cy="1188720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1887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5E5E"/>
                </a:solidFill>
                <a:latin typeface="Calibri"/>
              </a:rPr>
              <a:t>Converted leads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42646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Calibr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4708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5E5E"/>
                </a:solidFill>
                <a:latin typeface="Calibri"/>
              </a:rPr>
              <a:t>Every exported day is 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97280"/>
            <a:ext cx="2743200" cy="1188720"/>
          </a:xfrm>
          <a:prstGeom prst="rect">
            <a:avLst/>
          </a:prstGeom>
          <a:solidFill>
            <a:srgbClr val="F6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097280"/>
            <a:ext cx="73152" cy="1188720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1887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5E5E"/>
                </a:solidFill>
                <a:latin typeface="Calibri"/>
              </a:rPr>
              <a:t>Key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42646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Calibri"/>
              </a:rPr>
              <a:t>No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84708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5E5E"/>
                </a:solidFill>
                <a:latin typeface="Calibri"/>
              </a:rPr>
              <a:t>Header 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097280"/>
            <a:ext cx="2651760" cy="1188720"/>
          </a:xfrm>
          <a:prstGeom prst="rect">
            <a:avLst/>
          </a:prstGeom>
          <a:solidFill>
            <a:srgbClr val="F6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097280"/>
            <a:ext cx="73152" cy="1188720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1887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5E5E"/>
                </a:solidFill>
                <a:latin typeface="Calibri"/>
              </a:rPr>
              <a:t>Paid Search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142646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184708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5E5E"/>
                </a:solidFill>
                <a:latin typeface="Calibri"/>
              </a:rPr>
              <a:t>New users, channel group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514600"/>
            <a:ext cx="11338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41414"/>
                </a:solidFill>
                <a:latin typeface="Calibri"/>
              </a:rPr>
              <a:t>The file contains daily new users and daily returning users. It does not contain lead names, lead status, contacted, qualified beyond the zero series, sales value, or revenue.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1414"/>
                </a:solidFill>
                <a:latin typeface="Calibri"/>
              </a:rPr>
              <a:t>google / cpc appears once in first-user acquisition (1 active user) and once in session acquisition (1 session).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1414"/>
                </a:solidFill>
                <a:latin typeface="Calibri"/>
              </a:rPr>
              <a:t>Form submissions, WhatsApp clicks, phone clicks, and email clicks: Not provided.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1414"/>
                </a:solidFill>
                <a:latin typeface="Calibri"/>
              </a:rPr>
              <a:t>A funnel stage is included only where a number exists. Impressions and reach are in Search Console and Facebook, not in one combined funnel.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41414"/>
                </a:solidFill>
                <a:latin typeface="Calibri"/>
              </a:rPr>
              <a:t>Revenue, purchases, and ROAS: Not provided.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21  /  38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GOOGLE SEARCH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Web search · chart dates 17 May 2026 – 28 Sep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Workbook filter: Search type Web, Date Last 12 months. Search appearance sheet has a header and no data rows. Export file date: 1 October 2026.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371600"/>
          <a:ext cx="11521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371600"/>
                <a:gridCol w="1828800"/>
                <a:gridCol w="5303520"/>
              </a:tblGrid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Sheet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Clicks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Impressions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Matches chart clicks / impressions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Chart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135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304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Source daily series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Countries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304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Yes / Yes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Devices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304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Yes / Yes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Pages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595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Clicks yes · impressions no (595 vs 304)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Queries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111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Clicks no (0 vs 16) · impressions no (111 vs 304)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480560"/>
            <a:ext cx="11338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Calculated chart CTR: 16 ÷ 304 = 5.263%. The chart does not contain one average-position cell for the whole period.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Six page rows contain clicks. All 83 query rows contain 0 clicks.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September is inside this chart. The chart also includes 17 May–31 July, so it is not a September-only total.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22  /  38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SEARCH CONSOLE · PAGES WITH CLICKS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All six page rows that record at least one click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97280"/>
          <a:ext cx="11612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1188720"/>
                <a:gridCol w="1645920"/>
                <a:gridCol w="1463040"/>
                <a:gridCol w="1371600"/>
              </a:tblGrid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Page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Clicks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Impressions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CTR in file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/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22.45%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16.63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/districts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5.56%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3.72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/districts/nagpur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9.09%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22.82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/12th-pass-jobs-in-mumbai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25.00%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69.50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/districts/thane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33.33%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4.67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/mbbs-medical-jobs-in-gujarat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33.33%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42.67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20624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  <a:latin typeface="Calibri"/>
              </a:rPr>
              <a:t>Pages sheet rows whose URL contains /blog: 0. Calculated clicks on those rows: 0. Calculated impressions: 0.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23  /  38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SEARCH CONSOLE ·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83 queries exported · every query row has 0 clicks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Ordered by impressions. CTR in every row is 0. The remaining queries are in the workbook.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80160"/>
          <a:ext cx="115214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0"/>
                <a:gridCol w="1280160"/>
                <a:gridCol w="1828800"/>
                <a:gridCol w="1645920"/>
              </a:tblGrid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Query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Clicks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Impressions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 pass jobs in odisha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70.60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nashik gov in recruitment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38.67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inter qualification jobs in telangana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55.33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central government jobs in hyderabad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76.67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kalyana hall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job in indore 10th pass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44.00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mbbs jobs gujarat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48.50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sarkari naukri nashik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50.00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intermediate jobs in hyderabad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57.50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intermediate jobs hyderabad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58.00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inter pass govt jobs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63.00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vacancy after 12th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70.50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nashik zp recruitment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73.50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government jobs in nashik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74.00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24  /  38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SEARCH CONSOLE · COUNTRY AND 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Same click and impression totals as the chart: 16 and 304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73152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554480"/>
                <a:gridCol w="1188720"/>
                <a:gridCol w="1463040"/>
              </a:tblGrid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Clicks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Impressions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CTR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India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263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5.32%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45.75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United States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9.52%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6.29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Pakistan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Malaysia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54.50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Canada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55.00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Turkey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66.00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United Kingdom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66.50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Hong Kong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2.00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Philippines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33.00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Indonesia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34.00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Sweden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41.00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Vietnam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47.00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Russia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49.00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Mexico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54.00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Bangladesh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63.00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Algeria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70.00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895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Australia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0.00%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73.00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26679" y="1051560"/>
          <a:ext cx="4114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685800"/>
                <a:gridCol w="960120"/>
                <a:gridCol w="685800"/>
                <a:gridCol w="73152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Device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Clicks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Impressions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CTR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Mobile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18.37%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29.22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Desktop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251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1.59%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46.54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Tablet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75.00%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3.25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26679" y="32918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GA4 device, browser, and operating system tables: Not provided.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25  /  38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AI CITATIONS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Search Console AI performance · 1 July 2026 – 28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Daily Cited Pages is a daily count. Adding those days is a Calculated sum of daily values, not a count of unique pages.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7680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645920"/>
                <a:gridCol w="237744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Days in file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Citations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 of daily cited pages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July 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145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August 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876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September 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776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187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Full file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1,797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353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0" y="1371600"/>
          <a:ext cx="35661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1097280"/>
              </a:tblGrid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Citations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Cited pages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9/6/2026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9/7/2026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8/3/2026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8/2/2026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8/20/2026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8/4/2026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8/27/2026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8/5/2026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0233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The eight dates above are the highest daily citation counts in the file, ordered by citations.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66344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September rows run through 28 September. 29 and 30 September are not in this file.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26  /  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FACEBOOK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Daily series · 1 August 2026 – 30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E5E5E"/>
                </a:solidFill>
                <a:latin typeface="Calibri"/>
              </a:rPr>
              <a:t>August and September figures are Calculated sums of the daily values. Viewers are a daily series. The sum is not a unique-people total.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30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2011680"/>
                <a:gridCol w="2560320"/>
                <a:gridCol w="2286000"/>
              </a:tblGrid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August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September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Calculated total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Days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Views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1,222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556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1,778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Viewers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1,033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263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1,296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Content interactions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Link clicks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Page visits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Follows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41414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617720"/>
            <a:ext cx="11338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41414"/>
                </a:solidFill>
                <a:latin typeface="Calibri"/>
              </a:rPr>
              <a:t>Link clicks: 1, on 19 August 2026. Every other day in the file is 0.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41414"/>
                </a:solidFill>
                <a:latin typeface="Calibri"/>
              </a:rPr>
              <a:t>Follows: 1 on 11 August 2026 and 1 on 23 September 2026.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41414"/>
                </a:solidFill>
                <a:latin typeface="Calibri"/>
              </a:rPr>
              <a:t>Page visits above 0: 2 Aug 3, 5 Aug 3, 8 Aug 3, 4 Sep 4, 19 Sep 3, 22 Sep 3.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41414"/>
                </a:solidFill>
                <a:latin typeface="Calibri"/>
              </a:rPr>
              <a:t>Follower count, unfollows, reactions split, comments, and shares are not columns in these six daily files.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27  /  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FACEBOOK · CONTENT FORMATS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File has no date range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73152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194560"/>
                <a:gridCol w="2286000"/>
              </a:tblGrid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Group in the file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Content interactions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Photo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Content interactions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Reels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Calculated interaction sum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Photo + Reels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Published content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Published content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Stories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Published content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Reels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Views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Reels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1,024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Views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Photo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729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Views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Links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Views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Multi photo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Calculated view sum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All four formats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1,778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63840" y="118872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72 matches the daily interaction total.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1,778 matches the daily Views total.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33 photos + 5 reels = 38. The post export contains 38 posts.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28 stories are in this format file. The post export does not contain a Stories type.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28  /  38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FACEBOOK POSTS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38 posts · Page Searchsarkarinaukri · Lifetime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E5E"/>
                </a:solidFill>
                <a:latin typeface="Calibri"/>
              </a:rPr>
              <a:t>Calculated sum of post Views: 1,448. Organic post views: 1,448. Boosted post views: 0. Ordered by Views.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1325880"/>
          <a:ext cx="117500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822960"/>
                <a:gridCol w="731520"/>
                <a:gridCol w="731520"/>
                <a:gridCol w="960120"/>
                <a:gridCol w="1005840"/>
                <a:gridCol w="777240"/>
                <a:gridCol w="5166360"/>
              </a:tblGrid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Published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Views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Reach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Reactions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Comments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Shares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08/09/2026 22:59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Videos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405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376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सरकारी नोकरीची तयारी करताय पण नवीन भरती, 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08/28/2026 03:16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Videos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329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312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Government job तयारी करताय?Vacancy शोधणे,…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09/14/2026 22:41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🙏 गणपती बाप्पा मोरया! 🚩बाप्पाच्या आशीर्वा…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09/13/2026 21:30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🙏 G𝗮𝗻𝗮𝗽𝗮𝘁𝗶 B𝗮𝗽𝗮 M𝗼𝗿𝘆𝗮! 🌺विघ्नहर्ता बाप्पा…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09/10/2026 20:55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⚔️ 𝗕𝗔𝗧𝗧𝗟𝗘 𝗔𝗥𝗘𝗡𝗔 𝗜𝗦 𝗛𝗘𝗥𝗘! 🏆Think you’re re…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08/26/2026 22:27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🔥 𝗗𝗔𝗜𝗟𝗬 𝗚𝗞 — 𝗕𝗢𝗢𝗦𝗧 𝗬𝗢𝗨𝗥 𝗘𝗫𝗔𝗠 𝗣𝗥𝗘𝗣! 📚🎯🧠 𝗧𝗲…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08/27/2026 21:55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🎉 𝗛𝗮𝗽𝗽𝘆 𝗥𝗮𝗸𝘀𝗵𝗮 𝗕𝗮𝗻𝗱𝗵𝗮𝗻! 🎉Celebrate the be…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08/02/2026 23:41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🚀 तुमची Dream Job आता जवळ आहे! 🇮🇳Governme…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08/29/2026 22:56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🎯 Government Job चं स्वप्न आहे? सुरुवात य…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09/20/2026 02:57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Videos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📚 अभ्यासासाठी माहिती शोधण्यात वेळ वाया घा…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09/12/2026 05:11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📚 *अभ्यास करताय? मग तयारी तपासायलाही थोडा…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868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08/28/2026 03:27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Videos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*Government job तयारी करताय?*Vacancy शोधण…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29  /  38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FACEBOOK POSTS CONTINUED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Part 2 · ordered by Views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51560"/>
          <a:ext cx="117500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822960"/>
                <a:gridCol w="731520"/>
                <a:gridCol w="731520"/>
                <a:gridCol w="960120"/>
                <a:gridCol w="1005840"/>
                <a:gridCol w="777240"/>
                <a:gridCol w="5166360"/>
              </a:tblGrid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Published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Views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Reach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Reactions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Comments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Shares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09/21/2026 21:36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🚨 𝗦𝗔𝗥𝗞𝗔𝗥𝗜 𝗡𝗔𝗨𝗞𝗥𝗜 𝗨𝗣𝗗𝗔𝗧𝗘𝗦 — 𝗔𝗟𝗟 𝗜𝗡 𝗢𝗡𝗘 𝗣𝗟𝗔…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09/03/2026 21:48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✨ Happy Janmashtami! ✨🦚May Lord Krishna b…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09/01/2026 22:54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📢 तुम्ही कोणत्या सरकारी परीक्षेसाठी पात्र…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09/08/2026 21:06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Are you really improving in your UPSC pre…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08/30/2026 22:00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🎯 Career Guidance — योग्य दिशा. Better Ca…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09/27/2026 20:38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Follow us on Instagramhttps://www.instagr…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09/25/2026 22:43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♟️ 𝗕𝗔𝗧𝗧𝗟𝗘 𝗔𝗥𝗘𝗡𝗔 𝗶𝘀 𝗟𝗜𝗩𝗘!Think fast. Answe…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09/06/2026 20:38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🚀 *तुमच्या सरकारी नोकरीच्या करिअरची सुरुव…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08/25/2026 21:53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🚨 Sarkari Naukri Closing Soon!⏳ Don’t wai…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08/11/2026 20:30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🚨 तलाठी भरती 2026 – फी भरण्याची शेवटची सं…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09/11/2026 22:04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🔥 Latest Government Job Updates 2026!सरका…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08/23/2026 22:08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**Daily Quiz | Test Your Knowledge!**Can 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7883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08/19/2026 07:24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🤖 AI कडे सर्व उत्तरं आहेत... मग Competiti…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30  /  38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FACEBOOK POSTS CONTINUED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Part 3 · ordered by Views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51560"/>
          <a:ext cx="117500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822960"/>
                <a:gridCol w="731520"/>
                <a:gridCol w="731520"/>
                <a:gridCol w="960120"/>
                <a:gridCol w="1005840"/>
                <a:gridCol w="777240"/>
                <a:gridCol w="5166360"/>
              </a:tblGrid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Published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Views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Reach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Reactions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Comments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Shares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09/17/2026 20:39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🚀 𝗬𝗢𝗨𝗥 𝗚𝗢𝗩𝗘𝗥𝗡𝗠𝗘𝗡𝗧 𝗝𝗢𝗕 𝗝𝗢𝗨𝗥𝗡𝗘𝗬 𝗦𝗧𝗔𝗥𝗧𝗦 𝗛𝗘𝗥𝗘…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08/24/2026 21:48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Find. Apply. Succeed. Your next governmen…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08/20/2026 21:49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📚 703+ Free Books | One Platform for Ever…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09/18/2026 21:25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𝗬𝗼𝘂𝗿 𝗚𝗼𝘃𝗲𝗿𝗻𝗺𝗲𝗻𝘁 𝗝𝗼𝗯 𝗝𝗼𝘂𝗿𝗻𝗲𝘆 𝗦𝘁𝗮𝗿𝘁𝘀 𝗛𝗲𝗿𝗲!D…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08/19/2026 20:34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# Sadbhavana Diwas 2026 🇮🇳**सद्भावना, एकत…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08/14/2026 11:08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Videos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Your reel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09/20/2026 20:57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𝗜𝘁'𝘀 𝗧𝗶𝗺𝗲 𝗳𝗼𝗿 𝗮 𝗕𝗲𝘁𝘁𝗲𝗿 𝗙𝘂𝘁𝘂𝗿𝗲!Looking for…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09/15/2026 20:49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𝗨𝗣𝗜 𝗖𝗵𝗮𝗿𝗴𝗲𝘀 𝗨𝗽𝗱𝗮𝘁𝗲 | 𝟭𝟱 𝗢𝗰𝘁𝗼𝗯𝗲𝗿 𝟮𝟬𝟮𝟲A new…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08/22/2026 23:39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🚀 National Space Day 2026 | 23 AugustToda…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09/29/2026 23:26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🚨 NEW JOBS ALERT! 🚨3 New Jobs Just Added!…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08/14/2026 21:50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🇮🇳✨ 𝗛𝗮𝗽𝗽𝘆 80𝘁𝗵 𝗜𝗻𝗱𝗲𝗽𝗲𝗻𝗱𝗲𝗻𝗰𝗲 𝗗𝗮𝘆! ✨🇮🇳स्वप्…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08/14/2026 11:06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(no title in file)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7883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09/27/2026 21:45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Photos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𝗡𝗼𝘁 𝘀𝘂𝗿𝗲 𝘄𝗵𝗮𝘁’𝘀 𝗻𝗲𝘅𝘁 𝗮𝗳𝘁𝗲𝗿 𝗴𝗿𝗮𝗱𝘂𝗮𝘁𝗶𝗼𝗻?You…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31  /  38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32 posts · username searchsarkarinaukri · account name Lyftek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E5E"/>
                </a:solidFill>
                <a:latin typeface="Calibri"/>
              </a:rPr>
              <a:t>Two Instagram files were supplied. They contain the same 32 post IDs and the same metric values. The table uses one copy. Ordered by Views. Lifetime metrics.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1168" y="1325880"/>
          <a:ext cx="117957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31520"/>
                <a:gridCol w="685800"/>
                <a:gridCol w="685800"/>
                <a:gridCol w="640080"/>
                <a:gridCol w="960120"/>
                <a:gridCol w="640080"/>
                <a:gridCol w="777240"/>
                <a:gridCol w="5166360"/>
              </a:tblGrid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Published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Views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Reach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Likes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Comments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Saves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Follows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08/09/2026 22:59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reel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137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सरकारी नोकरीची तयारी करताय पण नवीन 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08/11/2026 20:30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🚨 तलाठी भरती 2026 – फी भरण्याची शेव…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09/29/2026 23:26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🚨 NEW JOBS ALERT! 🚨3 New Jobs Just 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09/15/2026 20:49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𝗨𝗣𝗜 𝗖𝗵𝗮𝗿𝗴𝗲𝘀 𝗨𝗽𝗱𝗮𝘁𝗲 | 𝟭𝟱 𝗢𝗰𝘁𝗼𝗯𝗲𝗿 𝟮𝟬𝟮…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09/21/2026 21:36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🚨 𝗦𝗔𝗥𝗞𝗔𝗥𝗜 𝗡𝗔𝗨𝗞𝗥𝗜 𝗨𝗣𝗗𝗔𝗧𝗘𝗦 — 𝗔𝗟𝗟 𝗜𝗡 𝗢…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08/20/2026 21:49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📚 703+ Free Books | One Platform fo…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09/27/2026 20:49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🚨 सरकारी नोकरीची संधी चुकवू नका! 🇮🇳…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08/19/2026 07:24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🤖 AI कडे सर्व उत्तरं आहेत... मग Com…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08/02/2026 23:41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🚀 तुमची Dream Job आता जवळ आहे! 🇮🇳Go…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08/19/2026 20:34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# Sadbhavana Diwas 2026 🇮🇳**सद्भावन…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09/25/2026 22:43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♟️ 𝗕𝗔𝗧𝗧𝗟𝗘 𝗔𝗥𝗘𝗡𝗔 𝗶𝘀 𝗟𝗜𝗩𝗘!Think fast.…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09/17/2026 20:39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🚀 𝗬𝗢𝗨𝗥 𝗚𝗢𝗩𝗘𝗥𝗡𝗠𝗘𝗡𝗧 𝗝𝗢𝗕 𝗝𝗢𝗨𝗥𝗡𝗘𝗬 𝗦𝗧𝗔𝗥𝗧…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09/20/2026 02:57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reel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📚 अभ्यासासाठी माहिती शोधण्यात वेळ व…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08/23/2026 22:08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**Daily Quiz | Test Your Knowledge!…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32  /  38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INSTAGRAM CONTINUED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Remaining posts, ordered by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E5E"/>
                </a:solidFill>
                <a:latin typeface="Calibri"/>
              </a:rPr>
              <a:t>Calculated sums across 32 posts: Views 541, Reach 327, Likes 7, Saves 1. Reach sum is not unique accounts.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1168" y="1280160"/>
          <a:ext cx="117957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31520"/>
                <a:gridCol w="685800"/>
                <a:gridCol w="685800"/>
                <a:gridCol w="640080"/>
                <a:gridCol w="960120"/>
                <a:gridCol w="640080"/>
                <a:gridCol w="777240"/>
                <a:gridCol w="5166360"/>
              </a:tblGrid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Published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Views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Reach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Likes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Comments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Saves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Follows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08/29/2026 22:56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🎯 Government Job चं स्वप्न आहे? सुर…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09/01/2026 22:54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📢 तुम्ही कोणत्या सरकारी परीक्षेसाठी…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08/14/2026 21:50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🇮🇳✨ 𝗛𝗮𝗽𝗽𝘆 80𝘁𝗵 𝗜𝗻𝗱𝗲𝗽𝗲𝗻𝗱𝗲𝗻𝗰𝗲 𝗗𝗮𝘆! ✨🇮…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09/08/2026 21:07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Are you really improving in your UP…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09/18/2026 21:25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𝗬𝗼𝘂𝗿 𝗚𝗼𝘃𝗲𝗿𝗻𝗺𝗲𝗻𝘁 𝗝𝗼𝗯 𝗝𝗼𝘂𝗿𝗻𝗲𝘆 𝗦𝘁𝗮𝗿𝘁𝘀 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08/22/2026 23:39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🚀 National Space Day 2026 | 23 Augu…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09/06/2026 20:38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🚀 *तुमच्या सरकारी नोकरीच्या करिअरची…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08/25/2026 21:53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🚨 Sarkari Naukri Closing Soon!⏳ Don…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09/10/2026 20:55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⚔️ 𝗕𝗔𝗧𝗧𝗟𝗘 𝗔𝗥𝗘𝗡𝗔 𝗜𝗦 𝗛𝗘𝗥𝗘! 🏆Think you…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09/14/2026 22:41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🙏 गणपती बाप्पा मोरया! 🚩बाप्पाच्या आ…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09/20/2026 20:57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𝗜𝘁'𝘀 𝗧𝗶𝗺𝗲 𝗳𝗼𝗿 𝗮 𝗕𝗲𝘁𝘁𝗲𝗿 𝗙𝘂𝘁𝘂𝗿𝗲!Looki…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08/27/2026 21:55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🎉 𝗛𝗮𝗽𝗽𝘆 𝗥𝗮𝗸𝘀𝗵𝗮 𝗕𝗮𝗻𝗱𝗵𝗮𝗻! 🎉Celebrate 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09/11/2026 22:04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🔥 Latest Government Job Updates 202…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09/27/2026 21:45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𝗡𝗼𝘁 𝘀𝘂𝗿𝗲 𝘄𝗵𝗮𝘁’𝘀 𝗻𝗲𝘅𝘁 𝗮𝗳𝘁𝗲𝗿 𝗴𝗿𝗮𝗱𝘂𝗮𝘁𝗶…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08/24/2026 21:49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Find. Apply. Succeed. Your next gov…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09/03/2026 21:48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✨ Happy Janmashtami! ✨🦚May Lord Kri…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26469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08/30/2026 22:00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🎯 Career Guidance — योग्य दिशा. Bet…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2647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08/26/2026 22:27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🔥 𝗗𝗔𝗜𝗟𝗬 𝗚𝗞 — 𝗕𝗢𝗢𝗦𝗧 𝗬𝗢𝗨𝗥 𝗘𝗫𝗔𝗠 𝗣𝗥𝗘𝗣! …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33  /  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RECORDED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Figures present in the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GA4 records 1,116 active users and 1,074 new users from 1 August to 30 September 2026.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Direct is the largest first-user source in the file: 920 active users. Organic Social new users: 112. Organic Search new users: 67.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The homepage records 11 Search Console clicks, 49 impressions, CTR 22.45%, average position 16.63.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India records 14 Search Console clicks. Mobile records 9 clicks. Tablet records 3 clicks from 4 impressions.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AI citations reach 180 on 6 September 2026 and 102 on 7 September 2026. Cited pages on those days are 10 and 13.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Facebook post published 9 August 2026 records 405 views and 376 reach. The 28 August video records 329 views and 312 reach.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Facebook photo published 14 September 2026 records 180 views, 109 reach, 5 reactions and 3 shares.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Instagram reel published 9 August 2026 records 137 views, 118 reach and 2 likes.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Eligibility Checker page titles record 88 and 93 active users in the GA4 page report.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41414"/>
                </a:solidFill>
                <a:latin typeface="Calibri"/>
              </a:rPr>
              <a:t>Daily Facebook Views and the content-format Views use the same total, 1,778.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34  /  38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DATA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Exports that are not in the supplied set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9728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Not in the supplied performance files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Also not in the supplied performance files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Google Ads campaigns, spend, CPC, conversions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GA4 device, browser, operating system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Meta Ads campaigns, spend, reach, frequency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GA4 landing-page and exit-page reports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Meta Pixel events and match quality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Form, WhatsApp, phone, and email event counts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Google Tag Manager containers, tags, triggers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Indexed and non-indexed page counts for September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Google Business Profile searches, calls, directions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Core Web Vitals for September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Revenue, purchases, ROAS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UTM campaign report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Lead names, status, sales value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41414"/>
                          </a:solidFill>
                          <a:latin typeface="Calibri"/>
                        </a:rPr>
                        <a:t>A filled client brief with objectives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530352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E5E5E"/>
                </a:solidFill>
                <a:latin typeface="Calibri"/>
              </a:rPr>
              <a:t>The two Growthik PDFs are blank templates with placeholders. They do not contain Search Sarkari Naukri commercial terms or performance numbers. The 25 August 2026 audit is a separate project document and is used here only for sitemap and blog inventory.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35  /  38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DATA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Differences kept side by side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16586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4709160"/>
              </a:tblGrid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Figure A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Figure B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Search clicks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Chart, countries, devices, pages: 16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Queries sheet: 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Search impressions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Chart, countries, devices: 304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Pages: 595 · Queries: 111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GA4 events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Property total: 20,275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Sum of 659 page rows: 19,912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GA4 active users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Property total: 1,116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Sum of first-user rows: 1,117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GA4 daily new users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Leads file sum: 1,074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Snapshot column new sum: 1,116 · 9 days differ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Blog sitemap count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sitemap-blogs.xml: 67 URLs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Page-type file in_sitemap: 68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Blog page type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Sitemap blog URLs: 67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Indexable 200 blog URLs: 519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Instagram files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1587270892312992.csv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1136654562355748.csv · same 32 posts and metrics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Search date filter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Filter label: Last 12 months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Chart rows begin 17 May 2026 and end 28 Sep 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7383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AI file end date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GA4 and Facebook daily end 30 Sep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41414"/>
                          </a:solidFill>
                          <a:latin typeface="Calibri"/>
                        </a:rPr>
                        <a:t>AI citations end 28 Sep 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36  /  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0B1C"/>
                </a:solidFill>
                <a:latin typeface="Calibri"/>
              </a:rPr>
              <a:t>MASTER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Calibri"/>
              </a:rPr>
              <a:t>One line per recorded area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960120"/>
          <a:ext cx="1175004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468880"/>
                <a:gridCol w="2103120"/>
                <a:gridCol w="2468880"/>
                <a:gridCol w="3154680"/>
              </a:tblGrid>
              <a:tr h="34004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Date range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anchor="ctr" marL="60000" marR="60000" marT="28000" marB="28000">
                    <a:solidFill>
                      <a:srgbClr val="D90B1C"/>
                    </a:solidFill>
                  </a:tcPr>
                </a:tc>
              </a:tr>
              <a:tr h="34004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Website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Sitemap URLs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3,871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25 Aug 2026 audit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sitemap-files.csv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4004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Blogs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sitemap-blogs.xml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25 Aug 2026 audit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Project crawl file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4004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Blogs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Indexable 200 blog type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519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25 Aug 2026 audit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Page-type reconciliation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4004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GA4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Active users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1,116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 Aug–30 Sep 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Reports snapshot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4004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GA4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New users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1,074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 Aug–30 Sep 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Reports snapshot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4004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GA4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Event count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20,275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 Aug–30 Sep 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Reports snapshot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4004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GA4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Qualified / converted leads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0 / 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 Aug–30 Sep 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Generate leads overview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4004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Search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Clicks / impressions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16 / 304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17 May–28 Sep 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Search Console chart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4004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Search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Homepage clicks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Same workbook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Pages sheet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4004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AI citations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Citation sum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1,797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 Jul–28 Sep 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AI performance CSV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4004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Facebook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Views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1,778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 Aug–30 Sep 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Daily Views file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4004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Facebook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Interactions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1 Aug–30 Sep 2026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Daily Interactions file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4004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Posts in export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Lifetime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Instagram content export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34004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Google Ads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Account export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Not provided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60000" marR="60000" marT="28000" marB="28000">
                    <a:solidFill>
                      <a:srgbClr val="F6F6F7"/>
                    </a:solidFill>
                  </a:tcPr>
                </a:tc>
              </a:tr>
              <a:tr h="34005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Meta Ads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Account export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Not provided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141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Growthik Media  ·  searchsarkarinaukri.com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37  /  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0B1C"/>
                </a:solidFill>
                <a:latin typeface="Calibri"/>
              </a:rPr>
              <a:t>GROWTHIK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Search Sarkari Naukri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All figures in this deck are traced to the supplied exports or to the 25 August 2026 project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www.growthikmedia.com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4D4D8"/>
                </a:solidFill>
                <a:latin typeface="Calibri"/>
              </a:rPr>
              <a:t>+91 80557 54054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4D4D8"/>
                </a:solidFill>
                <a:latin typeface="Calibri"/>
              </a:rPr>
              <a:t>info@growthikmedia.com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Sarkari Naukri — September 2026 Performance Report</dc:title>
  <dc:subject>Performance documentation from supplied exports and project files</dc:subject>
  <dc:creator>Growthik Media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