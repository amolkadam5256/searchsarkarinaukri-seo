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90B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329184"/>
            <a:ext cx="58521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D90B1C"/>
                </a:solidFill>
                <a:latin typeface="Calibri"/>
                <a:ea typeface="Calibri"/>
                <a:cs typeface="Calibri"/>
              </a:rPr>
              <a:t>GROWTHIK MEDIA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960120"/>
            <a:ext cx="5943600" cy="17373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Search got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stronger.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2880360"/>
            <a:ext cx="566928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Search Sarkari Naukri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C4C0"/>
                </a:solidFill>
                <a:latin typeface="Calibri"/>
                <a:ea typeface="Calibri"/>
                <a:cs typeface="Calibri"/>
              </a:rPr>
              <a:t>August and September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3886200"/>
            <a:ext cx="5623560" cy="12344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E7E2DE"/>
                </a:solidFill>
                <a:latin typeface="Calibri"/>
                <a:ea typeface="Calibri"/>
                <a:cs typeface="Calibri"/>
              </a:rPr>
              <a:t>Bing clicks rose 66% in September. AI tools kept citing the site. Google moved the site up the page, from about position 43 to about 19.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5989320"/>
            <a:ext cx="576072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B5B0AC"/>
                </a:solidFill>
                <a:latin typeface="Calibri"/>
                <a:ea typeface="Calibri"/>
                <a:cs typeface="Calibri"/>
              </a:rPr>
              <a:t>Files downloaded 3 October. Latest day inside them is 30 September.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384048"/>
            <a:ext cx="2414016" cy="2697480"/>
          </a:xfrm>
          <a:prstGeom prst="roundRect">
            <a:avLst>
              <a:gd name="adj" fmla="val 8000"/>
            </a:avLst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0" y="384048"/>
            <a:ext cx="2414016" cy="73152"/>
          </a:xfrm>
          <a:prstGeom prst="rect">
            <a:avLst/>
          </a:prstGeom>
          <a:solidFill>
            <a:srgbClr val="D90B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22592" y="768096"/>
            <a:ext cx="2084831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449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22592" y="1847088"/>
            <a:ext cx="2084831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Bing search clicks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B5B0AC"/>
                </a:solidFill>
                <a:latin typeface="Calibri"/>
                <a:ea typeface="Calibri"/>
                <a:cs typeface="Calibri"/>
              </a:rPr>
              <a:t>August + September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36608" y="384048"/>
            <a:ext cx="2414016" cy="2697480"/>
          </a:xfrm>
          <a:prstGeom prst="roundRect">
            <a:avLst>
              <a:gd name="adj" fmla="val 8000"/>
            </a:avLst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436608" y="384048"/>
            <a:ext cx="2414016" cy="73152"/>
          </a:xfrm>
          <a:prstGeom prst="rect">
            <a:avLst/>
          </a:prstGeom>
          <a:solidFill>
            <a:srgbClr val="D90B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0" y="768096"/>
            <a:ext cx="2084831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+66%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1847088"/>
            <a:ext cx="2084831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More Bing clicks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B5B0AC"/>
                </a:solidFill>
                <a:latin typeface="Calibri"/>
                <a:ea typeface="Calibri"/>
                <a:cs typeface="Calibri"/>
              </a:rPr>
              <a:t>169 in Aug, 280 in Sep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0" y="3364992"/>
            <a:ext cx="2414016" cy="2697480"/>
          </a:xfrm>
          <a:prstGeom prst="roundRect">
            <a:avLst>
              <a:gd name="adj" fmla="val 8000"/>
            </a:avLst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0" y="3364992"/>
            <a:ext cx="2414016" cy="73152"/>
          </a:xfrm>
          <a:prstGeom prst="rect">
            <a:avLst/>
          </a:prstGeom>
          <a:solidFill>
            <a:srgbClr val="D90B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22592" y="3749040"/>
            <a:ext cx="2084831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1,743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22592" y="4828032"/>
            <a:ext cx="2084831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AI citations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B5B0AC"/>
                </a:solidFill>
                <a:latin typeface="Calibri"/>
                <a:ea typeface="Calibri"/>
                <a:cs typeface="Calibri"/>
              </a:rPr>
              <a:t>876 in Aug, 867 in Sep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36608" y="3364992"/>
            <a:ext cx="2414016" cy="2697480"/>
          </a:xfrm>
          <a:prstGeom prst="roundRect">
            <a:avLst>
              <a:gd name="adj" fmla="val 8000"/>
            </a:avLst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436608" y="3364992"/>
            <a:ext cx="2414016" cy="73152"/>
          </a:xfrm>
          <a:prstGeom prst="rect">
            <a:avLst/>
          </a:prstGeom>
          <a:solidFill>
            <a:srgbClr val="D90B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0" y="3749040"/>
            <a:ext cx="2084831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4828032"/>
            <a:ext cx="2084831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Google position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B5B0AC"/>
                </a:solidFill>
                <a:latin typeface="Calibri"/>
                <a:ea typeface="Calibri"/>
                <a:cs typeface="Calibri"/>
              </a:rPr>
              <a:t>September. August was 43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5560" y="6263640"/>
            <a:ext cx="15544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  / 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0B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19456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90B1C"/>
                </a:solidFill>
                <a:latin typeface="Calibri"/>
                <a:ea typeface="Calibri"/>
                <a:cs typeface="Calibri"/>
              </a:rPr>
              <a:t>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20624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61616"/>
                </a:solidFill>
                <a:latin typeface="Calibri"/>
                <a:ea typeface="Calibri"/>
                <a:cs typeface="Calibri"/>
              </a:rPr>
              <a:t>More people clicked in September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960120"/>
            <a:ext cx="7452360" cy="3063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" y="1078992"/>
            <a:ext cx="69494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D90B1C"/>
                </a:solidFill>
                <a:latin typeface="Calibri"/>
                <a:ea typeface="Calibri"/>
                <a:cs typeface="Calibri"/>
              </a:rPr>
              <a:t>Bing 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417320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C5856"/>
                </a:solidFill>
                <a:latin typeface="Calibri"/>
                <a:ea typeface="Calibri"/>
                <a:cs typeface="Calibri"/>
              </a:rPr>
              <a:t>August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1417320"/>
            <a:ext cx="33832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D90B1C"/>
                </a:solidFill>
                <a:latin typeface="Calibri"/>
                <a:ea typeface="Calibri"/>
                <a:cs typeface="Calibri"/>
              </a:rPr>
              <a:t>September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1719072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61616"/>
                </a:solidFill>
                <a:latin typeface="Calibri"/>
                <a:ea typeface="Calibri"/>
                <a:cs typeface="Calibri"/>
              </a:rPr>
              <a:t>169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1719072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D90B1C"/>
                </a:solidFill>
                <a:latin typeface="Calibri"/>
                <a:ea typeface="Calibri"/>
                <a:cs typeface="Calibri"/>
              </a:rPr>
              <a:t>280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2395728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5856"/>
                </a:solidFill>
                <a:latin typeface="Calibri"/>
                <a:ea typeface="Calibri"/>
                <a:cs typeface="Calibri"/>
              </a:rPr>
              <a:t>clicks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2395728"/>
            <a:ext cx="33832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5856"/>
                </a:solidFill>
                <a:latin typeface="Calibri"/>
                <a:ea typeface="Calibri"/>
                <a:cs typeface="Calibri"/>
              </a:rPr>
              <a:t>clicks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" y="2834640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61616"/>
                </a:solidFill>
                <a:latin typeface="Calibri"/>
                <a:ea typeface="Calibri"/>
                <a:cs typeface="Calibri"/>
              </a:rPr>
              <a:t>Shown 4,339 times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61616"/>
                </a:solidFill>
                <a:latin typeface="Calibri"/>
                <a:ea typeface="Calibri"/>
                <a:cs typeface="Calibri"/>
              </a:rPr>
              <a:t>3.9% of those clicked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2834640"/>
            <a:ext cx="347472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61616"/>
                </a:solidFill>
                <a:latin typeface="Calibri"/>
                <a:ea typeface="Calibri"/>
                <a:cs typeface="Calibri"/>
              </a:rPr>
              <a:t>Shown 5,518 times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D90B1C"/>
                </a:solidFill>
                <a:latin typeface="Calibri"/>
                <a:ea typeface="Calibri"/>
                <a:cs typeface="Calibri"/>
              </a:rPr>
              <a:t>5.1% of those clicked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960120"/>
            <a:ext cx="3794760" cy="3063240"/>
          </a:xfrm>
          <a:prstGeom prst="roundRect">
            <a:avLst>
              <a:gd name="adj" fmla="val 5000"/>
            </a:avLst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11312" y="1078992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D90B1C"/>
                </a:solidFill>
                <a:latin typeface="Calibri"/>
                <a:ea typeface="Calibri"/>
                <a:cs typeface="Calibri"/>
              </a:rPr>
              <a:t>Google search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1312" y="1444752"/>
            <a:ext cx="3429000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  →  11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D5D0CC"/>
                </a:solidFill>
                <a:latin typeface="Calibri"/>
                <a:ea typeface="Calibri"/>
                <a:cs typeface="Calibri"/>
              </a:rPr>
              <a:t>clicks, August to September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11312" y="2651760"/>
            <a:ext cx="3429000" cy="1143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Position 43  →  19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5D0CC"/>
                </a:solidFill>
                <a:latin typeface="Calibri"/>
                <a:ea typeface="Calibri"/>
                <a:cs typeface="Calibri"/>
              </a:rPr>
              <a:t>In September, about 23% of the times Google showed the site, someone clicked.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4048" y="4160520"/>
            <a:ext cx="11411712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" y="4297680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61616"/>
                </a:solidFill>
                <a:latin typeface="Calibri"/>
                <a:ea typeface="Calibri"/>
                <a:cs typeface="Calibri"/>
              </a:rPr>
              <a:t>What the clicks were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" y="4645152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161616"/>
                </a:solidFill>
                <a:latin typeface="Calibri"/>
                <a:ea typeface="Calibri"/>
                <a:cs typeface="Calibri"/>
              </a:rPr>
              <a:t>Best Bing days: 14 September and 24 September, 18 clicks each. 29 September still had 14 clicks.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61616"/>
                </a:solidFill>
                <a:latin typeface="Calibri"/>
                <a:ea typeface="Calibri"/>
                <a:cs typeface="Calibri"/>
              </a:rPr>
              <a:t>On Google, 11 of the 13 clicks were from India. The homepage took 10 of them, and about 22% of homepage showings were clicked. Districts, Nagpur and MBBS jobs in Gujarat also earned a click.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6528816"/>
            <a:ext cx="932688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5856"/>
                </a:solidFill>
                <a:latin typeface="Calibri"/>
                <a:ea typeface="Calibri"/>
                <a:cs typeface="Calibri"/>
              </a:rPr>
              <a:t>Growthik Media   ·   searchsarkarinaukri.com   ·   1 Aug – 30 Sep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6528816"/>
            <a:ext cx="15087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D90B1C"/>
                </a:solidFill>
                <a:latin typeface="Calibri"/>
                <a:ea typeface="Calibri"/>
                <a:cs typeface="Calibri"/>
              </a:rPr>
              <a:t>2  / 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0B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90B1C"/>
                </a:solidFill>
                <a:latin typeface="Calibri"/>
                <a:ea typeface="Calibri"/>
                <a:cs typeface="Calibri"/>
              </a:rPr>
              <a:t>AI AND COVERAGE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02336"/>
            <a:ext cx="10972800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61616"/>
                </a:solidFill>
                <a:latin typeface="Calibri"/>
                <a:ea typeface="Calibri"/>
                <a:cs typeface="Calibri"/>
              </a:rPr>
              <a:t>The site stayed in the answers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932688"/>
            <a:ext cx="5715000" cy="4160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" y="1060704"/>
            <a:ext cx="530352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D90B1C"/>
                </a:solidFill>
                <a:latin typeface="Calibri"/>
                <a:ea typeface="Calibri"/>
                <a:cs typeface="Calibri"/>
              </a:rPr>
              <a:t>AI citations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389888"/>
            <a:ext cx="237744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61616"/>
                </a:solidFill>
                <a:latin typeface="Calibri"/>
                <a:ea typeface="Calibri"/>
                <a:cs typeface="Calibri"/>
              </a:rPr>
              <a:t>876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1389888"/>
            <a:ext cx="265176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D90B1C"/>
                </a:solidFill>
                <a:latin typeface="Calibri"/>
                <a:ea typeface="Calibri"/>
                <a:cs typeface="Calibri"/>
              </a:rPr>
              <a:t>867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1993392"/>
            <a:ext cx="237744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5856"/>
                </a:solidFill>
                <a:latin typeface="Calibri"/>
                <a:ea typeface="Calibri"/>
                <a:cs typeface="Calibri"/>
              </a:rPr>
              <a:t>August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1993392"/>
            <a:ext cx="26517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D90B1C"/>
                </a:solidFill>
                <a:latin typeface="Calibri"/>
                <a:ea typeface="Calibri"/>
                <a:cs typeface="Calibri"/>
              </a:rPr>
              <a:t>September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2377440"/>
            <a:ext cx="5212080" cy="23774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61616"/>
                </a:solidFill>
                <a:latin typeface="Calibri"/>
                <a:ea typeface="Calibri"/>
                <a:cs typeface="Calibri"/>
              </a:rPr>
              <a:t>Citations held at a high level while search clicks grew.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61616"/>
                </a:solidFill>
                <a:latin typeface="Calibri"/>
                <a:ea typeface="Calibri"/>
                <a:cs typeface="Calibri"/>
              </a:rPr>
              <a:t>The daily count of pages cited adds up to 109 in August and 203 in September. More pages were picked up through the month.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61616"/>
                </a:solidFill>
                <a:latin typeface="Calibri"/>
                <a:ea typeface="Calibri"/>
                <a:cs typeface="Calibri"/>
              </a:rPr>
              <a:t>Biggest day: 6 September, 180 citations. The month closed strong: 30 September had 53 citations.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932688"/>
            <a:ext cx="5532120" cy="4160520"/>
          </a:xfrm>
          <a:prstGeom prst="roundRect">
            <a:avLst>
              <a:gd name="adj" fmla="val 5000"/>
            </a:avLst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060704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D90B1C"/>
                </a:solidFill>
                <a:latin typeface="Calibri"/>
                <a:ea typeface="Calibri"/>
                <a:cs typeface="Calibri"/>
              </a:rPr>
              <a:t>Bing can see the site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481328"/>
            <a:ext cx="1234440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183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1536192"/>
            <a:ext cx="3749039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E7E2DE"/>
                </a:solidFill>
                <a:latin typeface="Calibri"/>
                <a:ea typeface="Calibri"/>
                <a:cs typeface="Calibri"/>
              </a:rPr>
              <a:t>addresses in the Bing export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139696"/>
            <a:ext cx="1234440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119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2194560"/>
            <a:ext cx="3749039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E7E2DE"/>
                </a:solidFill>
                <a:latin typeface="Calibri"/>
                <a:ea typeface="Calibri"/>
                <a:cs typeface="Calibri"/>
              </a:rPr>
              <a:t>came back as live pages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798063"/>
            <a:ext cx="1234440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92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2852927"/>
            <a:ext cx="3749039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E7E2DE"/>
                </a:solidFill>
                <a:latin typeface="Calibri"/>
                <a:ea typeface="Calibri"/>
                <a:cs typeface="Calibri"/>
              </a:rPr>
              <a:t>first found in August or September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456431"/>
            <a:ext cx="1234440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3511295"/>
            <a:ext cx="3749039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E7E2DE"/>
                </a:solidFill>
                <a:latin typeface="Calibri"/>
                <a:ea typeface="Calibri"/>
                <a:cs typeface="Calibri"/>
              </a:rPr>
              <a:t>crawled during September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160520"/>
            <a:ext cx="502920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D5D0CC"/>
                </a:solidFill>
                <a:latin typeface="Calibri"/>
                <a:ea typeface="Calibri"/>
                <a:cs typeface="Calibri"/>
              </a:rPr>
              <a:t>Other sites link here too: Blogspot, 3 links, and kadergp.org, 1 link.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4048" y="5230368"/>
            <a:ext cx="11411712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" y="5358384"/>
            <a:ext cx="10972800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D90B1C"/>
                </a:solidFill>
                <a:latin typeface="Calibri"/>
                <a:ea typeface="Calibri"/>
                <a:cs typeface="Calibri"/>
              </a:rPr>
              <a:t>Pages Bing showed most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61616"/>
                </a:solidFill>
                <a:latin typeface="Calibri"/>
                <a:ea typeface="Calibri"/>
                <a:cs typeface="Calibri"/>
              </a:rPr>
              <a:t>Age calculator: shown 133 times, 3 clicks. Homepage: shown 66 times, and it holds the 4 incoming links. Also shown: videos, 10th-pass jobs, the eligibility checker, and jobs in Maharashtra.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6528816"/>
            <a:ext cx="932688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5856"/>
                </a:solidFill>
                <a:latin typeface="Calibri"/>
                <a:ea typeface="Calibri"/>
                <a:cs typeface="Calibri"/>
              </a:rPr>
              <a:t>Growthik Media   ·   searchsarkarinaukri.com   ·   1 Aug – 30 Sep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0" y="6528816"/>
            <a:ext cx="15087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D90B1C"/>
                </a:solidFill>
                <a:latin typeface="Calibri"/>
                <a:ea typeface="Calibri"/>
                <a:cs typeface="Calibri"/>
              </a:rPr>
              <a:t>3  / 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0B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90B1C"/>
                </a:solidFill>
                <a:latin typeface="Calibri"/>
                <a:ea typeface="Calibri"/>
                <a:cs typeface="Calibri"/>
              </a:rPr>
              <a:t>THE FULL PICTURE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02336"/>
            <a:ext cx="10972800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61616"/>
                </a:solidFill>
                <a:latin typeface="Calibri"/>
                <a:ea typeface="Calibri"/>
                <a:cs typeface="Calibri"/>
              </a:rPr>
              <a:t>Website, social, and what to keep doing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960120"/>
            <a:ext cx="3730752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078992"/>
            <a:ext cx="338328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D90B1C"/>
                </a:solidFill>
                <a:latin typeface="Calibri"/>
                <a:ea typeface="Calibri"/>
                <a:cs typeface="Calibri"/>
              </a:rPr>
              <a:t>1,116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627632"/>
            <a:ext cx="338328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61616"/>
                </a:solidFill>
                <a:latin typeface="Calibri"/>
                <a:ea typeface="Calibri"/>
                <a:cs typeface="Calibri"/>
              </a:rPr>
              <a:t>people on the website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C5856"/>
                </a:solidFill>
                <a:latin typeface="Calibri"/>
                <a:ea typeface="Calibri"/>
                <a:cs typeface="Calibri"/>
              </a:rPr>
              <a:t>1,074 were new. About 2 minutes on the site.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70248" y="960120"/>
            <a:ext cx="3730752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53128" y="1078992"/>
            <a:ext cx="338328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D90B1C"/>
                </a:solidFill>
                <a:latin typeface="Calibri"/>
                <a:ea typeface="Calibri"/>
                <a:cs typeface="Calibri"/>
              </a:rPr>
              <a:t>217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53128" y="1627632"/>
            <a:ext cx="338328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61616"/>
                </a:solidFill>
                <a:latin typeface="Calibri"/>
                <a:ea typeface="Calibri"/>
                <a:cs typeface="Calibri"/>
              </a:rPr>
              <a:t>came back in September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C5856"/>
                </a:solidFill>
                <a:latin typeface="Calibri"/>
                <a:ea typeface="Calibri"/>
                <a:cs typeface="Calibri"/>
              </a:rPr>
              <a:t>August had 58 return visits. More people returned.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56448" y="960120"/>
            <a:ext cx="3730752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39327" y="1078992"/>
            <a:ext cx="338328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D90B1C"/>
                </a:solidFill>
                <a:latin typeface="Calibri"/>
                <a:ea typeface="Calibri"/>
                <a:cs typeface="Calibri"/>
              </a:rPr>
              <a:t>1,778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9327" y="1627632"/>
            <a:ext cx="338328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61616"/>
                </a:solidFill>
                <a:latin typeface="Calibri"/>
                <a:ea typeface="Calibri"/>
                <a:cs typeface="Calibri"/>
              </a:rPr>
              <a:t>Facebook views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C5856"/>
                </a:solidFill>
                <a:latin typeface="Calibri"/>
                <a:ea typeface="Calibri"/>
                <a:cs typeface="Calibri"/>
              </a:rPr>
              <a:t>38 posts. Instagram added 32 posts and 541 views.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" y="2834640"/>
            <a:ext cx="11411712" cy="3520440"/>
          </a:xfrm>
          <a:prstGeom prst="roundRect">
            <a:avLst>
              <a:gd name="adj" fmla="val 5000"/>
            </a:avLst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2980944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Keep this going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3401568"/>
            <a:ext cx="310896" cy="310896"/>
          </a:xfrm>
          <a:prstGeom prst="ellipse">
            <a:avLst/>
          </a:prstGeom>
          <a:solidFill>
            <a:srgbClr val="D90B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419856"/>
            <a:ext cx="310896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3383280"/>
            <a:ext cx="1033272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Keep publishing on the pages already being shown: jobs, districts, the age calculator, and the eligibility checker.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" y="4059936"/>
            <a:ext cx="310896" cy="310896"/>
          </a:xfrm>
          <a:prstGeom prst="ellipse">
            <a:avLst/>
          </a:prstGeom>
          <a:solidFill>
            <a:srgbClr val="D90B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078224"/>
            <a:ext cx="310896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" y="4041648"/>
            <a:ext cx="1033272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Put the new articles live and link each one to the matching jobs page. September proved fresh pages get found.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" y="4718304"/>
            <a:ext cx="310896" cy="310896"/>
          </a:xfrm>
          <a:prstGeom prst="ellipse">
            <a:avLst/>
          </a:prstGeom>
          <a:solidFill>
            <a:srgbClr val="D90B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4736592"/>
            <a:ext cx="310896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" y="4700016"/>
            <a:ext cx="1033272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Add the website link on every Facebook and Instagram post, so the views can become visits.</a:t>
            </a:r>
          </a:p>
        </p:txBody>
      </p:sp>
      <p:sp>
        <p:nvSpPr>
          <p:cNvPr id="26" name="Oval 25"/>
          <p:cNvSpPr/>
          <p:nvPr/>
        </p:nvSpPr>
        <p:spPr>
          <a:xfrm>
            <a:off x="658368" y="5376672"/>
            <a:ext cx="310896" cy="310896"/>
          </a:xfrm>
          <a:prstGeom prst="ellipse">
            <a:avLst/>
          </a:prstGeom>
          <a:solidFill>
            <a:srgbClr val="D90B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5394959"/>
            <a:ext cx="310896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" y="5358384"/>
            <a:ext cx="1033272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Check the next export in mid-October. These files stop at 30 September, so 1–3 October is not in them yet.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6528816"/>
            <a:ext cx="932688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5856"/>
                </a:solidFill>
                <a:latin typeface="Calibri"/>
                <a:ea typeface="Calibri"/>
                <a:cs typeface="Calibri"/>
              </a:rPr>
              <a:t>Growthik Media   ·   searchsarkarinaukri.com   ·   1 Aug – 30 Sep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41280" y="6528816"/>
            <a:ext cx="15087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D90B1C"/>
                </a:solidFill>
                <a:latin typeface="Calibri"/>
                <a:ea typeface="Calibri"/>
                <a:cs typeface="Calibri"/>
              </a:rPr>
              <a:t>4  / 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Search Sarkari Naukri — August and September 2026</dc:title>
  <dc:subject>Corrected performance report from 3 October 2026 exports</dc:subject>
  <dc:creator>Growthik Media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