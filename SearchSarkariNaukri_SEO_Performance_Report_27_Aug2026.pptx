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961</c:v>
                </c:pt>
                <c:pt idx="1">
                  <c:v>1263</c:v>
                </c:pt>
                <c:pt idx="2">
                  <c:v>1067</c:v>
                </c:pt>
                <c:pt idx="3">
                  <c:v>807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9-4B56-86F0-E67442BB1F0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DCE4EE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Citations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Sheet1!$A$2:$A$29</c:f>
              <c:strCache>
                <c:ptCount val="28"/>
                <c:pt idx="0">
                  <c:v>07-28</c:v>
                </c:pt>
                <c:pt idx="4">
                  <c:v>08-01</c:v>
                </c:pt>
                <c:pt idx="8">
                  <c:v>08-05</c:v>
                </c:pt>
                <c:pt idx="12">
                  <c:v>08-09</c:v>
                </c:pt>
                <c:pt idx="16">
                  <c:v>08-13</c:v>
                </c:pt>
                <c:pt idx="20">
                  <c:v>08-17</c:v>
                </c:pt>
                <c:pt idx="24">
                  <c:v>08-21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</c:v>
                </c:pt>
                <c:pt idx="1">
                  <c:v>0</c:v>
                </c:pt>
                <c:pt idx="2">
                  <c:v>23</c:v>
                </c:pt>
                <c:pt idx="3">
                  <c:v>6</c:v>
                </c:pt>
                <c:pt idx="4">
                  <c:v>1</c:v>
                </c:pt>
                <c:pt idx="5">
                  <c:v>66</c:v>
                </c:pt>
                <c:pt idx="6">
                  <c:v>83</c:v>
                </c:pt>
                <c:pt idx="7">
                  <c:v>63</c:v>
                </c:pt>
                <c:pt idx="8">
                  <c:v>57</c:v>
                </c:pt>
                <c:pt idx="9">
                  <c:v>11</c:v>
                </c:pt>
                <c:pt idx="10">
                  <c:v>11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23</c:v>
                </c:pt>
                <c:pt idx="15">
                  <c:v>0</c:v>
                </c:pt>
                <c:pt idx="16">
                  <c:v>4</c:v>
                </c:pt>
                <c:pt idx="17">
                  <c:v>20</c:v>
                </c:pt>
                <c:pt idx="18">
                  <c:v>5</c:v>
                </c:pt>
                <c:pt idx="19">
                  <c:v>26</c:v>
                </c:pt>
                <c:pt idx="20">
                  <c:v>12</c:v>
                </c:pt>
                <c:pt idx="21">
                  <c:v>26</c:v>
                </c:pt>
                <c:pt idx="22">
                  <c:v>25</c:v>
                </c:pt>
                <c:pt idx="23">
                  <c:v>66</c:v>
                </c:pt>
                <c:pt idx="24">
                  <c:v>20</c:v>
                </c:pt>
                <c:pt idx="25">
                  <c:v>8</c:v>
                </c:pt>
                <c:pt idx="26">
                  <c:v>26</c:v>
                </c:pt>
                <c:pt idx="27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D2-4944-84B0-3639233075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No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DCE4EE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8C-44F5-B6FF-DD072C5B2E38}"/>
              </c:ext>
            </c:extLst>
          </c:dPt>
          <c:dPt>
            <c:idx val="1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8C-44F5-B6FF-DD072C5B2E38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8C-44F5-B6FF-DD072C5B2E38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8C-44F5-B6FF-DD072C5B2E38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98C-44F5-B6FF-DD072C5B2E38}"/>
              </c:ext>
            </c:extLst>
          </c:dPt>
          <c:cat>
            <c:strRef>
              <c:f>Sheet1!$A$2:$A$6</c:f>
              <c:strCache>
                <c:ptCount val="5"/>
                <c:pt idx="0">
                  <c:v>Direct</c:v>
                </c:pt>
                <c:pt idx="1">
                  <c:v>Organic search</c:v>
                </c:pt>
                <c:pt idx="2">
                  <c:v>Referral / social</c:v>
                </c:pt>
                <c:pt idx="3">
                  <c:v>AI assistants</c:v>
                </c:pt>
                <c:pt idx="4">
                  <c:v>Paid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651</c:v>
                </c:pt>
                <c:pt idx="1">
                  <c:v>44</c:v>
                </c:pt>
                <c:pt idx="2">
                  <c:v>42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98C-44F5-B6FF-DD072C5B2E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4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Noto Sans"/>
              <a:cs typeface="Noto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#1</c:v>
                </c:pt>
                <c:pt idx="1">
                  <c:v>#2</c:v>
                </c:pt>
                <c:pt idx="2">
                  <c:v>#3</c:v>
                </c:pt>
                <c:pt idx="3">
                  <c:v>#4</c:v>
                </c:pt>
                <c:pt idx="4">
                  <c:v>#5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1421</c:v>
                </c:pt>
                <c:pt idx="1">
                  <c:v>443</c:v>
                </c:pt>
                <c:pt idx="2">
                  <c:v>85</c:v>
                </c:pt>
                <c:pt idx="3">
                  <c:v>80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67-4215-A70D-CB7ED74BA6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DCE4EE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11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SearchSarkariNaukri • SEO Performance Report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0789920" y="65471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 Aug 2026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347472"/>
            <a:ext cx="2240280" cy="2240280"/>
          </a:xfrm>
          <a:prstGeom prst="ellipse">
            <a:avLst/>
          </a:prstGeom>
          <a:solidFill>
            <a:srgbClr val="1D4ED8">
              <a:alpha val="18000"/>
            </a:srgbClr>
          </a:solidFill>
          <a:ln w="1524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76688" y="950976"/>
            <a:ext cx="1143000" cy="1143000"/>
          </a:xfrm>
          <a:prstGeom prst="ellipse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SEO PERFORMANCE &amp; GROWTH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SearchSarkariNaukri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28–30 Day SEO Dashboard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Search Console  •  Bing Webmaster Tools  •  Bing AI Performance  •  Google Analytics 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4251960" cy="1051560"/>
          </a:xfrm>
          <a:prstGeom prst="roundRect">
            <a:avLst>
              <a:gd name="adj" fmla="val 5217"/>
            </a:avLst>
          </a:prstGeom>
          <a:solidFill>
            <a:srgbClr val="172554">
              <a:alpha val="90000"/>
            </a:srgbClr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0416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cut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3968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 August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43525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available platform windows are used; exact dates are shown on each section.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85800" y="6053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searchsarkarinaukri.com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58200" y="315468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0B2447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5204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+161%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click growth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32520" y="4480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 previous equal 28-day period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EXECUTIVE DASHBOARD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momentum is strong; Google is still at discovery stage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latest available 28–30 day data shows real search growth, but measurement and authority are the immediate constraints.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764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50292" cy="1161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824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clicks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13232" y="19019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154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3232" y="249631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+161% vs prior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32304" y="1572768"/>
            <a:ext cx="1764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1572768"/>
            <a:ext cx="50292" cy="1161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6824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impressions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596896" y="19019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4,098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596896" y="249631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+132% vs prior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315968" y="1572768"/>
            <a:ext cx="1764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572768"/>
            <a:ext cx="50292" cy="11612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824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CTR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480560" y="19019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3.76%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480560" y="249631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EA5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0.42 pp vs prior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199632" y="1572768"/>
            <a:ext cx="1764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572768"/>
            <a:ext cx="50292" cy="1161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6824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citations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364224" y="19019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646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364224" y="249631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+467% vs prior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083296" y="1572768"/>
            <a:ext cx="1764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1572768"/>
            <a:ext cx="50292" cy="1161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16824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GA4 active users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247888" y="19019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616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247888" y="249631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30 days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66960" y="1572768"/>
            <a:ext cx="1764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66960" y="1572768"/>
            <a:ext cx="50292" cy="1161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31552" y="16824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clicks / imp.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0131552" y="190195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48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131552" y="249631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2.08% CTR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48640" y="2999232"/>
            <a:ext cx="3593592" cy="1216152"/>
          </a:xfrm>
          <a:prstGeom prst="roundRect">
            <a:avLst>
              <a:gd name="adj" fmla="val 3759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" y="316382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1089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Momentum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" y="3392424"/>
            <a:ext cx="330098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Bing’s latest week delivered 50 clicks on 807 impressions with a 6.20% CTR — materially stronger efficiency than the 28-day average.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297680" y="2999232"/>
            <a:ext cx="3593592" cy="1216152"/>
          </a:xfrm>
          <a:prstGeom prst="roundRect">
            <a:avLst>
              <a:gd name="adj" fmla="val 375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43984" y="316382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1089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Measurement gap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43984" y="3392424"/>
            <a:ext cx="330098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Webmaster shows 154 clicks, while GA4 records only 30 Bing organic sessions in a nearly aligned window. Reconcile tracking before judging conversion quality.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046720" y="2999232"/>
            <a:ext cx="3593592" cy="1216152"/>
          </a:xfrm>
          <a:prstGeom prst="roundRect">
            <a:avLst>
              <a:gd name="adj" fmla="val 375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93024" y="3163824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31089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SEO foundation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93024" y="3392424"/>
            <a:ext cx="330098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flags sitemap coverage, IndexNow setup and link authority. Backlink data shows only 1 referring domain despite 33 referring pages.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548640" y="4480560"/>
            <a:ext cx="11091672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4690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Management interpretation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8096" y="5047488"/>
            <a:ext cx="106070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</a:t>
            </a:r>
            <a:r>
              <a:rPr lang="en-US" sz="1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Protect Bing growth</a:t>
            </a:r>
            <a:r>
              <a:rPr lang="en-US" sz="10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visibility is expanding and CTR is improving.</a:t>
            </a:r>
            <a:r>
              <a:rPr lang="en-US" sz="10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2. </a:t>
            </a:r>
            <a:r>
              <a:rPr lang="en-US" sz="1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 measurement</a:t>
            </a:r>
            <a:r>
              <a:rPr lang="en-US" sz="10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direct traffic and Singapore geography are too dominant to trust blindly.</a:t>
            </a:r>
            <a:r>
              <a:rPr lang="en-US" sz="10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3. </a:t>
            </a:r>
            <a:r>
              <a:rPr lang="en-US" sz="1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Google</a:t>
            </a:r>
            <a:r>
              <a:rPr lang="en-US" sz="10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current GSC volume is tiny, so indexation, internal linking and authority should be the next growth layer.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Sources: Bing Search Performance CSV, Bing AI Performance CSV, Google Search Console XLSX, Google Analytics 4 report snapshot, Bing Webmaster UI data supplied by user.</a:t>
            </a:r>
            <a:endParaRPr lang="en-US" sz="64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CROSS-PLATFORM 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visibility is asymmetric across engines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is currently generating meaningful discoverability; Google has only begun to surface the site. Analytics confirms traffic, but attribution quality needs validation.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3127248" cy="2148840"/>
          </a:xfrm>
          <a:prstGeom prst="roundRect">
            <a:avLst>
              <a:gd name="adj" fmla="val 2128"/>
            </a:avLst>
          </a:prstGeom>
          <a:solidFill>
            <a:srgbClr val="F0FDF4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1051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228600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154 clicks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7066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4,098 impressions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302666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3.76% CTR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95528" y="3401568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+161% clicks vs prior 28 days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087368" y="1600200"/>
            <a:ext cx="3127248" cy="2148840"/>
          </a:xfrm>
          <a:prstGeom prst="roundRect">
            <a:avLst>
              <a:gd name="adj" fmla="val 2128"/>
            </a:avLst>
          </a:prstGeom>
          <a:solidFill>
            <a:srgbClr val="FFFBEB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81051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88536" y="228600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click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88536" y="27066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48 impressions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88536" y="302666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47.6 avg position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4288536" y="3401568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Early-stage visibility; tiny sample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7580376" y="1600200"/>
            <a:ext cx="3127248" cy="2148840"/>
          </a:xfrm>
          <a:prstGeom prst="roundRect">
            <a:avLst>
              <a:gd name="adj" fmla="val 2128"/>
            </a:avLst>
          </a:prstGeom>
          <a:solidFill>
            <a:srgbClr val="EFF6FF"/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81544" y="181051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GA4 Usage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81544" y="228600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746 sessions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81544" y="27066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2,210 views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81544" y="302666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56.8s engagement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7781544" y="3401568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616 active users in latest 30 days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1143000" y="4224528"/>
            <a:ext cx="9875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" y="40690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3308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VISIBILITY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257800" y="40690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413308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76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875520" y="40690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413308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94360" y="4718304"/>
            <a:ext cx="10972800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" y="4882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82803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 comparability note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0664" y="5111496"/>
            <a:ext cx="1068019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windows are not identical: Bing current comparison is 28 Jul–24 Aug, GA4 is 28 Jul–26 Aug, and Google Search Console is 29 Jul–25 Aug. Use cross-platform ratios directionally, not as an exact click-to-session funnel.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 windows are based on the latest data available in each uploaded export.</a:t>
            </a:r>
            <a:endParaRPr lang="en-US" sz="64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SEARCH PERFORMANCE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Clicks and impressions more than doubled in the latest equal 28-day period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Current: 28 Jul–24 Aug 2026  |  Previous: 30 Jun–27 Jul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029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6420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58952" y="18836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154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8952" y="2368296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59 prior • +161%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724912" y="15544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554480"/>
            <a:ext cx="5029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66420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Impressions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889504" y="18836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4,098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889504" y="2368296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1,769 prior • +132%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855464" y="15544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55464" y="1554480"/>
            <a:ext cx="5029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0056" y="166420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020056" y="18836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3.76%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020056" y="2368296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EA5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3.34% prior • 0.42 pp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986016" y="15544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554480"/>
            <a:ext cx="5029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66420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clicks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150608" y="18836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5.5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150608" y="2368296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2.1 prior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116568" y="1554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16568" y="1554480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66420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week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281160" y="18836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clicks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281160" y="2368296"/>
            <a:ext cx="2176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807 imp. • 6.20% CTR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8580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Weekly clicks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136392"/>
            <a:ext cx="5166360" cy="23317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8890">
            <a:solidFill>
              <a:srgbClr val="DC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" y="4605528"/>
            <a:ext cx="457200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5323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96112" y="4072128"/>
            <a:ext cx="457200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9989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896112" y="3538728"/>
            <a:ext cx="457200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4655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078992" y="4258818"/>
            <a:ext cx="621792" cy="88011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403021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24128" y="52486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67128" y="4098798"/>
            <a:ext cx="621792" cy="104013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12264" y="387019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112264" y="52486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55264" y="4285488"/>
            <a:ext cx="621792" cy="85344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056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00400" y="52486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43400" y="3805428"/>
            <a:ext cx="621792" cy="133350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88536" y="35768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88536" y="52486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45352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Weekly impressions</a:t>
            </a:r>
            <a:endParaRPr lang="en-US" sz="1050" dirty="0"/>
          </a:p>
        </p:txBody>
      </p:sp>
      <p:graphicFrame>
        <p:nvGraphicFramePr>
          <p:cNvPr id="51" name="Chart 0"/>
          <p:cNvGraphicFramePr/>
          <p:nvPr/>
        </p:nvGraphicFramePr>
        <p:xfrm>
          <a:off x="6172200" y="3136392"/>
          <a:ext cx="5349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Text 49"/>
          <p:cNvSpPr/>
          <p:nvPr/>
        </p:nvSpPr>
        <p:spPr>
          <a:xfrm>
            <a:off x="685800" y="565099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Signal: W4 impressions were lower than W2, but CTR jumped to 6.20% and clicks reached the period high — relevance / snippet efficiency improved.</a:t>
            </a:r>
            <a:endParaRPr lang="en-US" sz="920" dirty="0"/>
          </a:p>
        </p:txBody>
      </p:sp>
      <p:sp>
        <p:nvSpPr>
          <p:cNvPr id="53" name="Text 50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www.searchsarkarinaukri.com_SearchPerformanceOverview_All_8_27_2026.csv</a:t>
            </a:r>
            <a:endParaRPr lang="en-US" sz="64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AI PERFORMANCE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citations accelerated sharply — a new visibility channel is emerging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Citations show when the site is referenced in AI-generated answers across Microsoft surfaces.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642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citations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58952" y="188366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646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8952" y="236829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114 prior • +467%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761488" y="15544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554480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6642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citations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926080" y="188366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23.1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926080" y="236829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4.1 prior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928616" y="15544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28616" y="1554480"/>
            <a:ext cx="5029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6642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citation days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093208" y="188366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28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093208" y="236829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93% of days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095744" y="15544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5744" y="1554480"/>
            <a:ext cx="5029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16642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Peak citations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260336" y="188366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83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260336" y="236829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2026-08-03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262872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554480"/>
            <a:ext cx="5029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27464" y="1664208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Peak cited pages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427464" y="188366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427464" y="2368296"/>
            <a:ext cx="2039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2026-08-20</a:t>
            </a:r>
            <a:endParaRPr lang="en-US" sz="78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58368" y="2999232"/>
          <a:ext cx="68122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/>
          <p:nvPr/>
        </p:nvSpPr>
        <p:spPr>
          <a:xfrm>
            <a:off x="7726680" y="2971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to do next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680960" y="3264408"/>
            <a:ext cx="3840480" cy="676656"/>
          </a:xfrm>
          <a:prstGeom prst="roundRect">
            <a:avLst>
              <a:gd name="adj" fmla="val 675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27264" y="342900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0" y="33741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 answers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827264" y="3657600"/>
            <a:ext cx="35478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clear summaries, tables, eligibility facts, dates, official-source links and consistent entities so AI systems can quote the page confidently.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7680960" y="4041648"/>
            <a:ext cx="3840480" cy="676656"/>
          </a:xfrm>
          <a:prstGeom prst="roundRect">
            <a:avLst>
              <a:gd name="adj" fmla="val 6757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827264" y="420624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46720" y="41513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Strengthen authority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827264" y="4434840"/>
            <a:ext cx="35478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first-party source references, update timestamps and high-quality backlinks; AI visibility usually compounds with ordinary search authority.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7680960" y="4818888"/>
            <a:ext cx="3840480" cy="676656"/>
          </a:xfrm>
          <a:prstGeom prst="roundRect">
            <a:avLst>
              <a:gd name="adj" fmla="val 675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27264" y="498348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046720" y="49286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 cited URLs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827264" y="5212080"/>
            <a:ext cx="35478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which page types earn citations — job detail, district, qualification, results, admit cards, explainers — and replicate winning structures.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685800" y="574243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Note: “Cited Pages” is reported daily in the export; summing it across days does not equal unique pages for the whole period.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www.searchsarkarinaukri.com_AIPerformanceOverviewStats_8_27_2026.csv</a:t>
            </a:r>
            <a:endParaRPr lang="en-US" sz="64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SEARCH CONSOLE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visibility exists, but it is still very small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 28 days in export: 29 Jul–25 Aug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27048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27048"/>
            <a:ext cx="5029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3677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8952" y="2313432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click in 28 days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761488" y="1527048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527048"/>
            <a:ext cx="5029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63677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Impressions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926080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48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926080" y="2313432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Discovery is early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928616" y="1527048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28616" y="1527048"/>
            <a:ext cx="50292" cy="10241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63677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093208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2.08%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093208" y="2313432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EA5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Small-sample metric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095744" y="1527048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5744" y="1527048"/>
            <a:ext cx="5029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1636776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Avg. position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260336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47.6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260336" y="2313432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Weighted by impressions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262872" y="1527048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527048"/>
            <a:ext cx="50292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27464" y="1636776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 impressions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427464" y="18562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37 / 48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427464" y="2313432"/>
            <a:ext cx="2039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 India clicks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58368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Pages with the clearest early signals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3182112"/>
            <a:ext cx="6766560" cy="2542032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33192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059936" y="33192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Imp.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818888" y="33192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550408" y="33192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Interpretation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841248" y="3611880"/>
            <a:ext cx="64008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3703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/districts/nashik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059936" y="37033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818888" y="37033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58.9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5550408" y="37033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Demand signal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859536" y="3977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/districts/nagpur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059936" y="3977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818888" y="3977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32.0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550408" y="39776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Google click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59536" y="42519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/results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059936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818888" y="4251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2.8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5550408" y="4251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rank / low volume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859536" y="45262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059936" y="45262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4818888" y="45262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5550408" y="4526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rank / low volume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859536" y="4800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/jobs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4059936" y="48006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4818888" y="48006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2.0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5550408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rank / low volume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859536" y="50749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/districts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4059936" y="5074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4818888" y="5074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4.0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550408" y="5074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rank / low volume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859536" y="53492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/admit-cards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4059936" y="53492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4818888" y="53492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7.5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5550408" y="5349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Page-one sample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7726680" y="2834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680960" y="3182112"/>
            <a:ext cx="3822192" cy="758952"/>
          </a:xfrm>
          <a:prstGeom prst="roundRect">
            <a:avLst>
              <a:gd name="adj" fmla="val 6024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27264" y="334670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46720" y="329184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not celebrate rank yet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827264" y="3575304"/>
            <a:ext cx="3529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Several pages show positions 1–10, but only 4–5 impressions. The sample is too small to call these stable rankings.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7680960" y="4050792"/>
            <a:ext cx="3822192" cy="758952"/>
          </a:xfrm>
          <a:prstGeom prst="roundRect">
            <a:avLst>
              <a:gd name="adj" fmla="val 6024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27264" y="421538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46720" y="416052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Location pages are the entry point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827264" y="4443984"/>
            <a:ext cx="3529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Nashik has the most impressions; Nagpur generated the only click. Build stronger district clusters and contextual internal links.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680960" y="4919472"/>
            <a:ext cx="3822192" cy="758952"/>
          </a:xfrm>
          <a:prstGeom prst="roundRect">
            <a:avLst>
              <a:gd name="adj" fmla="val 602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27264" y="508406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46720" y="502920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discovery is almost absent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827264" y="5312664"/>
            <a:ext cx="3529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47 of 48 impressions are desktop. Validate mobile indexability, rendering, Core Web Vitals and mobile SERP appearance.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https___www.searchsarkarinaukri.com_-Performance-on-Search-2026-08-27.xlsx</a:t>
            </a:r>
            <a:endParaRPr lang="en-US" sz="64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ANALYTICS 4 — ACQUISITION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exists, but source attribution is heavily skewed to Direct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30-day GA4 snapshot: 28 Jul–26 Aug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6192"/>
            <a:ext cx="5029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459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users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58952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616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8952" y="230428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days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23160" y="1536192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536192"/>
            <a:ext cx="5029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6459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Sessions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587752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746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587752" y="230428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1.21 per user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251960" y="1536192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536192"/>
            <a:ext cx="5029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16459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416552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2,210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416552" y="230428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3.59 per user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80760" y="1536192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536192"/>
            <a:ext cx="5029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6459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245352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4,906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245352" y="230428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 per user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909560" y="1536192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1536192"/>
            <a:ext cx="5029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74152" y="16459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Avg. engagement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074152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56.8s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074152" y="230428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active user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738360" y="1536192"/>
            <a:ext cx="18562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38360" y="1536192"/>
            <a:ext cx="502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2952" y="1645920"/>
            <a:ext cx="1563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share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902952" y="186537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87.3%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902952" y="2304288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651 sessions</a:t>
            </a:r>
            <a:endParaRPr lang="en-US" sz="78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658368" y="3054096"/>
          <a:ext cx="4069080" cy="2706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 33"/>
          <p:cNvSpPr/>
          <p:nvPr/>
        </p:nvSpPr>
        <p:spPr>
          <a:xfrm>
            <a:off x="758952" y="2770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Session mix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074920" y="2807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attributable sources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74920" y="31729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/ organic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7635240" y="3191256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35240" y="3191256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652760" y="31729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5074920" y="351129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m.facebook.com / referral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7635240" y="3529584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635240" y="3529584"/>
            <a:ext cx="1853184" cy="1371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52760" y="3511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5074920" y="384962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in.search.yahoo.com / referral</a:t>
            </a:r>
            <a:endParaRPr lang="en-US" sz="820" dirty="0"/>
          </a:p>
        </p:txBody>
      </p:sp>
      <p:sp>
        <p:nvSpPr>
          <p:cNvPr id="47" name="Shape 44"/>
          <p:cNvSpPr/>
          <p:nvPr/>
        </p:nvSpPr>
        <p:spPr>
          <a:xfrm>
            <a:off x="7635240" y="3867912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35240" y="3867912"/>
            <a:ext cx="1463040" cy="1371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652760" y="38496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830" dirty="0"/>
          </a:p>
        </p:txBody>
      </p:sp>
      <p:sp>
        <p:nvSpPr>
          <p:cNvPr id="50" name="Text 47"/>
          <p:cNvSpPr/>
          <p:nvPr/>
        </p:nvSpPr>
        <p:spPr>
          <a:xfrm>
            <a:off x="5074920" y="41879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chatgpt.com / ai-assistant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635240" y="4206240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635240" y="4206240"/>
            <a:ext cx="682752" cy="1371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652760" y="4187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0" dirty="0"/>
          </a:p>
        </p:txBody>
      </p:sp>
      <p:sp>
        <p:nvSpPr>
          <p:cNvPr id="54" name="Text 51"/>
          <p:cNvSpPr/>
          <p:nvPr/>
        </p:nvSpPr>
        <p:spPr>
          <a:xfrm>
            <a:off x="5074920" y="452628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duckduckgo / organic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7635240" y="4544568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35240" y="4544568"/>
            <a:ext cx="682752" cy="1371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52760" y="45262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0" dirty="0"/>
          </a:p>
        </p:txBody>
      </p:sp>
      <p:sp>
        <p:nvSpPr>
          <p:cNvPr id="58" name="Text 55"/>
          <p:cNvSpPr/>
          <p:nvPr/>
        </p:nvSpPr>
        <p:spPr>
          <a:xfrm>
            <a:off x="5074920" y="486460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yahoo / organic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7635240" y="4882896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635240" y="4882896"/>
            <a:ext cx="585216" cy="1371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652760" y="4864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0" dirty="0"/>
          </a:p>
        </p:txBody>
      </p:sp>
      <p:sp>
        <p:nvSpPr>
          <p:cNvPr id="62" name="Text 59"/>
          <p:cNvSpPr/>
          <p:nvPr/>
        </p:nvSpPr>
        <p:spPr>
          <a:xfrm>
            <a:off x="5074920" y="52029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/ organic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7635240" y="5221224"/>
            <a:ext cx="2926080" cy="1371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635240" y="5221224"/>
            <a:ext cx="97536" cy="137160"/>
          </a:xfrm>
          <a:prstGeom prst="roundRect">
            <a:avLst>
              <a:gd name="adj" fmla="val 281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652760" y="52029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0" dirty="0"/>
          </a:p>
        </p:txBody>
      </p:sp>
      <p:sp>
        <p:nvSpPr>
          <p:cNvPr id="66" name="Shape 63"/>
          <p:cNvSpPr/>
          <p:nvPr/>
        </p:nvSpPr>
        <p:spPr>
          <a:xfrm>
            <a:off x="5074920" y="5596128"/>
            <a:ext cx="6053328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221224" y="576072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440680" y="5705856"/>
            <a:ext cx="5550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SEO read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5221224" y="5989320"/>
            <a:ext cx="576072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is the only meaningful search source in GA4 today. Google organic is 1 session, matching the very small Search Console footprint.</a:t>
            </a:r>
            <a:endParaRPr lang="en-US" sz="840" dirty="0"/>
          </a:p>
        </p:txBody>
      </p:sp>
      <p:sp>
        <p:nvSpPr>
          <p:cNvPr id="70" name="Text 67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Reports_snapshot (1).csv — Google Analytics 4</a:t>
            </a:r>
            <a:endParaRPr lang="en-US" sz="64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ANALYTICS 4 — CONTENT &amp; ENGAGEMENT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is concentrated in a small number of page-title variants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two page titles account for 84.3% of all page views in the export.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58368" y="1691640"/>
          <a:ext cx="4709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13232" y="1490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page-title views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23560" y="164592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#1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5989320" y="16459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SearchSarkariNaukri — Latest Government Jobs in India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5989320" y="19751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1,421 views  •  411 users  •  77.3% bounce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5623560" y="23591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#2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5989320" y="235915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Sarkari Naukri 2026 — Search Latest Government Jobs in India | SearchSarkariNaukri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5989320" y="26883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 views  •  182 users  •  82.9% bounce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5623560" y="307238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#3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989320" y="307238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Government Jobs 2026 | Sarkari Naukri Search | SearchSarkariNaukri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5989320" y="340156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 views  •  16 users  •  12.9% bounce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5623560" y="3785616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#4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5989320" y="378561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Sarkari Naukri 2026 — Latest Government Jobs in India | SearchSarkariNaukri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5989320" y="41148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 views  •  34 users  •  42.3% bounce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5623560" y="449884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#5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5989320" y="44988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Sarkari Naukri Blog | SearchSarkariNaukri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5989320" y="4828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 views  •  5 users  •  4.5% bounce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658368" y="5230368"/>
            <a:ext cx="3401568" cy="667512"/>
          </a:xfrm>
          <a:prstGeom prst="roundRect">
            <a:avLst>
              <a:gd name="adj" fmla="val 684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53949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5340096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04672" y="5623560"/>
            <a:ext cx="310896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top two page-title rows produce 1,864 of 2,210 views. Deep job, district and department landing pages need more organic entry traffic.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4178808" y="5230368"/>
            <a:ext cx="3401568" cy="667512"/>
          </a:xfrm>
          <a:prstGeom prst="roundRect">
            <a:avLst>
              <a:gd name="adj" fmla="val 684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25112" y="539496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44568" y="5340096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 hygiene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325112" y="5623560"/>
            <a:ext cx="310896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Several similar homepage titles appear separately in GA4. Use landing page / page path as the primary reporting dimension, not page title alone.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7699248" y="5230368"/>
            <a:ext cx="3794760" cy="667512"/>
          </a:xfrm>
          <a:prstGeom prst="roundRect">
            <a:avLst>
              <a:gd name="adj" fmla="val 6849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45552" y="539496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65008" y="5340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opportunity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45552" y="5623560"/>
            <a:ext cx="3502152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two dominant page-title variants show 77–83% bounce. Improve onward navigation, related jobs, filters, saved-job prompts and deadline actions.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Reports_snapshot (1).csv — GA4 page title and screen class report</a:t>
            </a:r>
            <a:endParaRPr lang="en-US" sz="64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MEASUREMENT INTEGRITY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 optimizing conversion, reconcile what “traffic” actually represents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anomalies can materially distort SEO decision-making.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 Bing click ↔ GA4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22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154 Bing clicks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75688" y="238658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95728" y="232257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GA sessions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871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80.5% difference in near-aligned windows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70832" y="160020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 Geography anomaly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227685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438 / 616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599432" y="2706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users attributed to Singapore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599432" y="3063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71.1% of total — inconsistent with an India-focused job portal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101584" y="160020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 Direct attribution dominates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0184" y="227685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651 / 746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330184" y="2706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sessions classified as Direct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330184" y="3063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87.3% share — likely hiding true acquisition sources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8368" y="3886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 in this order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425196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24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GA4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4224528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DebugView / Tag Assistant, verify page_view and session_start on every template, and check consent or JS blocking.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" y="468172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6542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filters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4654296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internal, bot, cloud / monitoring and test traffic; implement GA4 data filters carefully after validation.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" y="511149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0840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Attribution preservation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0" y="5084064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Standardize UTMs, referral exclusions and redirect behavior; preserve source/medium through login, language and job-detail flows.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" y="554126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5138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 / Clarity cross-check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5513832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Bing click dates and landing URLs with server logs and Microsoft Clarity sessions to isolate the missing traffic.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Sources: Bing Search Performance CSV and Google Analytics 4 snapshot. Differences can also reflect platform definitions, bot filtering and reporting windows.</a:t>
            </a:r>
            <a:endParaRPr lang="en-US" sz="64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SEO &amp; AUTHORITY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largest near-term gains come from crawl discovery, freshness and link authority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issues were explicitly surfaced in Bing Webmaster Tools and are directly actionable.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493008" cy="1143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37360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82496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Sitemap coverage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reports that some important new pages are missing from sitemaps. Automate sitemap generation for job, result, admit-card, district, department and qualification URLs.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493008" cy="1143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9704" y="17373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82496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IndexNow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9704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 up IndexNow and trigger it on create, material update and expiry. This is especially valuable for fast-changing recruitment pages.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028432" y="1572768"/>
            <a:ext cx="3493008" cy="1143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736" y="173736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682496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Authority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74736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1 referring domain is reported, with 33 referring pages. The site needs genuinely high-quality, relevant referring domains — not bulk links.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58368" y="2999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Priority technical backlog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" y="333756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401568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32588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Sitemap automation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310128" y="3355848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Include only canonical/indexable URLs; maintain lastmod; split by content type if scale grows.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694944" y="369417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758184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325880" y="3712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IndexNow events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310128" y="3712464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Submit create/update/delete changes automatically; monitor success and errors.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694944" y="405079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114800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325880" y="4069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GA4 + crawl validation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310128" y="4069080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Resolve tracking anomalies, robots.txt, canonical, 404/redirect behavior and mobile rendering.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94944" y="440740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471416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325880" y="44256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data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310128" y="4425696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JobPosting + validThrough, BreadcrumbList, Organization; FAQ only where content genuinely fits.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694944" y="476402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82803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325880" y="47823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 linking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310128" y="4782312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Home → department/qualification/district hubs → job detail → related jobs; keep orphan pages near zero.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694944" y="512064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5184648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325880" y="51389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Expired jobs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310128" y="5138928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Clearly mark expired status, remove outdated JobPosting markup, preserve useful archive pages or 410 truly dead URLs.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694944" y="547725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5541264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P2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1325880" y="54955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Backlink program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3310128" y="5495544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official/education/community references, local institutions, career resources and editorial mentions.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8458200" y="5824728"/>
            <a:ext cx="2880360" cy="384048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86216" y="59161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9A34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API notice: if you use SOAP/POX automation, migrate to REST before 31 Aug 2026.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Bing Webmaster Tools recommendations/backlinks supplied by user. API retirement notice is relevant only if the site uses those legacy Bing API integrations.</a:t>
            </a:r>
            <a:endParaRPr lang="en-US" sz="64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KEYWORD &amp; CONTENT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existing site architecture to build stronger search clusters — not isolated pages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site already has department, qualification and district hubs; deepen those clusters and connect every fresh job page to them.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090672" cy="146304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1051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Head demand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59536" y="21122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government jobs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206654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190.7K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496312"/>
            <a:ext cx="262432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Broad, competitive — use as a pillar, not a single-page exact-match strategy.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096512" y="1600200"/>
            <a:ext cx="3090672" cy="1463040"/>
          </a:xfrm>
          <a:prstGeom prst="roundRect">
            <a:avLst>
              <a:gd name="adj" fmla="val 3125"/>
            </a:avLst>
          </a:prstGeom>
          <a:solidFill>
            <a:srgbClr val="F0FDF4"/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81051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Recruitment long-tail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4297680" y="21122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company prosecutor upsc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9944" y="206654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496312"/>
            <a:ext cx="262432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authoritative, specific recruitment pages with official-source references.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7534656" y="1600200"/>
            <a:ext cx="3090672" cy="1463040"/>
          </a:xfrm>
          <a:prstGeom prst="roundRect">
            <a:avLst>
              <a:gd name="adj" fmla="val 3125"/>
            </a:avLst>
          </a:prstGeom>
          <a:solidFill>
            <a:srgbClr val="FFFBEB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181051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Job + employer intent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735824" y="21122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iocl data entry operator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48088" y="206654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35824" y="2496312"/>
            <a:ext cx="262432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template for employer + role + year + eligibility + dates + official link.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58368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Recommended content system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3730752"/>
            <a:ext cx="33649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931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Evergreen hubs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" y="430682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2519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Government jobs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59536" y="452628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714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 / exam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59536" y="47457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46908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Qualification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59536" y="496519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9103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District / state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343400" y="3730752"/>
            <a:ext cx="33649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931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Fresh transactional pages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44568" y="430682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2519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Job details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44568" y="4526280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4714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44568" y="474573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6908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Admit cards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4544568" y="496519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9103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Last-date / ending soon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028432" y="3730752"/>
            <a:ext cx="33649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11312" y="3931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Supporting explainers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29600" y="430682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4192" y="42519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Eligibility &amp; salary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229600" y="4526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94192" y="44714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 process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8229600" y="474573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94192" y="46908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Career comparisons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229600" y="496519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94192" y="49103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Policy / government explainers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713232" y="5486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Internal-link rule: every new job should connect upward to employer/department + qualification + geography hubs, and sideways to relevant active jobs. This is the fastest way to convert fresh content into durable authority.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Sources: Bing Keyword Research values supplied by user; site architecture reviewed on searchsarkarinaukri.com on 27 Aug 2026. Keyword metrics should be validated for period/unit before forecasting traffic.</a:t>
            </a:r>
            <a:endParaRPr lang="en-US" sz="64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ONGOING SEO DASHBOARD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one consistent weekly scorecard across Google, Bing, AI visibility and on-site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goal is not more dashboards — it is a small set of metrics that connect discoverability to useful visits.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0881360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0160">
            <a:solidFill>
              <a:srgbClr val="DC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01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Area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24328" y="18013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metric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50408" y="18013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baseline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93608" y="1801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to use 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1055217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94560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Search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624328" y="2194560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Clicks / Impressions / CTR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5550408" y="2194560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154 / 4,098 / 3.76%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293608" y="2194560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Protect growth; monitor weekly CTR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" y="2587752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AI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24328" y="2587752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Citations / active days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550408" y="2587752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646 / 26 of 28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293608" y="2587752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 cited URLs + citation share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" y="2980944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Search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624328" y="2980944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Clicks / Impressions / Position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550408" y="2980944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48 / 47.6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293608" y="2980944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scale opportunity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3374136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GA4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624328" y="3374136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Organic sessions / engagement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550408" y="3374136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 search sessions / 56.8s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293608" y="3374136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Reconcile source attribution first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" y="3767328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Authority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2624328" y="3767328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Referring domains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550408" y="3767328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293608" y="3767328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 relevant high-quality domains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" y="4160520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Indexation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2624328" y="4160520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Sitemap + IndexNow coverage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550408" y="4160520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 flagged / not set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293608" y="4160520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of priority URLs discoverable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5010912"/>
            <a:ext cx="3429000" cy="841248"/>
          </a:xfrm>
          <a:prstGeom prst="roundRect">
            <a:avLst>
              <a:gd name="adj" fmla="val 543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517550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5120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working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" y="5404104"/>
            <a:ext cx="3136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Bing search + Bing AI visibility are expanding rapidly, and the latest week shows stronger click efficiency.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197096" y="5010912"/>
            <a:ext cx="3429000" cy="841248"/>
          </a:xfrm>
          <a:prstGeom prst="roundRect">
            <a:avLst>
              <a:gd name="adj" fmla="val 5435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517550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5120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limiting growth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43400" y="5404104"/>
            <a:ext cx="3136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visibility, backlink authority, sitemap discovery and reliable source attribution are all under-developed.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7735824" y="5010912"/>
            <a:ext cx="3803904" cy="841248"/>
          </a:xfrm>
          <a:prstGeom prst="roundRect">
            <a:avLst>
              <a:gd name="adj" fmla="val 5435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82128" y="51755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01584" y="5120640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Recommended priority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82128" y="5404104"/>
            <a:ext cx="35112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Measurement → indexation/freshness → high-intent clusters → internal links → authority → AI citation optimization.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685800" y="598932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files used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2011680" y="5989320"/>
            <a:ext cx="9235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GA4 Reports_snapshot • Bing Search Performance • Bing AI Performance • Google Search Console Performance-on-Search • Bing Webmaster UI values supplied by user</a:t>
            </a:r>
            <a:endParaRPr lang="en-US" sz="690" dirty="0"/>
          </a:p>
        </p:txBody>
      </p:sp>
      <p:sp>
        <p:nvSpPr>
          <p:cNvPr id="49" name="Text 47"/>
          <p:cNvSpPr/>
          <p:nvPr/>
        </p:nvSpPr>
        <p:spPr>
          <a:xfrm>
            <a:off x="566928" y="6336792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Prepared from the supplied exports; all growth percentages are calculated from equal-period comparisons where possible.</a:t>
            </a:r>
            <a:endParaRPr lang="en-US" sz="64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4710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2376</Words>
  <Application>Microsoft Office PowerPoint</Application>
  <PresentationFormat>Widescreen</PresentationFormat>
  <Paragraphs>405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SearchSarkariNaukri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Performance &amp; Growth Report — SearchSarkariNaukri</dc:title>
  <dc:subject>SEO Performance &amp; Growth Report — SearchSarkariNaukri</dc:subject>
  <dc:creator>OpenAI</dc:creator>
  <cp:lastModifiedBy>computer1</cp:lastModifiedBy>
  <cp:revision>2</cp:revision>
  <dcterms:created xsi:type="dcterms:W3CDTF">2026-08-27T17:12:30Z</dcterms:created>
  <dcterms:modified xsi:type="dcterms:W3CDTF">2026-08-27T17:22:51Z</dcterms:modified>
</cp:coreProperties>
</file>